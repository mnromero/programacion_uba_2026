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4"/>
  </p:notesMasterIdLst>
  <p:sldIdLst>
    <p:sldId id="423" r:id="rId2"/>
    <p:sldId id="410" r:id="rId3"/>
    <p:sldId id="275" r:id="rId4"/>
    <p:sldId id="352" r:id="rId5"/>
    <p:sldId id="419" r:id="rId6"/>
    <p:sldId id="420" r:id="rId7"/>
    <p:sldId id="469" r:id="rId8"/>
    <p:sldId id="510" r:id="rId9"/>
    <p:sldId id="348" r:id="rId10"/>
    <p:sldId id="349" r:id="rId11"/>
    <p:sldId id="390" r:id="rId12"/>
    <p:sldId id="421" r:id="rId13"/>
    <p:sldId id="350" r:id="rId14"/>
    <p:sldId id="392" r:id="rId15"/>
    <p:sldId id="367" r:id="rId16"/>
    <p:sldId id="422" r:id="rId17"/>
    <p:sldId id="368" r:id="rId18"/>
    <p:sldId id="379" r:id="rId19"/>
    <p:sldId id="380" r:id="rId20"/>
    <p:sldId id="381" r:id="rId21"/>
    <p:sldId id="384" r:id="rId22"/>
    <p:sldId id="369" r:id="rId23"/>
    <p:sldId id="370" r:id="rId24"/>
    <p:sldId id="385" r:id="rId25"/>
    <p:sldId id="371" r:id="rId26"/>
    <p:sldId id="373" r:id="rId27"/>
    <p:sldId id="387" r:id="rId28"/>
    <p:sldId id="388" r:id="rId29"/>
    <p:sldId id="376" r:id="rId30"/>
    <p:sldId id="377" r:id="rId31"/>
    <p:sldId id="389" r:id="rId32"/>
    <p:sldId id="378" r:id="rId33"/>
    <p:sldId id="337" r:id="rId34"/>
    <p:sldId id="503" r:id="rId35"/>
    <p:sldId id="365" r:id="rId36"/>
    <p:sldId id="444" r:id="rId37"/>
    <p:sldId id="361" r:id="rId38"/>
    <p:sldId id="382" r:id="rId39"/>
    <p:sldId id="383" r:id="rId40"/>
    <p:sldId id="511" r:id="rId41"/>
    <p:sldId id="386" r:id="rId42"/>
    <p:sldId id="375" r:id="rId4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A5E9202-8AF9-7B42-B817-22D148D689E3}">
          <p14:sldIdLst>
            <p14:sldId id="423"/>
            <p14:sldId id="410"/>
            <p14:sldId id="275"/>
          </p14:sldIdLst>
        </p14:section>
        <p14:section name="Breve repaso de clases anteriores" id="{4B2FE170-BECF-0B4B-847E-88DD93B59D92}">
          <p14:sldIdLst>
            <p14:sldId id="352"/>
            <p14:sldId id="419"/>
            <p14:sldId id="420"/>
            <p14:sldId id="469"/>
            <p14:sldId id="510"/>
          </p14:sldIdLst>
        </p14:section>
        <p14:section name="Una Aplicacion Econ de CART y Random Forest" id="{8F6DF40F-467F-0D4C-9B67-00F4CDE1C54B}">
          <p14:sldIdLst>
            <p14:sldId id="348"/>
            <p14:sldId id="349"/>
            <p14:sldId id="390"/>
            <p14:sldId id="421"/>
            <p14:sldId id="350"/>
            <p14:sldId id="392"/>
          </p14:sldIdLst>
        </p14:section>
        <p14:section name="Mencion a Conditional Trees" id="{0D0DAD4A-B12D-C240-AEF9-41ADF968475B}">
          <p14:sldIdLst>
            <p14:sldId id="367"/>
            <p14:sldId id="422"/>
            <p14:sldId id="368"/>
            <p14:sldId id="379"/>
            <p14:sldId id="380"/>
            <p14:sldId id="381"/>
            <p14:sldId id="384"/>
          </p14:sldIdLst>
        </p14:section>
        <p14:section name="Papers recinetes de Athey y Compañia" id="{E737A6FC-584B-864B-B2F9-2B3F819741F6}">
          <p14:sldIdLst>
            <p14:sldId id="369"/>
            <p14:sldId id="370"/>
            <p14:sldId id="385"/>
            <p14:sldId id="371"/>
            <p14:sldId id="373"/>
            <p14:sldId id="387"/>
            <p14:sldId id="388"/>
            <p14:sldId id="376"/>
            <p14:sldId id="377"/>
            <p14:sldId id="389"/>
            <p14:sldId id="378"/>
          </p14:sldIdLst>
        </p14:section>
        <p14:section name="Conclusiones finales" id="{30AE4762-25DE-C74D-AF95-4AEC0CC37FB0}">
          <p14:sldIdLst>
            <p14:sldId id="337"/>
            <p14:sldId id="503"/>
            <p14:sldId id="365"/>
            <p14:sldId id="444"/>
          </p14:sldIdLst>
        </p14:section>
        <p14:section name="Appendice" id="{CEBAAE48-F9AF-9E42-9669-84CB8BDF03EC}">
          <p14:sldIdLst>
            <p14:sldId id="361"/>
            <p14:sldId id="382"/>
            <p14:sldId id="383"/>
            <p14:sldId id="511"/>
            <p14:sldId id="386"/>
            <p14:sldId id="3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102"/>
    <p:restoredTop sz="82838"/>
  </p:normalViewPr>
  <p:slideViewPr>
    <p:cSldViewPr snapToGrid="0">
      <p:cViewPr varScale="1">
        <p:scale>
          <a:sx n="81" d="100"/>
          <a:sy n="81" d="100"/>
        </p:scale>
        <p:origin x="53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A57B98-7F31-0D42-9B7E-63D1E3B1FEB1}" type="datetimeFigureOut">
              <a:rPr lang="es-ES_tradnl" smtClean="0"/>
              <a:t>4/12/25</a:t>
            </a:fld>
            <a:endParaRPr lang="es-ES_trad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_trad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_trad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B6B6AD-E852-0649-B090-0B587A2ABB49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0220003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412AF-8B30-1C4A-9486-8B7EE1FDFB1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9920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630DE0-2491-4445-BD47-B1B1930FC5E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950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6B6AD-E852-0649-B090-0B587A2ABB49}" type="slidenum">
              <a:rPr lang="es-ES_tradnl" smtClean="0"/>
              <a:t>8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2500852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630DE0-2491-4445-BD47-B1B1930FC5E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73660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_tradnl" dirty="0"/>
              <a:t>Aplicación: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630DE0-2491-4445-BD47-B1B1930FC5EF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92329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_tradnl" dirty="0"/>
              <a:t>Paquete de </a:t>
            </a:r>
            <a:r>
              <a:rPr lang="es-ES_tradnl" dirty="0" err="1"/>
              <a:t>RandomForest</a:t>
            </a:r>
            <a:r>
              <a:rPr lang="es-ES_tradnl" dirty="0"/>
              <a:t> en R (</a:t>
            </a:r>
            <a:r>
              <a:rPr lang="es-ES_tradnl" sz="12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Breiman</a:t>
            </a:r>
            <a:r>
              <a:rPr lang="es-ES_tradnl" sz="1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2006</a:t>
            </a:r>
            <a:r>
              <a:rPr lang="es-ES_tradnl" dirty="0"/>
              <a:t>): https://</a:t>
            </a:r>
            <a:r>
              <a:rPr lang="es-ES_tradnl" dirty="0" err="1"/>
              <a:t>cran.r-project.org</a:t>
            </a:r>
            <a:r>
              <a:rPr lang="es-ES_tradnl" dirty="0"/>
              <a:t>/web/</a:t>
            </a:r>
            <a:r>
              <a:rPr lang="es-ES_tradnl" dirty="0" err="1"/>
              <a:t>packages</a:t>
            </a:r>
            <a:r>
              <a:rPr lang="es-ES_tradnl" dirty="0"/>
              <a:t>/</a:t>
            </a:r>
            <a:r>
              <a:rPr lang="es-ES_tradnl" dirty="0" err="1"/>
              <a:t>randomForest</a:t>
            </a:r>
            <a:r>
              <a:rPr lang="es-ES_tradnl" dirty="0"/>
              <a:t>/</a:t>
            </a:r>
            <a:r>
              <a:rPr lang="es-ES_tradnl" dirty="0" err="1"/>
              <a:t>randomForest.pdf?ref</a:t>
            </a:r>
            <a:r>
              <a:rPr lang="es-ES_tradnl" dirty="0"/>
              <a:t>=</a:t>
            </a:r>
            <a:r>
              <a:rPr lang="es-ES_tradnl" dirty="0" err="1"/>
              <a:t>hackernoon.com</a:t>
            </a:r>
            <a:r>
              <a:rPr lang="es-ES_tradnl" dirty="0"/>
              <a:t> </a:t>
            </a:r>
            <a:br>
              <a:rPr lang="en-US" sz="1800" dirty="0">
                <a:effectLst/>
                <a:latin typeface="LMRoman10"/>
              </a:rPr>
            </a:br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6B6AD-E852-0649-B090-0B587A2ABB49}" type="slidenum">
              <a:rPr lang="es-ES_tradnl" smtClean="0"/>
              <a:t>17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4465055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6B6AD-E852-0649-B090-0B587A2ABB49}" type="slidenum">
              <a:rPr lang="es-ES_tradnl" smtClean="0"/>
              <a:t>18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125478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s-ES_tradnl" dirty="0"/>
                  <a:t>✦De la muestra de entrenamiento, cada árbol de CART </a:t>
                </a:r>
                <a:r>
                  <a:rPr lang="es-ES_tradnl" dirty="0" err="1"/>
                  <a:t>generico</a:t>
                </a:r>
                <a:r>
                  <a:rPr lang="es-ES_tradnl" dirty="0"/>
                  <a:t>, puede ser formulado usando vector de ponderaciones no negativas </a:t>
                </a:r>
                <a14:m>
                  <m:oMath xmlns:m="http://schemas.openxmlformats.org/officeDocument/2006/math">
                    <m:r>
                      <a:rPr lang="en-US" sz="12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𝒘</m:t>
                    </m:r>
                    <m:r>
                      <a:rPr lang="en-US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s-ES_tradnl" dirty="0"/>
                  <a:t>. En cada nodo de un árbol representado por el vector de ponderaciones</a:t>
                </a:r>
                <a:r>
                  <a:rPr lang="es-ES_tradnl" baseline="0" dirty="0"/>
                  <a:t> </a:t>
                </a:r>
                <a14:m>
                  <m:oMath xmlns:m="http://schemas.openxmlformats.org/officeDocument/2006/math">
                    <m:r>
                      <a:rPr lang="en-US" sz="12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𝒘</m:t>
                    </m:r>
                  </m:oMath>
                </a14:m>
                <a:r>
                  <a:rPr lang="es-ES_tradnl" dirty="0"/>
                  <a:t>, tiene ponderaciones distintas</a:t>
                </a:r>
                <a:r>
                  <a:rPr lang="es-ES_tradnl" baseline="0" dirty="0"/>
                  <a:t> de 0 cuando la observación entra en dicho nodo, y ponderaciones iguales a 0 cuando no entra en dicho nodo. Por simplicidad y sin pérdida de generalidad se puede pensar en el vector </a:t>
                </a:r>
                <a:r>
                  <a:rPr lang="es-ES_tradnl" dirty="0"/>
                  <a:t>  </a:t>
                </a:r>
                <a14:m>
                  <m:oMath xmlns:m="http://schemas.openxmlformats.org/officeDocument/2006/math">
                    <m:r>
                      <a:rPr lang="en-US" sz="12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𝒘</m:t>
                    </m:r>
                  </m:oMath>
                </a14:m>
                <a:r>
                  <a:rPr lang="es-ES_tradnl" dirty="0"/>
                  <a:t> como un vector para cada observación en el conjunto de datos de entrenamientos con 1 y 0 para determinar</a:t>
                </a:r>
                <a:r>
                  <a:rPr lang="es-ES_tradnl" baseline="0" dirty="0"/>
                  <a:t> a qué región R de la partición final entra.</a:t>
                </a:r>
                <a:endParaRPr lang="es-ES_tradnl" dirty="0"/>
              </a:p>
              <a:p>
                <a:endParaRPr lang="es-ES_tradnl" dirty="0"/>
              </a:p>
              <a:p>
                <a:endParaRPr lang="es-ES_tradnl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s-ES_tradnl" dirty="0"/>
                  <a:t>✦De la muestra de entrenamiento, cada árbol de CART </a:t>
                </a:r>
                <a:r>
                  <a:rPr lang="es-ES_tradnl" dirty="0" err="1"/>
                  <a:t>generico</a:t>
                </a:r>
                <a:r>
                  <a:rPr lang="es-ES_tradnl" dirty="0"/>
                  <a:t>, puede ser formulado usando vector de ponderaciones no negativas </a:t>
                </a:r>
                <a:r>
                  <a:rPr lang="en-US" sz="1200" b="1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𝒘</a:t>
                </a:r>
                <a:r>
                  <a:rPr lang="en-US" sz="1200" b="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=(𝑤_1,…,𝑤_𝑛)</a:t>
                </a:r>
                <a:r>
                  <a:rPr lang="es-ES_tradnl" dirty="0"/>
                  <a:t>. En cada nodo de un árbol representado por el vector de ponderaciones</a:t>
                </a:r>
                <a:r>
                  <a:rPr lang="es-ES_tradnl" baseline="0" dirty="0"/>
                  <a:t> </a:t>
                </a:r>
                <a:r>
                  <a:rPr lang="en-US" sz="1200" b="1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𝒘</a:t>
                </a:r>
                <a:r>
                  <a:rPr lang="es-ES_tradnl" dirty="0"/>
                  <a:t>, tiene ponderaciones distintas</a:t>
                </a:r>
                <a:r>
                  <a:rPr lang="es-ES_tradnl" baseline="0" dirty="0"/>
                  <a:t> de 0 cuando la observación entra en dicho nodo, y ponderaciones iguales a 0 cuando no entra en dicho nodo. Por simplicidad y sin pérdida de generalidad se puede pensar en el vector </a:t>
                </a:r>
                <a:r>
                  <a:rPr lang="es-ES_tradnl" dirty="0"/>
                  <a:t>  </a:t>
                </a:r>
                <a:r>
                  <a:rPr lang="en-US" sz="1200" b="1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𝒘</a:t>
                </a:r>
                <a:r>
                  <a:rPr lang="es-ES_tradnl" dirty="0"/>
                  <a:t> como un vector para cada observación en el conjunto de datos de entrenamientos con 1 y 0 para determinar</a:t>
                </a:r>
                <a:r>
                  <a:rPr lang="es-ES_tradnl" baseline="0" dirty="0"/>
                  <a:t> a qué región R de la partición final entra.</a:t>
                </a:r>
                <a:endParaRPr lang="es-ES_tradnl" dirty="0"/>
              </a:p>
              <a:p>
                <a:endParaRPr lang="es-ES_tradnl" dirty="0"/>
              </a:p>
              <a:p>
                <a:endParaRPr lang="es-ES_tradnl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6B6AD-E852-0649-B090-0B587A2ABB49}" type="slidenum">
              <a:rPr lang="es-ES_tradnl" smtClean="0"/>
              <a:t>19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6598089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6B6AD-E852-0649-B090-0B587A2ABB49}" type="slidenum">
              <a:rPr lang="es-ES_tradnl" smtClean="0"/>
              <a:t>21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33182716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_tradnl" dirty="0"/>
              <a:t>Aplicación: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630DE0-2491-4445-BD47-B1B1930FC5EF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998976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6B6AD-E852-0649-B090-0B587A2ABB49}" type="slidenum">
              <a:rPr lang="es-ES_tradnl" smtClean="0"/>
              <a:t>25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08000335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6B6AD-E852-0649-B090-0B587A2ABB49}" type="slidenum">
              <a:rPr lang="es-ES_tradnl" smtClean="0"/>
              <a:t>30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76662331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ED07FA-7792-F649-B523-FCAF9068A01B}" type="slidenum">
              <a:rPr lang="es-ES_tradnl" smtClean="0"/>
              <a:t>33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30722832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>
                  <a:lnSpc>
                    <a:spcPct val="150000"/>
                  </a:lnSpc>
                </a:pPr>
                <a:r>
                  <a:rPr lang="es-ES_tradnl" dirty="0"/>
                  <a:t>Tener en cuenta que hay dos fuentes potenciales de sesgo cuando uno estima los efectos heterogéneos de tratamiento (usando </a:t>
                </a:r>
                <a:r>
                  <a:rPr lang="es-ES_tradnl" dirty="0" err="1"/>
                  <a:t>knn</a:t>
                </a:r>
                <a:r>
                  <a:rPr lang="es-ES_tradnl" dirty="0"/>
                  <a:t> </a:t>
                </a:r>
                <a:r>
                  <a:rPr lang="es-ES_tradnl" dirty="0" err="1"/>
                  <a:t>matching</a:t>
                </a:r>
                <a:r>
                  <a:rPr lang="es-ES_tradnl" dirty="0"/>
                  <a:t>)</a:t>
                </a:r>
              </a:p>
              <a:p>
                <a:pPr marL="971550" lvl="1" indent="-51435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s-ES_tradnl" dirty="0"/>
                  <a:t>Definir un vecindario donde el efecto del tratamiento promedio es estable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𝜏</m:t>
                    </m:r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es-ES_tradnl" dirty="0"/>
              </a:p>
              <a:p>
                <a:pPr marL="971550" lvl="1" indent="-51435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s-ES_tradnl" dirty="0"/>
                  <a:t>No variar la propensión de la muestra al tratamiento (probabilidad de ser tratado similar en el vecindario).</a:t>
                </a:r>
              </a:p>
              <a:p>
                <a:endParaRPr lang="es-ES_tradnl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>
                  <a:lnSpc>
                    <a:spcPct val="150000"/>
                  </a:lnSpc>
                </a:pPr>
                <a:r>
                  <a:rPr lang="es-ES_tradnl" dirty="0"/>
                  <a:t>Tener en cuenta que hay dos fuentes potenciales de sesgo cuando uno estima los efectos heterogéneos de tratamiento (usando </a:t>
                </a:r>
                <a:r>
                  <a:rPr lang="es-ES_tradnl" dirty="0" err="1"/>
                  <a:t>knn</a:t>
                </a:r>
                <a:r>
                  <a:rPr lang="es-ES_tradnl" dirty="0"/>
                  <a:t> </a:t>
                </a:r>
                <a:r>
                  <a:rPr lang="es-ES_tradnl" dirty="0" err="1"/>
                  <a:t>matching</a:t>
                </a:r>
                <a:r>
                  <a:rPr lang="es-ES_tradnl" dirty="0"/>
                  <a:t>)</a:t>
                </a:r>
              </a:p>
              <a:p>
                <a:pPr marL="971550" lvl="1" indent="-51435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s-ES_tradnl" dirty="0"/>
                  <a:t>Definir un vecindario donde el efecto del tratamiento promedio es estable </a:t>
                </a:r>
                <a:r>
                  <a:rPr lang="en-US" sz="2800" b="0" i="0">
                    <a:latin typeface="Cambria Math" panose="02040503050406030204" pitchFamily="18" charset="0"/>
                  </a:rPr>
                  <a:t>𝜏(𝑥)</a:t>
                </a:r>
                <a:endParaRPr lang="es-ES_tradnl" dirty="0"/>
              </a:p>
              <a:p>
                <a:pPr marL="971550" lvl="1" indent="-51435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s-ES_tradnl" dirty="0"/>
                  <a:t>No variar la propensión de la muestra al tratamiento (probabilidad de ser tratado similar en el vecindario).</a:t>
                </a:r>
              </a:p>
              <a:p>
                <a:endParaRPr lang="es-ES_tradnl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6B6AD-E852-0649-B090-0B587A2ABB49}" type="slidenum">
              <a:rPr lang="es-ES_tradnl" smtClean="0"/>
              <a:t>42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0876045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CB98C-7E11-E20C-7CA1-01CA7BC605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8FC3A6-7EF0-25DE-49FD-093DABEA40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9BDF46-6163-6B81-C8F2-2AFCA65AD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96A44-393B-2349-9636-C2E629343387}" type="datetime1">
              <a:rPr lang="en-US" smtClean="0"/>
              <a:t>12/4/25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D8C366-551D-FE97-2B1D-32127BF38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F01B1D-ECC1-F92A-E5F2-CCE79365E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3868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0CDC1-3848-0D97-B7AC-87941E6A6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5930B0-69E0-A392-06B3-B0B255B708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AB745A-C184-9A02-3478-963C49CDE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7DD35-DA54-6249-8929-31941A6F915E}" type="datetime1">
              <a:rPr lang="en-US" smtClean="0"/>
              <a:t>12/4/25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BE6306-932B-2678-8102-D5B1FF6A8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CFBCBB-A717-3F86-896B-2E915566B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441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32CE9D-254D-F34F-04CD-7171E08AAE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D3A657-71FF-6D0F-FA99-85DC67E6EC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3D6D25-137F-9F92-60F0-FB0CA02EF5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33375-BE77-974E-B796-FE3045409A94}" type="datetime1">
              <a:rPr lang="en-US" smtClean="0"/>
              <a:t>12/4/25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048134-AEC4-52EE-619E-153EC79DA5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A96E28-6B6A-F6F8-4722-E4543D315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7865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31D6C-E496-E079-CBB1-0568125CB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CE5603-C8AA-9A92-329E-1802B5F592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050DDA-AA05-B9E0-6968-15C94DE927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F06625-219C-99D2-3E54-1E8F41B241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5ED56-00FC-634F-B6C2-E86770DA063E}" type="datetime1">
              <a:rPr lang="en-US" smtClean="0"/>
              <a:t>12/4/25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BABBC7-B012-FDE4-EA5B-0F69DA2EA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05FDEE-8F41-2CAA-8017-4038F3B81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1568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BA04D-9D5C-EB18-C5D0-F76A09B06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A72525-56CB-7F89-4E11-9F3346C59F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4198E8-A9B1-48FB-F54D-A3A92D36D8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E21E517-63E9-95AE-DECC-CFC5865D18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42A0CC-FDD5-8EAE-60EC-D76CDDC978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ADA6C08-7F94-962B-4B6D-4E592F0E25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0F7AF-5390-6D41-B3C2-4512AD8DC48F}" type="datetime1">
              <a:rPr lang="en-US" smtClean="0"/>
              <a:t>12/4/25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A6DBB8B-904B-340C-44C2-AEB8E7341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57219B-396C-1FD3-E2D2-AE4347275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2647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471B7-64C8-5681-B050-6630E1012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026AF0-FBD4-6543-A23B-33B8EC5C6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FBA76-D706-234B-B88E-FA9EF4D7D110}" type="datetime1">
              <a:rPr lang="en-US" smtClean="0"/>
              <a:t>12/4/25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087316-ECA6-24C4-30E6-F285BB5BB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F1D056-F9AE-1692-E81E-AF758FCCC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4577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A10710-3846-C9D7-2144-F947912C55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7C583-3803-924E-B51C-25F9B096D826}" type="datetime1">
              <a:rPr lang="en-US" smtClean="0"/>
              <a:t>12/4/25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8AC6AD-5E2E-A761-7126-579D50261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F490D8-22CE-08FF-C435-CF9436B20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121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0C159F-BCFE-0041-5B65-0F7FC249D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7DE978-B876-7F13-E812-15175B9B47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7065CE-0860-1EFD-1CD1-8D84398DFB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FE4DE7-1714-6B66-42FD-77D069D7B5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C20E7-E151-324B-B310-BE89353755F2}" type="datetime1">
              <a:rPr lang="en-US" smtClean="0"/>
              <a:t>12/4/25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5CCE9F-F437-9F8B-15B0-8576AFF53E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499748-1BAE-0CB1-1ED5-9FF402F0A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6043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D5094-D299-E460-49A2-D005A07AC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869A670-8C5F-885F-FB89-1940119E60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F02C41-9999-BFD6-AEAD-EB346FCC3E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E5BE73-C51E-CB3B-FD3F-C461033F7B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53A3E-DA75-EC4A-9046-4A3B26FBAAC1}" type="datetime1">
              <a:rPr lang="en-US" smtClean="0"/>
              <a:t>12/4/25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5D6684-3CE0-4A83-95A6-6EBB09496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573D51-51CE-D827-C1EE-C87D922E8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0155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36847-10A3-1E86-2365-C19719B4A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F4D640-C06A-7E21-00D5-44964ADC6B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FFEB36-D0A3-DD5E-C201-B27A716936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0747D-E2B9-0645-9126-214ED2EB266F}" type="datetime1">
              <a:rPr lang="en-US" smtClean="0"/>
              <a:t>12/4/25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06C4C8-11C3-310B-0494-5A9A39C6AB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73FB9E-F285-F7AE-0E8F-94E443916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7317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F9591E1-25BE-1B7D-2747-B206B76901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0C95D2-79AD-B457-5041-AF0BC72AD4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D9B71-7EFC-DD71-1559-F745192F9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EB08E-9945-494E-8140-072E164898FC}" type="datetime1">
              <a:rPr lang="en-US" smtClean="0"/>
              <a:t>12/4/25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4FD8D1-6C57-FE1E-C640-C760ABFFA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979F31-ACBF-4495-3650-1BBE0598F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3172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CE12EA-8A8E-06EC-6E57-8E5E96C51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340FE1-91A8-46C3-32E1-30AAA21A93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 noProof="0"/>
              <a:t>Click to edit Master text styles</a:t>
            </a:r>
          </a:p>
          <a:p>
            <a:pPr lvl="1"/>
            <a:r>
              <a:rPr lang="es-ES_tradnl" noProof="0"/>
              <a:t>Second level</a:t>
            </a:r>
          </a:p>
          <a:p>
            <a:pPr lvl="2"/>
            <a:r>
              <a:rPr lang="es-ES_tradnl" noProof="0"/>
              <a:t>Third level</a:t>
            </a:r>
          </a:p>
          <a:p>
            <a:pPr lvl="3"/>
            <a:r>
              <a:rPr lang="es-ES_tradnl" noProof="0"/>
              <a:t>Fourth level</a:t>
            </a:r>
          </a:p>
          <a:p>
            <a:pPr lvl="4"/>
            <a:r>
              <a:rPr lang="es-ES_tradnl" noProof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569DB0-88CE-6331-AB80-0CB309875B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1pPr>
          </a:lstStyle>
          <a:p>
            <a:fld id="{203A4A31-8716-1243-A06A-E7884CD293D7}" type="datetime1">
              <a:rPr lang="en-US" noProof="0" smtClean="0"/>
              <a:t>12/4/25</a:t>
            </a:fld>
            <a:endParaRPr lang="es-ES_tradnl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25CBFB-E83F-ED57-BB3C-53CCB66624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1pPr>
          </a:lstStyle>
          <a:p>
            <a:endParaRPr lang="es-ES_tradnl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FDCCDE-D195-0527-335D-0AECD8803A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tx1">
                    <a:tint val="75000"/>
                  </a:schemeClr>
                </a:solidFill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1pPr>
          </a:lstStyle>
          <a:p>
            <a:fld id="{278C1CC4-2077-434E-BCF1-5D01C08A9B17}" type="slidenum">
              <a:rPr lang="es-ES_tradnl" smtClean="0"/>
              <a:pPr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48092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002060"/>
          </a:solidFill>
          <a:latin typeface="Goudy Old Style" panose="02020502050305020303" pitchFamily="18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Gill Sans Nova Light" panose="020F0302020204030204" pitchFamily="34" charset="0"/>
          <a:ea typeface="+mn-ea"/>
          <a:cs typeface="Gill Sans Nova Light" panose="020F030202020403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Gill Sans Nova Light" panose="020F0302020204030204" pitchFamily="34" charset="0"/>
          <a:ea typeface="+mn-ea"/>
          <a:cs typeface="Gill Sans Nova Light" panose="020F030202020403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Gill Sans Nova Light" panose="020F0302020204030204" pitchFamily="34" charset="0"/>
          <a:ea typeface="+mn-ea"/>
          <a:cs typeface="Gill Sans Nova Light" panose="020F03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Gill Sans Nova Light" panose="020F0302020204030204" pitchFamily="34" charset="0"/>
          <a:ea typeface="+mn-ea"/>
          <a:cs typeface="Gill Sans Nova Light" panose="020F03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Gill Sans Nova Light" panose="020F0302020204030204" pitchFamily="34" charset="0"/>
          <a:ea typeface="+mn-ea"/>
          <a:cs typeface="Gill Sans Nova Light" panose="020F03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.png"/><Relationship Id="rId5" Type="http://schemas.openxmlformats.org/officeDocument/2006/relationships/image" Target="../media/image60.png"/><Relationship Id="rId4" Type="http://schemas.openxmlformats.org/officeDocument/2006/relationships/image" Target="../media/image5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gss.norc.org/Get-The-Data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1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hyperlink" Target="mailto:25RO35480961@campus.economicas.uba.ar" TargetMode="Externa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2C8F4-54CC-EED9-C31F-8F80FFB62E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46910"/>
            <a:ext cx="9144000" cy="2387600"/>
          </a:xfrm>
        </p:spPr>
        <p:txBody>
          <a:bodyPr>
            <a:normAutofit/>
          </a:bodyPr>
          <a:lstStyle/>
          <a:p>
            <a:br>
              <a:rPr lang="es-ES" sz="4400" kern="1400" dirty="0">
                <a:cs typeface="Times New Roman" panose="02020603050405020304" pitchFamily="18" charset="0"/>
              </a:rPr>
            </a:br>
            <a:r>
              <a:rPr lang="es-ES" sz="4400" kern="1400" dirty="0">
                <a:cs typeface="Times New Roman" panose="02020603050405020304" pitchFamily="18" charset="0"/>
              </a:rPr>
              <a:t>Repaso de CART y Ensamble, </a:t>
            </a:r>
            <a:br>
              <a:rPr lang="es-ES" sz="4400" kern="1400" dirty="0">
                <a:cs typeface="Times New Roman" panose="02020603050405020304" pitchFamily="18" charset="0"/>
              </a:rPr>
            </a:br>
            <a:r>
              <a:rPr lang="es-ES" sz="4400" kern="1400" dirty="0">
                <a:cs typeface="Times New Roman" panose="02020603050405020304" pitchFamily="18" charset="0"/>
              </a:rPr>
              <a:t>Aplicaciones &amp; Extensiones</a:t>
            </a:r>
            <a:endParaRPr lang="en-US" sz="4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F55BDD-1493-5FB8-8EDB-106F9B3629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49115"/>
            <a:ext cx="9144000" cy="1655762"/>
          </a:xfrm>
        </p:spPr>
        <p:txBody>
          <a:bodyPr>
            <a:normAutofit/>
          </a:bodyPr>
          <a:lstStyle/>
          <a:p>
            <a:r>
              <a:rPr lang="es-ES" sz="3200" dirty="0">
                <a:solidFill>
                  <a:srgbClr val="000000"/>
                </a:solidFill>
                <a:effectLst/>
                <a:latin typeface="Gill Sans Nova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María Noelia Romero</a:t>
            </a:r>
            <a:r>
              <a:rPr lang="en-US" sz="4000" dirty="0">
                <a:effectLst/>
              </a:rPr>
              <a:t> </a:t>
            </a:r>
            <a:endParaRPr lang="en-US" sz="4000" dirty="0"/>
          </a:p>
          <a:p>
            <a:r>
              <a:rPr lang="es-ES" sz="2800" dirty="0">
                <a:solidFill>
                  <a:srgbClr val="000000"/>
                </a:solidFill>
                <a:latin typeface="Gill Sans Nova Light" panose="020F0302020204030204" pitchFamily="34" charset="0"/>
                <a:cs typeface="Times New Roman" panose="02020603050405020304" pitchFamily="18" charset="0"/>
              </a:rPr>
              <a:t>Clase </a:t>
            </a:r>
            <a:r>
              <a:rPr lang="es-ES" sz="2800" dirty="0">
                <a:solidFill>
                  <a:srgbClr val="000000"/>
                </a:solidFill>
                <a:cs typeface="Times New Roman" panose="02020603050405020304" pitchFamily="18" charset="0"/>
              </a:rPr>
              <a:t>08 – Parte 3</a:t>
            </a:r>
            <a:endParaRPr lang="en-US" sz="36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EADCD9-CEB1-5D1E-D7AC-167899E21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C027F2D-CC52-462D-4A92-C7C4502C71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950" y="853123"/>
            <a:ext cx="1463040" cy="1463040"/>
          </a:xfrm>
          <a:prstGeom prst="rect">
            <a:avLst/>
          </a:prstGeom>
        </p:spPr>
      </p:pic>
      <p:pic>
        <p:nvPicPr>
          <p:cNvPr id="6" name="Picture 5" descr="A blue and yellow logo&#10;&#10;Description automatically generated">
            <a:extLst>
              <a:ext uri="{FF2B5EF4-FFF2-40B4-BE49-F238E27FC236}">
                <a16:creationId xmlns:a16="http://schemas.microsoft.com/office/drawing/2014/main" id="{939E0972-AB4F-C51D-7B38-9F10B613F9B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2007" y="849631"/>
            <a:ext cx="1271793" cy="146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6535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2ED93-C2DF-26CD-5FA5-123B106DD6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Cuestiones operativas del curso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C6D17F-26B9-7EDA-3E59-F357F8441D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s-ES_tradnl" dirty="0">
                <a:solidFill>
                  <a:srgbClr val="002060"/>
                </a:solidFill>
              </a:rPr>
              <a:t>Exposición Final: </a:t>
            </a:r>
            <a:r>
              <a:rPr lang="es-ES_tradnl" dirty="0">
                <a:solidFill>
                  <a:srgbClr val="FF0000"/>
                </a:solidFill>
              </a:rPr>
              <a:t>Miércoles 10 de Diciembre</a:t>
            </a:r>
          </a:p>
          <a:p>
            <a:pPr lvl="1">
              <a:lnSpc>
                <a:spcPct val="150000"/>
              </a:lnSpc>
            </a:pPr>
            <a:r>
              <a:rPr lang="es-ES_tradnl" dirty="0"/>
              <a:t>Encuentro híbrido: </a:t>
            </a:r>
            <a:r>
              <a:rPr lang="es-ES_tradnl" dirty="0">
                <a:solidFill>
                  <a:srgbClr val="FFC000"/>
                </a:solidFill>
              </a:rPr>
              <a:t>Aula a confirmar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9DC8CD-7A37-453E-23F6-E2B566871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</a:t>
            </a:fld>
            <a:endParaRPr lang="en-US"/>
          </a:p>
        </p:txBody>
      </p:sp>
      <p:pic>
        <p:nvPicPr>
          <p:cNvPr id="5" name="Graphic 4" descr="Warning with solid fill">
            <a:extLst>
              <a:ext uri="{FF2B5EF4-FFF2-40B4-BE49-F238E27FC236}">
                <a16:creationId xmlns:a16="http://schemas.microsoft.com/office/drawing/2014/main" id="{195A1335-98FD-E5CD-4309-B1D4810A05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8825" y="1979865"/>
            <a:ext cx="463550" cy="463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32810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E00F5-C7EE-2CC9-E9BA-CD7EB57AF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En la clase de hoy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A8327E-74B0-5F1D-D3E8-C9714B43F8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s-ES_tradnl" dirty="0"/>
              <a:t>0.  Cuestiones operativas del curso: Recordatorios y Examen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s-ES_tradnl" dirty="0"/>
              <a:t>Repaso breve: CART, Bagging,  Boosting, Random Forest</a:t>
            </a:r>
          </a:p>
          <a:p>
            <a:pPr marL="514350" indent="-514350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es-ES_tradnl" dirty="0"/>
              <a:t>Una aplicación en Finanzas Públicas: </a:t>
            </a:r>
            <a:r>
              <a:rPr lang="es-ES_tradnl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Keekly</a:t>
            </a:r>
            <a:r>
              <a:rPr lang="es-ES_tradnl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y Tan (2008)</a:t>
            </a:r>
            <a:endParaRPr lang="es-ES_tradnl" dirty="0"/>
          </a:p>
          <a:p>
            <a:pPr marL="571500" indent="-571500">
              <a:lnSpc>
                <a:spcPct val="150000"/>
              </a:lnSpc>
              <a:buFont typeface="+mj-lt"/>
              <a:buAutoNum type="arabicPeriod"/>
            </a:pPr>
            <a:r>
              <a:rPr lang="es-ES_tradnl" dirty="0"/>
              <a:t>Una mención de </a:t>
            </a:r>
            <a:r>
              <a:rPr lang="es-ES_tradnl" i="1" dirty="0" err="1"/>
              <a:t>Conditional</a:t>
            </a:r>
            <a:r>
              <a:rPr lang="es-ES_tradnl" i="1" dirty="0"/>
              <a:t> </a:t>
            </a:r>
            <a:r>
              <a:rPr lang="es-ES_tradnl" i="1" dirty="0" err="1"/>
              <a:t>Trees</a:t>
            </a:r>
            <a:r>
              <a:rPr lang="es-ES_tradnl" dirty="0"/>
              <a:t>: </a:t>
            </a:r>
            <a:r>
              <a:rPr lang="es-ES_tradnl" dirty="0" err="1">
                <a:solidFill>
                  <a:schemeClr val="accent1"/>
                </a:solidFill>
                <a:latin typeface="Courier" pitchFamily="2" charset="0"/>
              </a:rPr>
              <a:t>party</a:t>
            </a:r>
            <a:r>
              <a:rPr lang="es-ES_tradnl" dirty="0"/>
              <a:t> </a:t>
            </a:r>
            <a:r>
              <a:rPr lang="es-ES_tradnl" dirty="0" err="1"/>
              <a:t>package</a:t>
            </a:r>
            <a:r>
              <a:rPr lang="es-ES_tradnl" dirty="0"/>
              <a:t> en R</a:t>
            </a:r>
          </a:p>
          <a:p>
            <a:pPr marL="571500" indent="-571500">
              <a:lnSpc>
                <a:spcPct val="150000"/>
              </a:lnSpc>
              <a:buFont typeface="+mj-lt"/>
              <a:buAutoNum type="arabicPeriod"/>
            </a:pPr>
            <a:r>
              <a:rPr lang="es-ES_tradnl" dirty="0" err="1"/>
              <a:t>Athey</a:t>
            </a:r>
            <a:r>
              <a:rPr lang="es-ES_tradnl" dirty="0"/>
              <a:t> y Compañía: Dos trabajos de Random Forest y Aplicada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s-ES_tradnl" dirty="0"/>
              <a:t>Conclusiones</a:t>
            </a:r>
          </a:p>
          <a:p>
            <a:pPr marL="0" indent="0">
              <a:lnSpc>
                <a:spcPct val="150000"/>
              </a:lnSpc>
              <a:buNone/>
            </a:pPr>
            <a:endParaRPr lang="es-ES_tradnl" dirty="0"/>
          </a:p>
          <a:p>
            <a:pPr marL="0" indent="0">
              <a:lnSpc>
                <a:spcPct val="150000"/>
              </a:lnSpc>
              <a:buNone/>
            </a:pPr>
            <a:endParaRPr lang="es-ES_trad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0393B2-27BD-5888-9D83-58D8D3F72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</a:t>
            </a:fld>
            <a:endParaRPr lang="en-US"/>
          </a:p>
        </p:txBody>
      </p:sp>
      <p:pic>
        <p:nvPicPr>
          <p:cNvPr id="5" name="Graphic 4" descr="Warning with solid fill">
            <a:extLst>
              <a:ext uri="{FF2B5EF4-FFF2-40B4-BE49-F238E27FC236}">
                <a16:creationId xmlns:a16="http://schemas.microsoft.com/office/drawing/2014/main" id="{7ABACB79-4DA6-32CB-162A-DC5CD70DC0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82200" y="4103008"/>
            <a:ext cx="463550" cy="463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15291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42471-9418-E3E3-C7E5-30087178F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Repaso breve de las clases anteriores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780597-6948-B78E-E6E3-6E4F9F1321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i="1" dirty="0"/>
              <a:t>C08_P1_CART</a:t>
            </a:r>
          </a:p>
          <a:p>
            <a:r>
              <a:rPr lang="en-US" i="1" dirty="0"/>
              <a:t>C08_P2_Metodos De </a:t>
            </a:r>
            <a:r>
              <a:rPr lang="en-US" i="1" dirty="0" err="1"/>
              <a:t>Ensamble</a:t>
            </a:r>
            <a:endParaRPr lang="en-US" i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8F5EC8-9CA8-BFFB-D2D0-21A543531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56012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00E487-ADBF-98D6-09A4-75508A056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Ilustración del árbol y las particiones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A785A9E-2936-AFA9-C377-22B6E2D61F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anchor="ctr"/>
          <a:lstStyle/>
          <a:p>
            <a:pPr algn="ctr"/>
            <a:r>
              <a:rPr lang="es-ES_tradnl" dirty="0"/>
              <a:t>Árbol </a:t>
            </a:r>
          </a:p>
        </p:txBody>
      </p:sp>
      <p:pic>
        <p:nvPicPr>
          <p:cNvPr id="10" name="Content Placeholder 9" descr="A diagram of a graph&#10;&#10;Description automatically generated">
            <a:extLst>
              <a:ext uri="{FF2B5EF4-FFF2-40B4-BE49-F238E27FC236}">
                <a16:creationId xmlns:a16="http://schemas.microsoft.com/office/drawing/2014/main" id="{5560781C-14CD-3858-D226-F29AC22FCEF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552358" y="2505075"/>
            <a:ext cx="3732647" cy="3684588"/>
          </a:xfr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4854238-75C9-8C89-AFF8-7DA2D54E5B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 anchor="ctr"/>
          <a:lstStyle/>
          <a:p>
            <a:pPr algn="ctr"/>
            <a:r>
              <a:rPr lang="es-ES_tradnl" dirty="0"/>
              <a:t>Partición binaria recursiva del espacio de predictores </a:t>
            </a:r>
          </a:p>
        </p:txBody>
      </p:sp>
      <p:pic>
        <p:nvPicPr>
          <p:cNvPr id="12" name="Content Placeholder 11" descr="A graph with numbers and dots&#10;&#10;Description automatically generated">
            <a:extLst>
              <a:ext uri="{FF2B5EF4-FFF2-40B4-BE49-F238E27FC236}">
                <a16:creationId xmlns:a16="http://schemas.microsoft.com/office/drawing/2014/main" id="{E902B5AE-CE86-FA1A-98B4-CB7F0700567D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6681796" y="2505075"/>
            <a:ext cx="4163995" cy="3684588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151A25-A664-471E-89C8-A1D9FFAD1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5</a:t>
            </a:fld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8FF1C7D-7FD8-B3DA-5B05-A4233CD8F090}"/>
              </a:ext>
            </a:extLst>
          </p:cNvPr>
          <p:cNvSpPr txBox="1"/>
          <p:nvPr/>
        </p:nvSpPr>
        <p:spPr>
          <a:xfrm>
            <a:off x="3326108" y="6335704"/>
            <a:ext cx="534293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effectLst/>
                <a:latin typeface="Gill Sans Nova Light" panose="020B0302020104020203" pitchFamily="34" charset="0"/>
              </a:rPr>
              <a:t>James, Witten, Hastie, Tibshirani</a:t>
            </a:r>
            <a:r>
              <a:rPr lang="en-US" sz="1600" dirty="0">
                <a:latin typeface="Gill Sans Nova Light" panose="020B0302020104020203" pitchFamily="34" charset="0"/>
              </a:rPr>
              <a:t> &amp; Taylor (</a:t>
            </a:r>
            <a:r>
              <a:rPr lang="en-US" sz="1600" dirty="0">
                <a:effectLst/>
                <a:latin typeface="Gill Sans Nova Light" panose="020B0302020104020203" pitchFamily="34" charset="0"/>
              </a:rPr>
              <a:t>2023). p.332 &amp; p. 333</a:t>
            </a:r>
            <a:endParaRPr lang="en-US" sz="4400" dirty="0">
              <a:effectLst/>
              <a:latin typeface="Gill Sans Nova Light" panose="020B0302020104020203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D63291D-7965-3FC5-0E6A-BB8DD8C25107}"/>
                  </a:ext>
                </a:extLst>
              </p:cNvPr>
              <p:cNvSpPr txBox="1"/>
              <p:nvPr/>
            </p:nvSpPr>
            <p:spPr>
              <a:xfrm>
                <a:off x="5286637" y="3043393"/>
                <a:ext cx="1561157" cy="42652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s-ES_tradnl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s-ES_tradnl" sz="20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ES_tradnl" sz="20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sSub>
                          <m:sSubPr>
                            <m:ctrlPr>
                              <a:rPr lang="es-ES_tradnl" sz="20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_tradnl" sz="20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𝑹</m:t>
                            </m:r>
                          </m:e>
                          <m:sub>
                            <m:r>
                              <a:rPr lang="es-ES_tradnl" sz="20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sub>
                    </m:sSub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=$165</m:t>
                    </m:r>
                  </m:oMath>
                </a14:m>
                <a:r>
                  <a:rPr lang="es-ES_tradnl" sz="2000" dirty="0"/>
                  <a:t>k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D63291D-7965-3FC5-0E6A-BB8DD8C251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6637" y="3043393"/>
                <a:ext cx="1561157" cy="426527"/>
              </a:xfrm>
              <a:prstGeom prst="rect">
                <a:avLst/>
              </a:prstGeom>
              <a:blipFill>
                <a:blip r:embed="rId4"/>
                <a:stretch>
                  <a:fillRect t="-5714" r="-3226" b="-17143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B2C0E0C-94C5-58F7-D429-2BF2672F53D1}"/>
                  </a:ext>
                </a:extLst>
              </p:cNvPr>
              <p:cNvSpPr txBox="1"/>
              <p:nvPr/>
            </p:nvSpPr>
            <p:spPr>
              <a:xfrm>
                <a:off x="8421043" y="5308053"/>
                <a:ext cx="1561157" cy="42652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s-ES_tradnl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s-ES_tradnl" sz="20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ES_tradnl" sz="20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sSub>
                          <m:sSubPr>
                            <m:ctrlPr>
                              <a:rPr lang="es-ES_tradnl" sz="20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_tradnl" sz="20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𝑹</m:t>
                            </m:r>
                          </m:e>
                          <m:sub>
                            <m:r>
                              <a:rPr lang="en-US" sz="20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sub>
                    </m:sSub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=$403</m:t>
                    </m:r>
                  </m:oMath>
                </a14:m>
                <a:r>
                  <a:rPr lang="es-ES_tradnl" sz="2000" dirty="0"/>
                  <a:t>k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B2C0E0C-94C5-58F7-D429-2BF2672F53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21043" y="5308053"/>
                <a:ext cx="1561157" cy="426527"/>
              </a:xfrm>
              <a:prstGeom prst="rect">
                <a:avLst/>
              </a:prstGeom>
              <a:blipFill>
                <a:blip r:embed="rId5"/>
                <a:stretch>
                  <a:fillRect t="-8824" r="-3200" b="-17647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AF34CBA-0049-9B99-32ED-CE939ECF0192}"/>
                  </a:ext>
                </a:extLst>
              </p:cNvPr>
              <p:cNvSpPr txBox="1"/>
              <p:nvPr/>
            </p:nvSpPr>
            <p:spPr>
              <a:xfrm>
                <a:off x="8780417" y="2778959"/>
                <a:ext cx="1561157" cy="4277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s-ES_tradnl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s-ES_tradnl" sz="20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ES_tradnl" sz="20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sSub>
                          <m:sSubPr>
                            <m:ctrlPr>
                              <a:rPr lang="es-ES_tradnl" sz="20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_tradnl" sz="20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𝑹</m:t>
                            </m:r>
                          </m:e>
                          <m:sub>
                            <m:r>
                              <a:rPr lang="en-US" sz="20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sub>
                    </m:sSub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=$845</m:t>
                    </m:r>
                  </m:oMath>
                </a14:m>
                <a:r>
                  <a:rPr lang="es-ES_tradnl" sz="2000" dirty="0"/>
                  <a:t>k</a:t>
                </a: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AF34CBA-0049-9B99-32ED-CE939ECF01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80417" y="2778959"/>
                <a:ext cx="1561157" cy="427746"/>
              </a:xfrm>
              <a:prstGeom prst="rect">
                <a:avLst/>
              </a:prstGeom>
              <a:blipFill>
                <a:blip r:embed="rId6"/>
                <a:stretch>
                  <a:fillRect t="-5714" r="-3226" b="-17143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558643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6C62F-552A-6816-ECF4-98EEB270D1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Árboles CART: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Problemas de Alta Varianza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EC35410-BFD1-D074-39DD-37133E8A7EF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Problema</a:t>
                </a:r>
                <a:r>
                  <a:rPr lang="es-ES_tradnl" dirty="0"/>
                  <a:t>: </a:t>
                </a:r>
                <a:r>
                  <a:rPr lang="es-ES_tradnl" dirty="0">
                    <a:solidFill>
                      <a:srgbClr val="FF0000"/>
                    </a:solidFill>
                  </a:rPr>
                  <a:t>Alta</a:t>
                </a:r>
                <a:r>
                  <a:rPr lang="es-ES_tradnl" dirty="0"/>
                  <a:t> varianza de error de predicción y </a:t>
                </a:r>
                <a:r>
                  <a:rPr lang="es-ES_tradnl" dirty="0">
                    <a:solidFill>
                      <a:srgbClr val="002060"/>
                    </a:solidFill>
                  </a:rPr>
                  <a:t>bajo</a:t>
                </a:r>
                <a:r>
                  <a:rPr lang="es-ES_tradnl" dirty="0"/>
                  <a:t> sesgo</a:t>
                </a:r>
              </a:p>
              <a:p>
                <a:pPr>
                  <a:lnSpc>
                    <a:spcPct val="150000"/>
                  </a:lnSpc>
                </a:pPr>
                <a:r>
                  <a:rPr lang="es-ES_tradnl" dirty="0">
                    <a:solidFill>
                      <a:srgbClr val="00B050"/>
                    </a:solidFill>
                  </a:rPr>
                  <a:t>Solución simple</a:t>
                </a:r>
                <a:r>
                  <a:rPr lang="es-ES_tradnl" i="1" dirty="0"/>
                  <a:t>: </a:t>
                </a:r>
                <a:r>
                  <a:rPr lang="es-ES_tradnl" i="1" dirty="0" err="1"/>
                  <a:t>Prunning</a:t>
                </a:r>
                <a:r>
                  <a:rPr lang="es-ES_tradnl" i="1" dirty="0"/>
                  <a:t>: </a:t>
                </a:r>
                <a:r>
                  <a:rPr lang="es-ES_tradnl" dirty="0"/>
                  <a:t>usando una función de complejidad -&gt; elegimos la penalidad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s-ES_tradnl" dirty="0"/>
                  <a:t> por CV</a:t>
                </a:r>
              </a:p>
              <a:p>
                <a:pPr>
                  <a:lnSpc>
                    <a:spcPct val="150000"/>
                  </a:lnSpc>
                </a:pPr>
                <a:r>
                  <a:rPr lang="es-ES_tradnl" dirty="0">
                    <a:solidFill>
                      <a:srgbClr val="00B050"/>
                    </a:solidFill>
                  </a:rPr>
                  <a:t>Solución sofisticada</a:t>
                </a:r>
                <a:r>
                  <a:rPr lang="es-ES_tradnl" dirty="0"/>
                  <a:t>: Métodos de ensamble</a:t>
                </a:r>
              </a:p>
              <a:p>
                <a:pPr marL="971550" lvl="1" indent="-51435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s-ES_tradnl" dirty="0" err="1"/>
                  <a:t>Boosting</a:t>
                </a:r>
                <a:endParaRPr lang="es-ES_tradnl" dirty="0"/>
              </a:p>
              <a:p>
                <a:pPr marL="971550" lvl="1" indent="-51435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s-ES_tradnl" dirty="0"/>
                  <a:t>Bagging</a:t>
                </a:r>
              </a:p>
              <a:p>
                <a:pPr marL="971550" lvl="1" indent="-51435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s-ES_tradnl" dirty="0"/>
                  <a:t>Random Forest </a:t>
                </a:r>
              </a:p>
              <a:p>
                <a:pPr marL="971550" lvl="1" indent="-514350">
                  <a:lnSpc>
                    <a:spcPct val="150000"/>
                  </a:lnSpc>
                  <a:buFont typeface="+mj-lt"/>
                  <a:buAutoNum type="arabicPeriod"/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EC35410-BFD1-D074-39DD-37133E8A7EF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5" r="-1086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FAB238-0C4A-2D93-973A-89CE1F95C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98929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1CCC65-8C89-B1BE-5B41-D3A9A7892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Solución más sofisticada: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Método de Ensamble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76E813-98F1-DB76-96CD-B2A273121F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lnSpc>
                <a:spcPct val="150000"/>
              </a:lnSpc>
            </a:pPr>
            <a:r>
              <a:rPr lang="es-ES_tradnl" dirty="0">
                <a:solidFill>
                  <a:srgbClr val="002060"/>
                </a:solidFill>
              </a:rPr>
              <a:t>Def</a:t>
            </a:r>
            <a:r>
              <a:rPr lang="es-ES_tradnl" dirty="0"/>
              <a:t>: Enfoque que </a:t>
            </a:r>
            <a:r>
              <a:rPr lang="es-ES_tradnl" dirty="0">
                <a:solidFill>
                  <a:srgbClr val="002060"/>
                </a:solidFill>
              </a:rPr>
              <a:t>combina muchos modelos simples</a:t>
            </a:r>
            <a:r>
              <a:rPr lang="es-ES_tradnl" dirty="0"/>
              <a:t> en bloques para obtener </a:t>
            </a:r>
            <a:r>
              <a:rPr lang="es-ES_tradnl" dirty="0">
                <a:solidFill>
                  <a:srgbClr val="002060"/>
                </a:solidFill>
              </a:rPr>
              <a:t>un solo modelo</a:t>
            </a:r>
            <a:r>
              <a:rPr lang="es-ES_tradnl" dirty="0"/>
              <a:t> con mejor predicción potencial</a:t>
            </a:r>
          </a:p>
          <a:p>
            <a:pPr lvl="1">
              <a:lnSpc>
                <a:spcPct val="150000"/>
              </a:lnSpc>
            </a:pPr>
            <a:r>
              <a:rPr lang="es-ES_tradnl" dirty="0">
                <a:solidFill>
                  <a:srgbClr val="002060"/>
                </a:solidFill>
              </a:rPr>
              <a:t>Bloque de modelos </a:t>
            </a:r>
            <a:r>
              <a:rPr lang="es-ES_tradnl" dirty="0"/>
              <a:t>-&gt; </a:t>
            </a:r>
            <a:r>
              <a:rPr lang="es-ES_tradnl" dirty="0">
                <a:solidFill>
                  <a:srgbClr val="002060"/>
                </a:solidFill>
              </a:rPr>
              <a:t>aprendizajes débiles </a:t>
            </a:r>
            <a:r>
              <a:rPr lang="es-ES_tradnl" dirty="0"/>
              <a:t>(</a:t>
            </a:r>
            <a:r>
              <a:rPr lang="es-ES_tradnl" i="1" dirty="0" err="1"/>
              <a:t>weak</a:t>
            </a:r>
            <a:r>
              <a:rPr lang="es-ES_tradnl" i="1" dirty="0"/>
              <a:t> </a:t>
            </a:r>
            <a:r>
              <a:rPr lang="es-ES_tradnl" i="1" dirty="0" err="1"/>
              <a:t>learners</a:t>
            </a:r>
            <a:r>
              <a:rPr lang="es-ES_tradnl" dirty="0"/>
              <a:t>) porque por si solos tienen predicciones mediocres</a:t>
            </a:r>
          </a:p>
          <a:p>
            <a:pPr>
              <a:lnSpc>
                <a:spcPct val="150000"/>
              </a:lnSpc>
            </a:pPr>
            <a:r>
              <a:rPr lang="es-ES_tradnl" dirty="0"/>
              <a:t>Un árbol será el </a:t>
            </a:r>
            <a:r>
              <a:rPr lang="es-ES_tradnl" dirty="0">
                <a:solidFill>
                  <a:srgbClr val="002060"/>
                </a:solidFill>
              </a:rPr>
              <a:t>bloque de modelos </a:t>
            </a:r>
            <a:r>
              <a:rPr lang="es-ES_tradnl" dirty="0"/>
              <a:t>dentro de Bagging, </a:t>
            </a:r>
            <a:r>
              <a:rPr lang="es-ES_tradnl" dirty="0" err="1"/>
              <a:t>Boosting</a:t>
            </a:r>
            <a:r>
              <a:rPr lang="es-ES_tradnl" dirty="0"/>
              <a:t>, &amp; Random Forest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E164AF-D3D9-23E0-BDAA-0648B530FA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2466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99168-AA67-F1BE-BEB5-BFF50FDBF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Métodos Basados en Arboles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Content Placeholder 6">
                <a:extLst>
                  <a:ext uri="{FF2B5EF4-FFF2-40B4-BE49-F238E27FC236}">
                    <a16:creationId xmlns:a16="http://schemas.microsoft.com/office/drawing/2014/main" id="{04A66406-FA04-E0F0-0BCF-164DEB027FB0}"/>
                  </a:ext>
                </a:extLst>
              </p:cNvPr>
              <p:cNvGraphicFramePr>
                <a:graphicFrameLocks noGrp="1"/>
              </p:cNvGraphicFramePr>
              <p:nvPr>
                <p:ph idx="1"/>
              </p:nvPr>
            </p:nvGraphicFramePr>
            <p:xfrm>
              <a:off x="838200" y="1522276"/>
              <a:ext cx="9800064" cy="4435878"/>
            </p:xfrm>
            <a:graphic>
              <a:graphicData uri="http://schemas.openxmlformats.org/drawingml/2006/table">
                <a:tbl>
                  <a:tblPr firstRow="1" bandRow="1">
                    <a:tableStyleId>{7E9639D4-E3E2-4D34-9284-5A2195B3D0D7}</a:tableStyleId>
                  </a:tblPr>
                  <a:tblGrid>
                    <a:gridCol w="3266688">
                      <a:extLst>
                        <a:ext uri="{9D8B030D-6E8A-4147-A177-3AD203B41FA5}">
                          <a16:colId xmlns:a16="http://schemas.microsoft.com/office/drawing/2014/main" val="2575751318"/>
                        </a:ext>
                      </a:extLst>
                    </a:gridCol>
                    <a:gridCol w="3266688">
                      <a:extLst>
                        <a:ext uri="{9D8B030D-6E8A-4147-A177-3AD203B41FA5}">
                          <a16:colId xmlns:a16="http://schemas.microsoft.com/office/drawing/2014/main" val="3044122308"/>
                        </a:ext>
                      </a:extLst>
                    </a:gridCol>
                    <a:gridCol w="3266688">
                      <a:extLst>
                        <a:ext uri="{9D8B030D-6E8A-4147-A177-3AD203B41FA5}">
                          <a16:colId xmlns:a16="http://schemas.microsoft.com/office/drawing/2014/main" val="2284175529"/>
                        </a:ext>
                      </a:extLst>
                    </a:gridCol>
                  </a:tblGrid>
                  <a:tr h="297537">
                    <a:tc>
                      <a:txBody>
                        <a:bodyPr/>
                        <a:lstStyle/>
                        <a:p>
                          <a:r>
                            <a:rPr lang="es-ES_tradnl" sz="2000" dirty="0" err="1">
                              <a:latin typeface="Gill Sans Nova Light" panose="020B0302020104020203" pitchFamily="34" charset="0"/>
                            </a:rPr>
                            <a:t>Bagging</a:t>
                          </a:r>
                          <a:endParaRPr lang="es-ES_tradnl" sz="2000" dirty="0">
                            <a:latin typeface="Gill Sans Nova Light" panose="020B0302020104020203" pitchFamily="34" charset="0"/>
                          </a:endParaRPr>
                        </a:p>
                      </a:txBody>
                      <a:tcPr>
                        <a:solidFill>
                          <a:srgbClr val="00206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ES_tradnl" sz="2000" dirty="0">
                              <a:latin typeface="Gill Sans Nova Light" panose="020B0302020104020203" pitchFamily="34" charset="0"/>
                            </a:rPr>
                            <a:t>Random Forest</a:t>
                          </a:r>
                        </a:p>
                      </a:txBody>
                      <a:tcPr>
                        <a:solidFill>
                          <a:srgbClr val="00206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ES_tradnl" sz="2000" dirty="0" err="1">
                              <a:latin typeface="Gill Sans Nova Light" panose="020B0302020104020203" pitchFamily="34" charset="0"/>
                            </a:rPr>
                            <a:t>Boosting</a:t>
                          </a:r>
                          <a:endParaRPr lang="es-ES_tradnl" sz="2000" dirty="0">
                            <a:latin typeface="Gill Sans Nova Light" panose="020B0302020104020203" pitchFamily="34" charset="0"/>
                          </a:endParaRPr>
                        </a:p>
                      </a:txBody>
                      <a:tcPr>
                        <a:solidFill>
                          <a:srgbClr val="00206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73071710"/>
                      </a:ext>
                    </a:extLst>
                  </a:tr>
                  <a:tr h="526411"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sz="2000" b="0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oMath>
                          </a14:m>
                          <a:r>
                            <a:rPr lang="es-ES_tradnl" sz="2000" dirty="0">
                              <a:latin typeface="Gill Sans Nova Light" panose="020B0302020104020203" pitchFamily="34" charset="0"/>
                            </a:rPr>
                            <a:t> Muestras </a:t>
                          </a:r>
                          <a:r>
                            <a:rPr lang="es-ES_tradnl" sz="2000" dirty="0" err="1">
                              <a:latin typeface="Gill Sans Nova Light" panose="020B0302020104020203" pitchFamily="34" charset="0"/>
                            </a:rPr>
                            <a:t>bootstrapeadas</a:t>
                          </a:r>
                          <a:endParaRPr lang="es-ES_tradnl" sz="2000" dirty="0">
                            <a:latin typeface="Gill Sans Nova Light" panose="020B030202010402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sz="2000" b="0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oMath>
                          </a14:m>
                          <a:r>
                            <a:rPr lang="es-ES_tradnl" sz="2000" dirty="0">
                              <a:latin typeface="Gill Sans Nova Light" panose="020B0302020104020203" pitchFamily="34" charset="0"/>
                            </a:rPr>
                            <a:t> Muestras </a:t>
                          </a:r>
                          <a:r>
                            <a:rPr lang="es-ES_tradnl" sz="2000" dirty="0" err="1">
                              <a:latin typeface="Gill Sans Nova Light" panose="020B0302020104020203" pitchFamily="34" charset="0"/>
                            </a:rPr>
                            <a:t>bootstrapeadas</a:t>
                          </a:r>
                          <a:endParaRPr lang="es-ES_tradnl" sz="2000" dirty="0">
                            <a:latin typeface="Gill Sans Nova Light" panose="020B030202010402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sz="2000" b="0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oMath>
                          </a14:m>
                          <a:r>
                            <a:rPr lang="es-ES_tradnl" sz="2000" dirty="0">
                              <a:latin typeface="Gill Sans Nova Light" panose="020B0302020104020203" pitchFamily="34" charset="0"/>
                            </a:rPr>
                            <a:t> </a:t>
                          </a:r>
                          <a:r>
                            <a:rPr lang="es-ES_tradnl" sz="2000" b="0" dirty="0">
                              <a:latin typeface="Gill Sans Nova Light" panose="020B0302020104020203" pitchFamily="34" charset="0"/>
                            </a:rPr>
                            <a:t>árboles</a:t>
                          </a:r>
                          <a:r>
                            <a:rPr lang="es-ES_tradnl" sz="2000" dirty="0">
                              <a:latin typeface="Gill Sans Nova Light" panose="020B0302020104020203" pitchFamily="34" charset="0"/>
                            </a:rPr>
                            <a:t> secuenciales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49518654"/>
                      </a:ext>
                    </a:extLst>
                  </a:tr>
                  <a:tr h="755286">
                    <a:tc>
                      <a:txBody>
                        <a:bodyPr/>
                        <a:lstStyle/>
                        <a:p>
                          <a:r>
                            <a:rPr lang="es-ES_tradnl" sz="2000" dirty="0">
                              <a:latin typeface="Gill Sans Nova Light" panose="020B0302020104020203" pitchFamily="34" charset="0"/>
                            </a:rPr>
                            <a:t>“</a:t>
                          </a:r>
                          <a:r>
                            <a:rPr lang="es-ES_tradnl" sz="2000" b="0" dirty="0">
                              <a:latin typeface="Gill Sans Nova Light" panose="020B0302020104020203" pitchFamily="34" charset="0"/>
                            </a:rPr>
                            <a:t>árboles</a:t>
                          </a:r>
                          <a:r>
                            <a:rPr lang="es-ES_tradnl" sz="2000" dirty="0">
                              <a:latin typeface="Gill Sans Nova Light" panose="020B0302020104020203" pitchFamily="34" charset="0"/>
                            </a:rPr>
                            <a:t> independientes” pero correlacionados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s-ES_tradnl" sz="2000" dirty="0">
                              <a:latin typeface="Gill Sans Nova Light" panose="020B0302020104020203" pitchFamily="34" charset="0"/>
                            </a:rPr>
                            <a:t>Arboles </a:t>
                          </a:r>
                        </a:p>
                        <a:p>
                          <a:r>
                            <a:rPr lang="es-ES_tradnl" sz="2000" dirty="0">
                              <a:latin typeface="Gill Sans Nova Light" panose="020B0302020104020203" pitchFamily="34" charset="0"/>
                            </a:rPr>
                            <a:t>De-correlacionados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s-ES_tradnl" sz="2000" dirty="0">
                              <a:latin typeface="Gill Sans Nova Light" panose="020B0302020104020203" pitchFamily="34" charset="0"/>
                            </a:rPr>
                            <a:t>Arboles interdependientes: ajuste de los residuos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48567323"/>
                      </a:ext>
                    </a:extLst>
                  </a:tr>
                  <a:tr h="1316031">
                    <a:tc>
                      <a:txBody>
                        <a:bodyPr/>
                        <a:lstStyle/>
                        <a:p>
                          <a:pPr marL="0" indent="0">
                            <a:buFont typeface="Arial" panose="020B0604020202020204" pitchFamily="34" charset="0"/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a:rPr lang="en-US" sz="2000" b="0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oMath>
                          </a14:m>
                          <a:r>
                            <a:rPr lang="es-ES_tradnl" sz="2000" dirty="0">
                              <a:latin typeface="Gill Sans Nova Light" panose="020B0302020104020203" pitchFamily="34" charset="0"/>
                            </a:rPr>
                            <a:t> Número de árboles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indent="0">
                            <a:buFont typeface="Arial" panose="020B0604020202020204" pitchFamily="34" charset="0"/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a:rPr lang="en-US" sz="2000" b="0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oMath>
                          </a14:m>
                          <a:r>
                            <a:rPr lang="es-ES_tradnl" sz="2000" dirty="0">
                              <a:latin typeface="Gill Sans Nova Light" panose="020B0302020104020203" pitchFamily="34" charset="0"/>
                            </a:rPr>
                            <a:t> numero de predictores</a:t>
                          </a:r>
                          <a:r>
                            <a:rPr lang="es-ES_tradnl" sz="2000" baseline="0" dirty="0">
                              <a:latin typeface="Gill Sans Nova Light" panose="020B0302020104020203" pitchFamily="34" charset="0"/>
                            </a:rPr>
                            <a:t> disponibles</a:t>
                          </a:r>
                          <a:r>
                            <a:rPr lang="es-ES_tradnl" sz="2000" dirty="0">
                              <a:latin typeface="Gill Sans Nova Light" panose="020B0302020104020203" pitchFamily="34" charset="0"/>
                            </a:rPr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oMath>
                          </a14:m>
                          <a:r>
                            <a:rPr lang="es-ES_tradnl" sz="2000" dirty="0">
                              <a:latin typeface="Gill Sans Nova Light" panose="020B0302020104020203" pitchFamily="34" charset="0"/>
                            </a:rPr>
                            <a:t> numero</a:t>
                          </a:r>
                          <a:r>
                            <a:rPr lang="es-ES_tradnl" sz="2000" baseline="0" dirty="0">
                              <a:latin typeface="Gill Sans Nova Light" panose="020B0302020104020203" pitchFamily="34" charset="0"/>
                            </a:rPr>
                            <a:t> de particiones</a:t>
                          </a:r>
                        </a:p>
                        <a:p>
                          <a14:m>
                            <m:oMath xmlns:m="http://schemas.openxmlformats.org/officeDocument/2006/math"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oMath>
                          </a14:m>
                          <a:r>
                            <a:rPr lang="es-ES_tradnl" sz="2000" baseline="0" dirty="0">
                              <a:latin typeface="Gill Sans Nova Light" panose="020B0302020104020203" pitchFamily="34" charset="0"/>
                            </a:rPr>
                            <a:t> penalidad (</a:t>
                          </a:r>
                          <a:r>
                            <a:rPr lang="es-ES_tradnl" sz="2000" i="1" baseline="0" dirty="0">
                              <a:latin typeface="Gill Sans Nova Light" panose="020B0302020104020203" pitchFamily="34" charset="0"/>
                            </a:rPr>
                            <a:t>tasa de aprendizaje</a:t>
                          </a:r>
                          <a:r>
                            <a:rPr lang="es-ES_tradnl" sz="2000" i="0" baseline="0" dirty="0">
                              <a:latin typeface="Gill Sans Nova Light" panose="020B0302020104020203" pitchFamily="34" charset="0"/>
                            </a:rPr>
                            <a:t>)</a:t>
                          </a:r>
                          <a:endParaRPr lang="es-ES_tradnl" sz="2000" baseline="0" dirty="0">
                            <a:latin typeface="Gill Sans Nova Light" panose="020B0302020104020203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59047344"/>
                      </a:ext>
                    </a:extLst>
                  </a:tr>
                  <a:tr h="1441910">
                    <a:tc>
                      <a:txBody>
                        <a:bodyPr/>
                        <a:lstStyle/>
                        <a:p>
                          <a:pPr marL="0" indent="0">
                            <a:buFont typeface="Arial" panose="020B0604020202020204" pitchFamily="34" charset="0"/>
                            <a:buNone/>
                          </a:pPr>
                          <a:r>
                            <a:rPr lang="es-ES_tradnl" sz="2000" b="0" dirty="0">
                              <a:solidFill>
                                <a:srgbClr val="00B050"/>
                              </a:solidFill>
                              <a:latin typeface="Gill Sans Nova Light" panose="020B0302020104020203" pitchFamily="34" charset="0"/>
                            </a:rPr>
                            <a:t>Menor varianza </a:t>
                          </a:r>
                          <a:r>
                            <a:rPr lang="es-ES_tradnl" sz="2000" b="0" dirty="0">
                              <a:latin typeface="Gill Sans Nova Light" panose="020B0302020104020203" pitchFamily="34" charset="0"/>
                            </a:rPr>
                            <a:t>de error de testeo, promediando entre muchos árboles </a:t>
                          </a:r>
                          <a:endParaRPr lang="es-ES_tradnl" sz="2000" b="0" i="0" dirty="0">
                            <a:latin typeface="Gill Sans Nova Light" panose="020B030202010402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indent="0">
                            <a:buFont typeface="Arial" panose="020B0604020202020204" pitchFamily="34" charset="0"/>
                            <a:buNone/>
                          </a:pPr>
                          <a:r>
                            <a:rPr lang="es-ES_tradnl" sz="2000" b="0" dirty="0">
                              <a:solidFill>
                                <a:srgbClr val="00B050"/>
                              </a:solidFill>
                              <a:latin typeface="Gill Sans Nova Light" panose="020B0302020104020203" pitchFamily="34" charset="0"/>
                            </a:rPr>
                            <a:t>Menor varianza </a:t>
                          </a:r>
                          <a:r>
                            <a:rPr lang="es-ES_tradnl" sz="2000" b="0" dirty="0">
                              <a:latin typeface="Gill Sans Nova Light" panose="020B0302020104020203" pitchFamily="34" charset="0"/>
                            </a:rPr>
                            <a:t>de error de testeo, promediando entre muchos árboles y </a:t>
                          </a:r>
                          <a:r>
                            <a:rPr lang="es-ES_tradnl" sz="2000" b="0" dirty="0">
                              <a:solidFill>
                                <a:srgbClr val="00B050"/>
                              </a:solidFill>
                              <a:latin typeface="Gill Sans Nova Light" panose="020B0302020104020203" pitchFamily="34" charset="0"/>
                            </a:rPr>
                            <a:t>bajando la correlación</a:t>
                          </a:r>
                          <a:r>
                            <a:rPr lang="es-ES_tradnl" sz="2000" b="0" dirty="0">
                              <a:latin typeface="Gill Sans Nova Light" panose="020B0302020104020203" pitchFamily="34" charset="0"/>
                            </a:rPr>
                            <a:t> entre arboles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indent="0">
                            <a:buFont typeface="Arial" panose="020B0604020202020204" pitchFamily="34" charset="0"/>
                            <a:buNone/>
                          </a:pPr>
                          <a:r>
                            <a:rPr lang="es-ES_tradnl" sz="2000" b="0" dirty="0">
                              <a:solidFill>
                                <a:schemeClr val="accent2"/>
                              </a:solidFill>
                              <a:latin typeface="Gill Sans Nova Light" panose="020B0302020104020203" pitchFamily="34" charset="0"/>
                            </a:rPr>
                            <a:t>Aprendizaje lento </a:t>
                          </a:r>
                          <a:r>
                            <a:rPr lang="es-ES_tradnl" sz="2000" b="0" dirty="0">
                              <a:solidFill>
                                <a:srgbClr val="00B050"/>
                              </a:solidFill>
                              <a:latin typeface="Gill Sans Nova Light" panose="020B0302020104020203" pitchFamily="34" charset="0"/>
                            </a:rPr>
                            <a:t>con menor varianza </a:t>
                          </a:r>
                          <a:r>
                            <a:rPr lang="es-ES_tradnl" sz="2000" b="0" dirty="0">
                              <a:latin typeface="Gill Sans Nova Light" panose="020B0302020104020203" pitchFamily="34" charset="0"/>
                            </a:rPr>
                            <a:t>de error de testeo, </a:t>
                          </a:r>
                          <a:r>
                            <a:rPr lang="es-ES_tradnl" sz="2000" b="0" dirty="0">
                              <a:solidFill>
                                <a:srgbClr val="00B050"/>
                              </a:solidFill>
                              <a:latin typeface="Gill Sans Nova Light" panose="020B0302020104020203" pitchFamily="34" charset="0"/>
                            </a:rPr>
                            <a:t>rediciendo el sesgo </a:t>
                          </a:r>
                          <a:r>
                            <a:rPr lang="es-ES_tradnl" sz="2000" b="0" dirty="0">
                              <a:latin typeface="Gill Sans Nova Light" panose="020B0302020104020203" pitchFamily="34" charset="0"/>
                            </a:rPr>
                            <a:t>de </a:t>
                          </a:r>
                          <a:r>
                            <a:rPr lang="es-ES_tradnl" sz="2000" b="0" dirty="0">
                              <a:solidFill>
                                <a:srgbClr val="002060"/>
                              </a:solidFill>
                              <a:latin typeface="Gill Sans Nova Light" panose="020B0302020104020203" pitchFamily="34" charset="0"/>
                            </a:rPr>
                            <a:t>un árbol</a:t>
                          </a:r>
                        </a:p>
                        <a:p>
                          <a:endParaRPr lang="es-ES_tradnl" sz="2000" dirty="0">
                            <a:latin typeface="Gill Sans Nova Light" panose="020B0302020104020203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1377136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Content Placeholder 6">
                <a:extLst>
                  <a:ext uri="{FF2B5EF4-FFF2-40B4-BE49-F238E27FC236}">
                    <a16:creationId xmlns:a16="http://schemas.microsoft.com/office/drawing/2014/main" id="{04A66406-FA04-E0F0-0BCF-164DEB027FB0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78857682"/>
                  </p:ext>
                </p:extLst>
              </p:nvPr>
            </p:nvGraphicFramePr>
            <p:xfrm>
              <a:off x="838200" y="1522276"/>
              <a:ext cx="9800064" cy="4435878"/>
            </p:xfrm>
            <a:graphic>
              <a:graphicData uri="http://schemas.openxmlformats.org/drawingml/2006/table">
                <a:tbl>
                  <a:tblPr firstRow="1" bandRow="1">
                    <a:tableStyleId>{7E9639D4-E3E2-4D34-9284-5A2195B3D0D7}</a:tableStyleId>
                  </a:tblPr>
                  <a:tblGrid>
                    <a:gridCol w="3266688">
                      <a:extLst>
                        <a:ext uri="{9D8B030D-6E8A-4147-A177-3AD203B41FA5}">
                          <a16:colId xmlns:a16="http://schemas.microsoft.com/office/drawing/2014/main" val="2575751318"/>
                        </a:ext>
                      </a:extLst>
                    </a:gridCol>
                    <a:gridCol w="3266688">
                      <a:extLst>
                        <a:ext uri="{9D8B030D-6E8A-4147-A177-3AD203B41FA5}">
                          <a16:colId xmlns:a16="http://schemas.microsoft.com/office/drawing/2014/main" val="3044122308"/>
                        </a:ext>
                      </a:extLst>
                    </a:gridCol>
                    <a:gridCol w="3266688">
                      <a:extLst>
                        <a:ext uri="{9D8B030D-6E8A-4147-A177-3AD203B41FA5}">
                          <a16:colId xmlns:a16="http://schemas.microsoft.com/office/drawing/2014/main" val="2284175529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r>
                            <a:rPr lang="es-ES_tradnl" sz="2000" dirty="0" err="1">
                              <a:latin typeface="Gill Sans Nova Light" panose="020B0302020104020203" pitchFamily="34" charset="0"/>
                            </a:rPr>
                            <a:t>Bagging</a:t>
                          </a:r>
                          <a:endParaRPr lang="es-ES_tradnl" sz="2000" dirty="0">
                            <a:latin typeface="Gill Sans Nova Light" panose="020B0302020104020203" pitchFamily="34" charset="0"/>
                          </a:endParaRPr>
                        </a:p>
                      </a:txBody>
                      <a:tcPr>
                        <a:solidFill>
                          <a:srgbClr val="00206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ES_tradnl" sz="2000" dirty="0">
                              <a:latin typeface="Gill Sans Nova Light" panose="020B0302020104020203" pitchFamily="34" charset="0"/>
                            </a:rPr>
                            <a:t>Random Forest</a:t>
                          </a:r>
                        </a:p>
                      </a:txBody>
                      <a:tcPr>
                        <a:solidFill>
                          <a:srgbClr val="00206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ES_tradnl" sz="2000" dirty="0" err="1">
                              <a:latin typeface="Gill Sans Nova Light" panose="020B0302020104020203" pitchFamily="34" charset="0"/>
                            </a:rPr>
                            <a:t>Boosting</a:t>
                          </a:r>
                          <a:endParaRPr lang="es-ES_tradnl" sz="2000" dirty="0">
                            <a:latin typeface="Gill Sans Nova Light" panose="020B0302020104020203" pitchFamily="34" charset="0"/>
                          </a:endParaRPr>
                        </a:p>
                      </a:txBody>
                      <a:tcPr>
                        <a:solidFill>
                          <a:srgbClr val="00206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73071710"/>
                      </a:ext>
                    </a:extLst>
                  </a:tr>
                  <a:tr h="526411">
                    <a:tc>
                      <a:txBody>
                        <a:bodyPr/>
                        <a:lstStyle/>
                        <a:p>
                          <a:endParaRPr lang="es-US"/>
                        </a:p>
                      </a:txBody>
                      <a:tcPr>
                        <a:blipFill>
                          <a:blip r:embed="rId3"/>
                          <a:stretch>
                            <a:fillRect l="-389" t="-78571" r="-200778" b="-6619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US"/>
                        </a:p>
                      </a:txBody>
                      <a:tcPr>
                        <a:blipFill>
                          <a:blip r:embed="rId3"/>
                          <a:stretch>
                            <a:fillRect l="-100000" t="-78571" r="-100000" b="-6619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US"/>
                        </a:p>
                      </a:txBody>
                      <a:tcPr>
                        <a:blipFill>
                          <a:blip r:embed="rId3"/>
                          <a:stretch>
                            <a:fillRect l="-200778" t="-78571" r="-389" b="-6619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49518654"/>
                      </a:ext>
                    </a:extLst>
                  </a:tr>
                  <a:tr h="755286">
                    <a:tc>
                      <a:txBody>
                        <a:bodyPr/>
                        <a:lstStyle/>
                        <a:p>
                          <a:r>
                            <a:rPr lang="es-ES_tradnl" sz="2000" dirty="0">
                              <a:latin typeface="Gill Sans Nova Light" panose="020B0302020104020203" pitchFamily="34" charset="0"/>
                            </a:rPr>
                            <a:t>“</a:t>
                          </a:r>
                          <a:r>
                            <a:rPr lang="es-ES_tradnl" sz="2000" b="0" dirty="0">
                              <a:latin typeface="Gill Sans Nova Light" panose="020B0302020104020203" pitchFamily="34" charset="0"/>
                            </a:rPr>
                            <a:t>árboles</a:t>
                          </a:r>
                          <a:r>
                            <a:rPr lang="es-ES_tradnl" sz="2000" dirty="0">
                              <a:latin typeface="Gill Sans Nova Light" panose="020B0302020104020203" pitchFamily="34" charset="0"/>
                            </a:rPr>
                            <a:t> independientes” pero correlacionados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s-ES_tradnl" sz="2000" dirty="0">
                              <a:latin typeface="Gill Sans Nova Light" panose="020B0302020104020203" pitchFamily="34" charset="0"/>
                            </a:rPr>
                            <a:t>Arboles </a:t>
                          </a:r>
                        </a:p>
                        <a:p>
                          <a:r>
                            <a:rPr lang="es-ES_tradnl" sz="2000" dirty="0">
                              <a:latin typeface="Gill Sans Nova Light" panose="020B0302020104020203" pitchFamily="34" charset="0"/>
                            </a:rPr>
                            <a:t>De-correlacionados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s-ES_tradnl" sz="2000" dirty="0">
                              <a:latin typeface="Gill Sans Nova Light" panose="020B0302020104020203" pitchFamily="34" charset="0"/>
                            </a:rPr>
                            <a:t>Arboles interdependientes: ajuste de los residuos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48567323"/>
                      </a:ext>
                    </a:extLst>
                  </a:tr>
                  <a:tr h="1316031">
                    <a:tc>
                      <a:txBody>
                        <a:bodyPr/>
                        <a:lstStyle/>
                        <a:p>
                          <a:endParaRPr lang="es-US"/>
                        </a:p>
                      </a:txBody>
                      <a:tcPr>
                        <a:blipFill>
                          <a:blip r:embed="rId3"/>
                          <a:stretch>
                            <a:fillRect l="-389" t="-129808" r="-200778" b="-1096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US"/>
                        </a:p>
                      </a:txBody>
                      <a:tcPr>
                        <a:blipFill>
                          <a:blip r:embed="rId3"/>
                          <a:stretch>
                            <a:fillRect l="-100000" t="-129808" r="-100000" b="-1096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US"/>
                        </a:p>
                      </a:txBody>
                      <a:tcPr>
                        <a:blipFill>
                          <a:blip r:embed="rId3"/>
                          <a:stretch>
                            <a:fillRect l="-200778" t="-129808" r="-389" b="-1096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9047344"/>
                      </a:ext>
                    </a:extLst>
                  </a:tr>
                  <a:tr h="1441910">
                    <a:tc>
                      <a:txBody>
                        <a:bodyPr/>
                        <a:lstStyle/>
                        <a:p>
                          <a:pPr marL="0" indent="0">
                            <a:buFont typeface="Arial" panose="020B0604020202020204" pitchFamily="34" charset="0"/>
                            <a:buNone/>
                          </a:pPr>
                          <a:r>
                            <a:rPr lang="es-ES_tradnl" sz="2000" b="0" dirty="0">
                              <a:solidFill>
                                <a:srgbClr val="00B050"/>
                              </a:solidFill>
                              <a:latin typeface="Gill Sans Nova Light" panose="020B0302020104020203" pitchFamily="34" charset="0"/>
                            </a:rPr>
                            <a:t>Menor varianza </a:t>
                          </a:r>
                          <a:r>
                            <a:rPr lang="es-ES_tradnl" sz="2000" b="0" dirty="0">
                              <a:latin typeface="Gill Sans Nova Light" panose="020B0302020104020203" pitchFamily="34" charset="0"/>
                            </a:rPr>
                            <a:t>de error de testeo, promediando entre muchos árboles </a:t>
                          </a:r>
                          <a:endParaRPr lang="es-ES_tradnl" sz="2000" b="0" i="0" dirty="0">
                            <a:latin typeface="Gill Sans Nova Light" panose="020B030202010402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indent="0">
                            <a:buFont typeface="Arial" panose="020B0604020202020204" pitchFamily="34" charset="0"/>
                            <a:buNone/>
                          </a:pPr>
                          <a:r>
                            <a:rPr lang="es-ES_tradnl" sz="2000" b="0" dirty="0">
                              <a:solidFill>
                                <a:srgbClr val="00B050"/>
                              </a:solidFill>
                              <a:latin typeface="Gill Sans Nova Light" panose="020B0302020104020203" pitchFamily="34" charset="0"/>
                            </a:rPr>
                            <a:t>Menor varianza </a:t>
                          </a:r>
                          <a:r>
                            <a:rPr lang="es-ES_tradnl" sz="2000" b="0" dirty="0">
                              <a:latin typeface="Gill Sans Nova Light" panose="020B0302020104020203" pitchFamily="34" charset="0"/>
                            </a:rPr>
                            <a:t>de error de testeo, promediando entre muchos árboles y </a:t>
                          </a:r>
                          <a:r>
                            <a:rPr lang="es-ES_tradnl" sz="2000" b="0" dirty="0">
                              <a:solidFill>
                                <a:srgbClr val="00B050"/>
                              </a:solidFill>
                              <a:latin typeface="Gill Sans Nova Light" panose="020B0302020104020203" pitchFamily="34" charset="0"/>
                            </a:rPr>
                            <a:t>bajando la correlación</a:t>
                          </a:r>
                          <a:r>
                            <a:rPr lang="es-ES_tradnl" sz="2000" b="0" dirty="0">
                              <a:latin typeface="Gill Sans Nova Light" panose="020B0302020104020203" pitchFamily="34" charset="0"/>
                            </a:rPr>
                            <a:t> entre arboles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indent="0">
                            <a:buFont typeface="Arial" panose="020B0604020202020204" pitchFamily="34" charset="0"/>
                            <a:buNone/>
                          </a:pPr>
                          <a:r>
                            <a:rPr lang="es-ES_tradnl" sz="2000" b="0" dirty="0">
                              <a:solidFill>
                                <a:schemeClr val="accent2"/>
                              </a:solidFill>
                              <a:latin typeface="Gill Sans Nova Light" panose="020B0302020104020203" pitchFamily="34" charset="0"/>
                            </a:rPr>
                            <a:t>Aprendizaje lento </a:t>
                          </a:r>
                          <a:r>
                            <a:rPr lang="es-ES_tradnl" sz="2000" b="0" dirty="0">
                              <a:solidFill>
                                <a:srgbClr val="00B050"/>
                              </a:solidFill>
                              <a:latin typeface="Gill Sans Nova Light" panose="020B0302020104020203" pitchFamily="34" charset="0"/>
                            </a:rPr>
                            <a:t>con menor varianza </a:t>
                          </a:r>
                          <a:r>
                            <a:rPr lang="es-ES_tradnl" sz="2000" b="0" dirty="0">
                              <a:latin typeface="Gill Sans Nova Light" panose="020B0302020104020203" pitchFamily="34" charset="0"/>
                            </a:rPr>
                            <a:t>de error de testeo, </a:t>
                          </a:r>
                          <a:r>
                            <a:rPr lang="es-ES_tradnl" sz="2000" b="0" dirty="0">
                              <a:solidFill>
                                <a:srgbClr val="00B050"/>
                              </a:solidFill>
                              <a:latin typeface="Gill Sans Nova Light" panose="020B0302020104020203" pitchFamily="34" charset="0"/>
                            </a:rPr>
                            <a:t>rediciendo el sesgo </a:t>
                          </a:r>
                          <a:r>
                            <a:rPr lang="es-ES_tradnl" sz="2000" b="0" dirty="0">
                              <a:latin typeface="Gill Sans Nova Light" panose="020B0302020104020203" pitchFamily="34" charset="0"/>
                            </a:rPr>
                            <a:t>de </a:t>
                          </a:r>
                          <a:r>
                            <a:rPr lang="es-ES_tradnl" sz="2000" b="0" dirty="0">
                              <a:solidFill>
                                <a:srgbClr val="002060"/>
                              </a:solidFill>
                              <a:latin typeface="Gill Sans Nova Light" panose="020B0302020104020203" pitchFamily="34" charset="0"/>
                            </a:rPr>
                            <a:t>un árbol</a:t>
                          </a:r>
                        </a:p>
                        <a:p>
                          <a:endParaRPr lang="es-ES_tradnl" sz="2000" dirty="0">
                            <a:latin typeface="Gill Sans Nova Light" panose="020B0302020104020203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1377136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7E39AB-00F5-ADEE-08FA-C6F284265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3835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42471-9418-E3E3-C7E5-30087178F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Una aplicación en finanzas públicas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780597-6948-B78E-E6E3-6E4F9F1321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References</a:t>
            </a:r>
          </a:p>
          <a:p>
            <a:r>
              <a:rPr lang="en-US" sz="2400" b="1" cap="small" dirty="0">
                <a:solidFill>
                  <a:srgbClr val="002060"/>
                </a:solidFill>
                <a:effectLst/>
                <a:latin typeface="Times" pitchFamily="2" charset="0"/>
                <a:ea typeface="Times" pitchFamily="2" charset="0"/>
                <a:cs typeface="Times" pitchFamily="2" charset="0"/>
              </a:rPr>
              <a:t>* </a:t>
            </a:r>
            <a:r>
              <a:rPr lang="en-US" dirty="0"/>
              <a:t>Keely, L. C., &amp; Tan, C. M. (2008). Understanding preferences for income redistribution</a:t>
            </a:r>
            <a:r>
              <a:rPr lang="en-US" i="1" dirty="0"/>
              <a:t>. Journal of Public Economics</a:t>
            </a:r>
            <a:r>
              <a:rPr lang="en-US" dirty="0"/>
              <a:t>, 92(5–6), 944–961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8F5EC8-9CA8-BFFB-D2D0-21A543531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75895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047C5-1CF1-5BD7-8E22-5FD0B175D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Motivación: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Debate de teorías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DEC7B7-FFAA-1B1E-300A-35BAE8E1B1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>
              <a:lnSpc>
                <a:spcPct val="150000"/>
              </a:lnSpc>
            </a:pPr>
            <a:r>
              <a:rPr lang="es-ES_tradnl" dirty="0"/>
              <a:t>Identidad de los individuos y preferencias en economía:</a:t>
            </a:r>
          </a:p>
          <a:p>
            <a:pPr lvl="1">
              <a:lnSpc>
                <a:spcPct val="150000"/>
              </a:lnSpc>
            </a:pPr>
            <a:r>
              <a:rPr lang="es-ES_tradnl" dirty="0"/>
              <a:t>Distintas preferencias y visiones del mundo -&gt; distintas decisiones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s-ES_tradnl" dirty="0">
                <a:solidFill>
                  <a:srgbClr val="002060"/>
                </a:solidFill>
              </a:rPr>
              <a:t>Teoría basada en preferencias</a:t>
            </a:r>
            <a:r>
              <a:rPr lang="es-ES_tradnl" dirty="0"/>
              <a:t>: a las personas les importan las acciones y </a:t>
            </a:r>
            <a:r>
              <a:rPr lang="es-ES_tradnl" dirty="0" err="1"/>
              <a:t>outcomes</a:t>
            </a:r>
            <a:r>
              <a:rPr lang="es-ES_tradnl" dirty="0"/>
              <a:t> de su grupo y otros grupos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s-ES_tradnl" dirty="0">
                <a:solidFill>
                  <a:srgbClr val="002060"/>
                </a:solidFill>
              </a:rPr>
              <a:t>Teoría basada en información</a:t>
            </a:r>
            <a:r>
              <a:rPr lang="es-ES_tradnl" dirty="0"/>
              <a:t>: la identidad se basa en un conjunto de condiciones iniciales de grupos y pude tener efectos persistentes</a:t>
            </a:r>
          </a:p>
          <a:p>
            <a:pPr>
              <a:lnSpc>
                <a:spcPct val="150000"/>
              </a:lnSpc>
            </a:pPr>
            <a:endParaRPr lang="es-ES_trad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893AEB-46B7-240A-8A97-C9F3BC82A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6299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047C5-1CF1-5BD7-8E22-5FD0B175D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Objetivos del paper</a:t>
            </a:r>
            <a:endParaRPr lang="es-ES_tradnl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DEC7B7-FFAA-1B1E-300A-35BAE8E1B1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lnSpc>
                <a:spcPct val="150000"/>
              </a:lnSpc>
            </a:pPr>
            <a:r>
              <a:rPr lang="es-ES_tradnl" dirty="0"/>
              <a:t>En este paper estudian las preferencias por redistribución del ingreso y cómo se identifican los individuos según sus preferencias</a:t>
            </a:r>
          </a:p>
          <a:p>
            <a:pPr>
              <a:lnSpc>
                <a:spcPct val="150000"/>
              </a:lnSpc>
            </a:pPr>
            <a:r>
              <a:rPr lang="es-ES_tradnl" dirty="0">
                <a:solidFill>
                  <a:srgbClr val="002060"/>
                </a:solidFill>
              </a:rPr>
              <a:t>Objetivos</a:t>
            </a:r>
            <a:r>
              <a:rPr lang="es-ES_tradnl" dirty="0"/>
              <a:t>: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s-ES_tradnl" dirty="0"/>
              <a:t>Proponer un nuevo </a:t>
            </a:r>
            <a:r>
              <a:rPr lang="es-ES_tradnl" dirty="0">
                <a:solidFill>
                  <a:srgbClr val="002060"/>
                </a:solidFill>
              </a:rPr>
              <a:t>método empírico </a:t>
            </a:r>
            <a:r>
              <a:rPr lang="es-ES_tradnl" dirty="0"/>
              <a:t>para </a:t>
            </a:r>
            <a:r>
              <a:rPr lang="es-ES_tradnl" dirty="0">
                <a:solidFill>
                  <a:srgbClr val="002060"/>
                </a:solidFill>
              </a:rPr>
              <a:t>testear</a:t>
            </a:r>
            <a:r>
              <a:rPr lang="es-ES_tradnl" dirty="0"/>
              <a:t> las implicancias de la </a:t>
            </a:r>
            <a:r>
              <a:rPr lang="es-ES_tradnl" dirty="0">
                <a:solidFill>
                  <a:srgbClr val="002060"/>
                </a:solidFill>
              </a:rPr>
              <a:t>teoría basada en información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s-ES_tradnl" dirty="0">
                <a:solidFill>
                  <a:srgbClr val="002060"/>
                </a:solidFill>
              </a:rPr>
              <a:t>Documentar</a:t>
            </a:r>
            <a:r>
              <a:rPr lang="es-ES_tradnl" dirty="0"/>
              <a:t> hechos estilizados de las preferencias por redistribución</a:t>
            </a:r>
          </a:p>
          <a:p>
            <a:pPr lvl="1">
              <a:lnSpc>
                <a:spcPct val="150000"/>
              </a:lnSpc>
            </a:pPr>
            <a:endParaRPr lang="es-ES_tradnl" dirty="0"/>
          </a:p>
          <a:p>
            <a:pPr>
              <a:lnSpc>
                <a:spcPct val="150000"/>
              </a:lnSpc>
            </a:pPr>
            <a:endParaRPr lang="es-ES_trad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893AEB-46B7-240A-8A97-C9F3BC82A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7414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5192FC-FFDD-3F65-2193-C74FE714F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Métodos y Datos usados en el paper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314072-AD8A-BDF9-229C-997D593BAD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s-ES_tradnl" dirty="0">
                <a:solidFill>
                  <a:srgbClr val="002060"/>
                </a:solidFill>
              </a:rPr>
              <a:t>Datos</a:t>
            </a:r>
            <a:r>
              <a:rPr lang="es-ES_tradnl" dirty="0"/>
              <a:t>: </a:t>
            </a:r>
            <a:r>
              <a:rPr lang="es-ES_tradnl" dirty="0">
                <a:hlinkClick r:id="rId2"/>
              </a:rPr>
              <a:t>General Social Survey</a:t>
            </a:r>
            <a:endParaRPr lang="es-ES_tradnl" dirty="0"/>
          </a:p>
          <a:p>
            <a:endParaRPr lang="es-ES_tradnl" dirty="0"/>
          </a:p>
          <a:p>
            <a:r>
              <a:rPr lang="es-ES_tradnl" dirty="0">
                <a:solidFill>
                  <a:srgbClr val="002060"/>
                </a:solidFill>
              </a:rPr>
              <a:t>Métodos</a:t>
            </a:r>
            <a:r>
              <a:rPr lang="es-ES_tradnl" dirty="0"/>
              <a:t>: </a:t>
            </a:r>
          </a:p>
          <a:p>
            <a:pPr lvl="1"/>
            <a:r>
              <a:rPr lang="es-ES_tradnl" dirty="0"/>
              <a:t>CART</a:t>
            </a:r>
          </a:p>
          <a:p>
            <a:pPr lvl="1"/>
            <a:r>
              <a:rPr lang="es-ES_tradnl" dirty="0"/>
              <a:t>Random Forest</a:t>
            </a:r>
          </a:p>
          <a:p>
            <a:pPr lvl="1"/>
            <a:endParaRPr lang="es-ES_tradnl" dirty="0"/>
          </a:p>
          <a:p>
            <a:r>
              <a:rPr lang="es-ES_tradnl" dirty="0">
                <a:solidFill>
                  <a:srgbClr val="002060"/>
                </a:solidFill>
              </a:rPr>
              <a:t>Variable de interés: </a:t>
            </a:r>
            <a:r>
              <a:rPr lang="es-ES_tradnl" dirty="0"/>
              <a:t>Que tan de acuerdo están con que el gobierno en Washington redistribuya la riqueza de ricos a pobres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E4B7E9-409B-D282-6665-6C0E0231D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5300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0FA89-B89E-1FA8-F35A-25ABDA33F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Resultados Principales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C5587-F063-C4C4-4C73-8E10A0726D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5054137"/>
            <a:ext cx="9852234" cy="1122825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20000"/>
              </a:lnSpc>
            </a:pPr>
            <a:r>
              <a:rPr lang="es-ES_tradnl" dirty="0">
                <a:solidFill>
                  <a:srgbClr val="002060"/>
                </a:solidFill>
              </a:rPr>
              <a:t>Otras variables de interés: </a:t>
            </a:r>
            <a:r>
              <a:rPr lang="es-ES_tradnl" dirty="0"/>
              <a:t>tolerancia por desigualdad, predicción de movilidad social ascendente, movilidad social intergeneracional, ingresos familiares pasados, y confianza en el gobierno.</a:t>
            </a:r>
          </a:p>
          <a:p>
            <a:pPr>
              <a:lnSpc>
                <a:spcPct val="120000"/>
              </a:lnSpc>
            </a:pPr>
            <a:endParaRPr lang="es-ES_tradnl" dirty="0"/>
          </a:p>
        </p:txBody>
      </p:sp>
      <p:pic>
        <p:nvPicPr>
          <p:cNvPr id="7" name="Content Placeholder 6" descr="A table of numbers with a number in the middle&#10;&#10;Description automatically generated with medium confidence">
            <a:extLst>
              <a:ext uri="{FF2B5EF4-FFF2-40B4-BE49-F238E27FC236}">
                <a16:creationId xmlns:a16="http://schemas.microsoft.com/office/drawing/2014/main" id="{9AF35CA6-55CF-774F-C53A-FDC06ABE8FC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861750" y="1561841"/>
            <a:ext cx="10492050" cy="3312907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364685-4D2D-1DD9-0488-D824E4C42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5859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047C5-1CF1-5BD7-8E22-5FD0B175D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Conclusiones importantes de los resultados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DEC7B7-FFAA-1B1E-300A-35BAE8E1B1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es-ES_tradnl" dirty="0">
                <a:solidFill>
                  <a:srgbClr val="002060"/>
                </a:solidFill>
              </a:rPr>
              <a:t>No encuentran un patrón sistemático </a:t>
            </a:r>
            <a:r>
              <a:rPr lang="es-ES_tradnl" dirty="0"/>
              <a:t>de grupos con preferencias por la redistribución y confianza en el gobierno</a:t>
            </a:r>
          </a:p>
          <a:p>
            <a:pPr>
              <a:lnSpc>
                <a:spcPct val="150000"/>
              </a:lnSpc>
            </a:pPr>
            <a:r>
              <a:rPr lang="es-ES_tradnl" dirty="0"/>
              <a:t>Religión e ideología </a:t>
            </a:r>
            <a:r>
              <a:rPr lang="es-ES_tradnl" dirty="0">
                <a:solidFill>
                  <a:srgbClr val="002060"/>
                </a:solidFill>
              </a:rPr>
              <a:t>no son importantes </a:t>
            </a:r>
            <a:r>
              <a:rPr lang="es-ES_tradnl" dirty="0"/>
              <a:t>para agrupar las preferencias por la redistribución del ingreso.</a:t>
            </a:r>
          </a:p>
          <a:p>
            <a:pPr>
              <a:lnSpc>
                <a:spcPct val="150000"/>
              </a:lnSpc>
            </a:pPr>
            <a:r>
              <a:rPr lang="es-ES_tradnl" dirty="0">
                <a:solidFill>
                  <a:srgbClr val="002060"/>
                </a:solidFill>
              </a:rPr>
              <a:t>Investigación futura: </a:t>
            </a:r>
            <a:r>
              <a:rPr lang="es-ES_tradnl" dirty="0"/>
              <a:t>Mayor desarrollo de las teorías sobre las preferencias por la redistribución </a:t>
            </a:r>
          </a:p>
          <a:p>
            <a:pPr>
              <a:lnSpc>
                <a:spcPct val="150000"/>
              </a:lnSpc>
            </a:pPr>
            <a:endParaRPr lang="es-ES_trad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893AEB-46B7-240A-8A97-C9F3BC82A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59954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42471-9418-E3E3-C7E5-30087178F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Conditional trees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780597-6948-B78E-E6E3-6E4F9F1321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References:</a:t>
            </a:r>
          </a:p>
          <a:p>
            <a:r>
              <a:rPr lang="en-US" dirty="0" err="1"/>
              <a:t>Hothorn</a:t>
            </a:r>
            <a:r>
              <a:rPr lang="en-US" dirty="0"/>
              <a:t>, T., </a:t>
            </a:r>
            <a:r>
              <a:rPr lang="en-US" dirty="0" err="1"/>
              <a:t>Hornik</a:t>
            </a:r>
            <a:r>
              <a:rPr lang="en-US" dirty="0"/>
              <a:t>, K., Strobl, C., &amp; </a:t>
            </a:r>
            <a:r>
              <a:rPr lang="en-US" dirty="0" err="1"/>
              <a:t>Zeileis</a:t>
            </a:r>
            <a:r>
              <a:rPr lang="en-US" dirty="0"/>
              <a:t>, A. (2010). Party: A laboratory for recursive </a:t>
            </a:r>
            <a:r>
              <a:rPr lang="en-US" dirty="0" err="1"/>
              <a:t>partytioning</a:t>
            </a:r>
            <a:r>
              <a:rPr lang="en-US" dirty="0"/>
              <a:t>.</a:t>
            </a:r>
          </a:p>
          <a:p>
            <a:r>
              <a:rPr lang="en-US" dirty="0"/>
              <a:t>Varian, H. R. (2014). Big data: New tricks for econometrics. </a:t>
            </a:r>
            <a:r>
              <a:rPr lang="en-US" i="1" dirty="0"/>
              <a:t>The Journal of Economic Perspectives</a:t>
            </a:r>
            <a:r>
              <a:rPr lang="en-US" dirty="0"/>
              <a:t>, 28(2), 3-27.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8F5EC8-9CA8-BFFB-D2D0-21A543531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6262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2DBAEA-134D-0322-630D-28AA0AFE03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 err="1"/>
              <a:t>Motivacion</a:t>
            </a:r>
            <a:r>
              <a:rPr lang="es-ES_tradnl" dirty="0"/>
              <a:t>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Ventaja estadística e ilustrativa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029928D-9B1F-410D-D158-4B7D257CF2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4166937" cy="4530725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60000"/>
              </a:lnSpc>
            </a:pPr>
            <a:r>
              <a:rPr lang="es-ES_tradnl" dirty="0"/>
              <a:t>Enfoque alternativo de árbol</a:t>
            </a:r>
          </a:p>
          <a:p>
            <a:pPr>
              <a:lnSpc>
                <a:spcPct val="160000"/>
              </a:lnSpc>
            </a:pPr>
            <a:r>
              <a:rPr lang="es-ES_tradnl" dirty="0">
                <a:solidFill>
                  <a:srgbClr val="00B050"/>
                </a:solidFill>
              </a:rPr>
              <a:t>Ventajas</a:t>
            </a:r>
            <a:r>
              <a:rPr lang="es-ES_tradnl" dirty="0"/>
              <a:t>: </a:t>
            </a:r>
          </a:p>
          <a:p>
            <a:pPr marL="971550" lvl="1" indent="-514350">
              <a:lnSpc>
                <a:spcPct val="160000"/>
              </a:lnSpc>
              <a:buFont typeface="+mj-lt"/>
              <a:buAutoNum type="arabicPeriod"/>
            </a:pPr>
            <a:r>
              <a:rPr lang="es-ES_tradnl" dirty="0"/>
              <a:t>usa una secuencia de </a:t>
            </a:r>
            <a:r>
              <a:rPr lang="es-ES_tradnl" dirty="0">
                <a:solidFill>
                  <a:srgbClr val="002060"/>
                </a:solidFill>
              </a:rPr>
              <a:t>test de hipótesis estadísticos</a:t>
            </a:r>
          </a:p>
          <a:p>
            <a:pPr marL="971550" lvl="1" indent="-514350">
              <a:lnSpc>
                <a:spcPct val="160000"/>
              </a:lnSpc>
              <a:buFont typeface="+mj-lt"/>
              <a:buAutoNum type="arabicPeriod"/>
            </a:pPr>
            <a:r>
              <a:rPr lang="es-ES_tradnl" dirty="0"/>
              <a:t>Un solo árbol que no requiere </a:t>
            </a:r>
            <a:r>
              <a:rPr lang="es-ES_tradnl" i="1" dirty="0" err="1"/>
              <a:t>prunning</a:t>
            </a:r>
            <a:endParaRPr lang="es-ES_tradnl" i="1" dirty="0"/>
          </a:p>
          <a:p>
            <a:pPr>
              <a:lnSpc>
                <a:spcPct val="160000"/>
              </a:lnSpc>
            </a:pPr>
            <a:r>
              <a:rPr lang="es-ES_tradnl" dirty="0">
                <a:solidFill>
                  <a:srgbClr val="002060"/>
                </a:solidFill>
              </a:rPr>
              <a:t>Ejemplo</a:t>
            </a:r>
            <a:r>
              <a:rPr lang="es-ES_tradnl" dirty="0"/>
              <a:t>: sobrevivientes en el </a:t>
            </a:r>
            <a:r>
              <a:rPr lang="es-ES_tradnl" i="1" dirty="0"/>
              <a:t>Titanic</a:t>
            </a:r>
            <a:r>
              <a:rPr lang="es-ES_tradnl" dirty="0"/>
              <a:t> =1</a:t>
            </a:r>
          </a:p>
          <a:p>
            <a:pPr>
              <a:lnSpc>
                <a:spcPct val="160000"/>
              </a:lnSpc>
            </a:pPr>
            <a:endParaRPr lang="es-ES_tradnl" i="1" dirty="0"/>
          </a:p>
          <a:p>
            <a:pPr marL="0" indent="0">
              <a:lnSpc>
                <a:spcPct val="160000"/>
              </a:lnSpc>
              <a:buNone/>
            </a:pPr>
            <a:endParaRPr lang="es-ES_tradnl" dirty="0"/>
          </a:p>
        </p:txBody>
      </p:sp>
      <p:pic>
        <p:nvPicPr>
          <p:cNvPr id="8" name="Content Placeholder 7" descr="A diagram of a graph&#10;&#10;Description automatically generated">
            <a:extLst>
              <a:ext uri="{FF2B5EF4-FFF2-40B4-BE49-F238E27FC236}">
                <a16:creationId xmlns:a16="http://schemas.microsoft.com/office/drawing/2014/main" id="{03EB20BA-FE7C-8373-F1BB-4D93C224291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 rotWithShape="1">
          <a:blip r:embed="rId2"/>
          <a:srcRect b="7389"/>
          <a:stretch/>
        </p:blipFill>
        <p:spPr>
          <a:xfrm>
            <a:off x="5037582" y="1487072"/>
            <a:ext cx="6477551" cy="4530724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45BC15-8D3E-1C65-6238-3A48935C1A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16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46E1751-9402-AF69-7C2C-BB967FBEFBF8}"/>
              </a:ext>
            </a:extLst>
          </p:cNvPr>
          <p:cNvSpPr txBox="1"/>
          <p:nvPr/>
        </p:nvSpPr>
        <p:spPr>
          <a:xfrm>
            <a:off x="5370094" y="6154321"/>
            <a:ext cx="534293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effectLst/>
                <a:latin typeface="Gill Sans Nova Light" panose="020B0302020104020203" pitchFamily="34" charset="0"/>
              </a:rPr>
              <a:t>Varian </a:t>
            </a:r>
            <a:r>
              <a:rPr lang="en-US" sz="1600" dirty="0">
                <a:latin typeface="Gill Sans Nova Light" panose="020B0302020104020203" pitchFamily="34" charset="0"/>
              </a:rPr>
              <a:t>(</a:t>
            </a:r>
            <a:r>
              <a:rPr lang="en-US" sz="1600" dirty="0">
                <a:effectLst/>
                <a:latin typeface="Gill Sans Nova Light" panose="020B0302020104020203" pitchFamily="34" charset="0"/>
              </a:rPr>
              <a:t>2014). p.12</a:t>
            </a:r>
            <a:endParaRPr lang="en-US" sz="4400" dirty="0">
              <a:effectLst/>
              <a:latin typeface="Gill Sans Nova Light" panose="020B0302020104020203" pitchFamily="34" charset="0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DB188A23-61CE-46DB-2778-AA8934618642}"/>
              </a:ext>
            </a:extLst>
          </p:cNvPr>
          <p:cNvSpPr/>
          <p:nvPr/>
        </p:nvSpPr>
        <p:spPr>
          <a:xfrm>
            <a:off x="6589060" y="2424112"/>
            <a:ext cx="766481" cy="499128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E5C379B0-2F16-4024-B7D1-F5492E8A5901}"/>
              </a:ext>
            </a:extLst>
          </p:cNvPr>
          <p:cNvSpPr/>
          <p:nvPr/>
        </p:nvSpPr>
        <p:spPr>
          <a:xfrm>
            <a:off x="5685865" y="3024001"/>
            <a:ext cx="766481" cy="499128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886B88E9-9363-AC30-B40C-B8A620D309E4}"/>
              </a:ext>
            </a:extLst>
          </p:cNvPr>
          <p:cNvSpPr/>
          <p:nvPr/>
        </p:nvSpPr>
        <p:spPr>
          <a:xfrm>
            <a:off x="8334627" y="3024001"/>
            <a:ext cx="766481" cy="499128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3806894D-192A-461B-B92A-EDFB7CA90893}"/>
              </a:ext>
            </a:extLst>
          </p:cNvPr>
          <p:cNvSpPr/>
          <p:nvPr/>
        </p:nvSpPr>
        <p:spPr>
          <a:xfrm>
            <a:off x="7474017" y="3647073"/>
            <a:ext cx="766481" cy="499128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F0D55E5B-DB47-D112-5DEF-8CEB2E583A63}"/>
              </a:ext>
            </a:extLst>
          </p:cNvPr>
          <p:cNvSpPr/>
          <p:nvPr/>
        </p:nvSpPr>
        <p:spPr>
          <a:xfrm>
            <a:off x="10127570" y="3647073"/>
            <a:ext cx="766481" cy="499128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D182862F-CE60-B187-8D08-FBC74B880438}"/>
              </a:ext>
            </a:extLst>
          </p:cNvPr>
          <p:cNvSpPr/>
          <p:nvPr/>
        </p:nvSpPr>
        <p:spPr>
          <a:xfrm>
            <a:off x="9237823" y="4256673"/>
            <a:ext cx="766481" cy="499128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91CEFAD6-B50E-449A-C41E-A1404607AC08}"/>
              </a:ext>
            </a:extLst>
          </p:cNvPr>
          <p:cNvGrpSpPr/>
          <p:nvPr/>
        </p:nvGrpSpPr>
        <p:grpSpPr>
          <a:xfrm>
            <a:off x="5086694" y="4925795"/>
            <a:ext cx="1843176" cy="174812"/>
            <a:chOff x="5086694" y="4925795"/>
            <a:chExt cx="1843176" cy="174812"/>
          </a:xfrm>
        </p:grpSpPr>
        <p:sp>
          <p:nvSpPr>
            <p:cNvPr id="17" name="Rounded Rectangle 16">
              <a:extLst>
                <a:ext uri="{FF2B5EF4-FFF2-40B4-BE49-F238E27FC236}">
                  <a16:creationId xmlns:a16="http://schemas.microsoft.com/office/drawing/2014/main" id="{35C192B5-A89D-65CB-21E4-002F9015B045}"/>
                </a:ext>
              </a:extLst>
            </p:cNvPr>
            <p:cNvSpPr/>
            <p:nvPr/>
          </p:nvSpPr>
          <p:spPr>
            <a:xfrm>
              <a:off x="5086694" y="4925795"/>
              <a:ext cx="955048" cy="174812"/>
            </a:xfrm>
            <a:prstGeom prst="roundRect">
              <a:avLst/>
            </a:prstGeom>
            <a:noFill/>
            <a:ln w="28575"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18" name="Rounded Rectangle 17">
              <a:extLst>
                <a:ext uri="{FF2B5EF4-FFF2-40B4-BE49-F238E27FC236}">
                  <a16:creationId xmlns:a16="http://schemas.microsoft.com/office/drawing/2014/main" id="{D7653CC1-72A5-7E8F-DC32-5BC168901148}"/>
                </a:ext>
              </a:extLst>
            </p:cNvPr>
            <p:cNvSpPr/>
            <p:nvPr/>
          </p:nvSpPr>
          <p:spPr>
            <a:xfrm>
              <a:off x="5974822" y="4925795"/>
              <a:ext cx="955048" cy="174812"/>
            </a:xfrm>
            <a:prstGeom prst="roundRect">
              <a:avLst/>
            </a:prstGeom>
            <a:noFill/>
            <a:ln w="28575"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9BBCD56-65CD-000F-1696-7EB97E1F19DC}"/>
              </a:ext>
            </a:extLst>
          </p:cNvPr>
          <p:cNvGrpSpPr/>
          <p:nvPr/>
        </p:nvGrpSpPr>
        <p:grpSpPr>
          <a:xfrm>
            <a:off x="7929807" y="4958635"/>
            <a:ext cx="1743811" cy="1052073"/>
            <a:chOff x="7929807" y="4958635"/>
            <a:chExt cx="1743811" cy="1052073"/>
          </a:xfrm>
        </p:grpSpPr>
        <p:sp>
          <p:nvSpPr>
            <p:cNvPr id="20" name="Rounded Rectangle 19">
              <a:extLst>
                <a:ext uri="{FF2B5EF4-FFF2-40B4-BE49-F238E27FC236}">
                  <a16:creationId xmlns:a16="http://schemas.microsoft.com/office/drawing/2014/main" id="{828B995C-A77D-07E9-E076-DD9F925B06D1}"/>
                </a:ext>
              </a:extLst>
            </p:cNvPr>
            <p:cNvSpPr/>
            <p:nvPr/>
          </p:nvSpPr>
          <p:spPr>
            <a:xfrm>
              <a:off x="8817935" y="4983126"/>
              <a:ext cx="855683" cy="1027582"/>
            </a:xfrm>
            <a:prstGeom prst="roundRect">
              <a:avLst/>
            </a:prstGeom>
            <a:noFill/>
            <a:ln w="38100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21" name="Rounded Rectangle 20">
              <a:extLst>
                <a:ext uri="{FF2B5EF4-FFF2-40B4-BE49-F238E27FC236}">
                  <a16:creationId xmlns:a16="http://schemas.microsoft.com/office/drawing/2014/main" id="{0FE5B235-409D-D320-6989-B217A6523EFE}"/>
                </a:ext>
              </a:extLst>
            </p:cNvPr>
            <p:cNvSpPr/>
            <p:nvPr/>
          </p:nvSpPr>
          <p:spPr>
            <a:xfrm>
              <a:off x="7929807" y="4958635"/>
              <a:ext cx="855683" cy="1027582"/>
            </a:xfrm>
            <a:prstGeom prst="roundRect">
              <a:avLst/>
            </a:prstGeom>
            <a:noFill/>
            <a:ln w="38100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</p:grpSp>
    </p:spTree>
    <p:extLst>
      <p:ext uri="{BB962C8B-B14F-4D97-AF65-F5344CB8AC3E}">
        <p14:creationId xmlns:p14="http://schemas.microsoft.com/office/powerpoint/2010/main" val="16977131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671ED-A438-341B-C706-02C930D16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 err="1"/>
              <a:t>Conditional</a:t>
            </a:r>
            <a:r>
              <a:rPr lang="es-ES_tradnl" dirty="0"/>
              <a:t> </a:t>
            </a:r>
            <a:r>
              <a:rPr lang="es-ES_tradnl" dirty="0" err="1"/>
              <a:t>Trees</a:t>
            </a:r>
            <a:r>
              <a:rPr lang="es-ES_tradnl" dirty="0"/>
              <a:t>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Motivación</a:t>
            </a:r>
            <a:r>
              <a:rPr lang="es-ES_tradnl" dirty="0"/>
              <a:t>  </a:t>
            </a:r>
            <a:r>
              <a:rPr lang="es-ES_tradnl" i="1" dirty="0">
                <a:solidFill>
                  <a:schemeClr val="tx1"/>
                </a:solidFill>
              </a:rPr>
              <a:t>técnica</a:t>
            </a:r>
            <a:r>
              <a:rPr lang="es-ES_tradnl" dirty="0"/>
              <a:t>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5BF07E8-6447-D032-6C01-1A7C29DAEF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anchor="ctr"/>
          <a:lstStyle/>
          <a:p>
            <a:r>
              <a:rPr lang="es-ES_tradnl" dirty="0"/>
              <a:t>Problema practico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9FD7CB-F371-204A-306B-800B46A7377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/>
          </a:bodyPr>
          <a:lstStyle/>
          <a:p>
            <a:r>
              <a:rPr lang="es-ES_tradnl" dirty="0"/>
              <a:t>Paquete de Random Forest en R (</a:t>
            </a:r>
            <a:r>
              <a:rPr lang="es-ES_tradnl" sz="2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Breiman</a:t>
            </a:r>
            <a:r>
              <a:rPr lang="es-ES_tradnl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2006</a:t>
            </a:r>
            <a:r>
              <a:rPr lang="es-ES_tradnl" dirty="0"/>
              <a:t>) presenta un </a:t>
            </a:r>
            <a:r>
              <a:rPr lang="es-ES_tradnl" b="1" dirty="0">
                <a:solidFill>
                  <a:srgbClr val="FF0000"/>
                </a:solidFill>
              </a:rPr>
              <a:t>sesgo: </a:t>
            </a:r>
            <a:r>
              <a:rPr lang="es-ES_tradnl" dirty="0"/>
              <a:t>Tiende a elegir como variables más importantes</a:t>
            </a:r>
          </a:p>
          <a:p>
            <a:pPr lvl="1"/>
            <a:r>
              <a:rPr lang="es-ES_tradnl" dirty="0"/>
              <a:t>variables continuas</a:t>
            </a:r>
          </a:p>
          <a:p>
            <a:pPr lvl="1"/>
            <a:r>
              <a:rPr lang="es-ES_tradnl" dirty="0"/>
              <a:t>variables con muchas categorías</a:t>
            </a:r>
          </a:p>
          <a:p>
            <a:pPr lvl="1"/>
            <a:r>
              <a:rPr lang="es-ES_tradnl" dirty="0"/>
              <a:t>Variables con muchos </a:t>
            </a:r>
            <a:r>
              <a:rPr lang="es-ES_tradnl" i="1" dirty="0" err="1"/>
              <a:t>missing</a:t>
            </a:r>
            <a:r>
              <a:rPr lang="es-ES_tradnl" i="1" dirty="0"/>
              <a:t> </a:t>
            </a:r>
            <a:r>
              <a:rPr lang="es-ES_tradnl" i="1" dirty="0" err="1"/>
              <a:t>values</a:t>
            </a:r>
            <a:endParaRPr lang="es-ES_tradnl" i="1" dirty="0"/>
          </a:p>
          <a:p>
            <a:endParaRPr lang="es-ES_tradnl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A220971-F745-4651-EBDB-7D1DA635A1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 anchor="ctr"/>
          <a:lstStyle/>
          <a:p>
            <a:r>
              <a:rPr lang="es-ES_tradnl" dirty="0"/>
              <a:t>Problema Teórico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7C963C7-362B-2868-CDB2-558D54799500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fontScale="92500"/>
          </a:bodyPr>
          <a:lstStyle/>
          <a:p>
            <a:r>
              <a:rPr lang="es-ES_tradnl" dirty="0" err="1"/>
              <a:t>Overfiting</a:t>
            </a:r>
            <a:r>
              <a:rPr lang="es-ES_tradnl" dirty="0"/>
              <a:t> (si el árbol es muy grande)</a:t>
            </a:r>
          </a:p>
          <a:p>
            <a:r>
              <a:rPr lang="es-ES_tradnl" dirty="0"/>
              <a:t>Sesgo de </a:t>
            </a:r>
            <a:r>
              <a:rPr lang="es-ES_tradnl" dirty="0">
                <a:solidFill>
                  <a:srgbClr val="002060"/>
                </a:solidFill>
              </a:rPr>
              <a:t>selección de variables </a:t>
            </a:r>
            <a:r>
              <a:rPr lang="es-ES_tradnl" dirty="0"/>
              <a:t>con </a:t>
            </a:r>
            <a:r>
              <a:rPr lang="es-ES_tradnl" dirty="0">
                <a:solidFill>
                  <a:srgbClr val="002060"/>
                </a:solidFill>
              </a:rPr>
              <a:t>muchas particiones posibles </a:t>
            </a:r>
            <a:r>
              <a:rPr lang="es-ES_tradnl" dirty="0"/>
              <a:t>o </a:t>
            </a:r>
            <a:r>
              <a:rPr lang="es-ES_tradnl" dirty="0" err="1"/>
              <a:t>missing</a:t>
            </a:r>
            <a:r>
              <a:rPr lang="es-ES_tradnl" dirty="0"/>
              <a:t> </a:t>
            </a:r>
            <a:r>
              <a:rPr lang="es-ES_tradnl" dirty="0" err="1"/>
              <a:t>values</a:t>
            </a:r>
            <a:endParaRPr lang="es-ES_tradnl" dirty="0"/>
          </a:p>
          <a:p>
            <a:endParaRPr lang="es-ES_tradnl" dirty="0">
              <a:solidFill>
                <a:srgbClr val="00206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C7CDA7-879D-877F-7F62-9337981BA1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9377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3652DA-2018-2EBB-DEE5-0564F5A872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 err="1"/>
              <a:t>Conditional</a:t>
            </a:r>
            <a:r>
              <a:rPr lang="es-ES_tradnl" dirty="0"/>
              <a:t> </a:t>
            </a:r>
            <a:r>
              <a:rPr lang="es-ES_tradnl" dirty="0" err="1"/>
              <a:t>Trees</a:t>
            </a:r>
            <a:r>
              <a:rPr lang="es-ES_tradnl" dirty="0"/>
              <a:t>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Motivación II</a:t>
            </a:r>
            <a:endParaRPr lang="es-ES_tradnl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EF28D0C-755D-5420-3ACB-76E8F86215C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s-ES_tradnl" dirty="0">
                    <a:solidFill>
                      <a:srgbClr val="FF0000"/>
                    </a:solidFill>
                  </a:rPr>
                  <a:t>Problema en arboles</a:t>
                </a:r>
                <a:r>
                  <a:rPr lang="es-ES_tradnl" dirty="0"/>
                  <a:t>: No usa ningún concepto de significancia estadística en ningún paso para evaluar la mejora de </a:t>
                </a:r>
                <a:r>
                  <a:rPr lang="es-ES_tradnl" dirty="0">
                    <a:solidFill>
                      <a:srgbClr val="002060"/>
                    </a:solidFill>
                  </a:rPr>
                  <a:t>performance</a:t>
                </a:r>
                <a:endParaRPr lang="es-ES_tradnl" i="1" dirty="0"/>
              </a:p>
              <a:p>
                <a:pPr>
                  <a:lnSpc>
                    <a:spcPct val="100000"/>
                  </a:lnSpc>
                </a:pPr>
                <a:r>
                  <a:rPr lang="es-ES_tradnl" dirty="0">
                    <a:solidFill>
                      <a:srgbClr val="00B050"/>
                    </a:solidFill>
                  </a:rPr>
                  <a:t>Solución potencial</a:t>
                </a:r>
                <a:r>
                  <a:rPr lang="es-ES_tradnl" dirty="0"/>
                  <a:t>: </a:t>
                </a:r>
              </a:p>
              <a:p>
                <a:pPr lvl="1">
                  <a:lnSpc>
                    <a:spcPct val="100000"/>
                  </a:lnSpc>
                </a:pPr>
                <a:r>
                  <a:rPr lang="es-ES_tradnl" dirty="0"/>
                  <a:t>Incorporar test de permutación al momento de hacer la partición </a:t>
                </a:r>
              </a:p>
              <a:p>
                <a:pPr lvl="1">
                  <a:lnSpc>
                    <a:spcPct val="100000"/>
                  </a:lnSpc>
                </a:pPr>
                <a:r>
                  <a:rPr lang="es-ES_tradnl" dirty="0"/>
                  <a:t>Incorporar la distribución condicional de los estadísticos midiendo la asociación entre </a:t>
                </a:r>
                <a14:m>
                  <m:oMath xmlns:m="http://schemas.openxmlformats.org/officeDocument/2006/math">
                    <m:r>
                      <a:rPr lang="es-ES_tradnl" i="1" dirty="0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s-ES_tradnl" dirty="0"/>
                  <a:t> y </a:t>
                </a:r>
                <a14:m>
                  <m:oMath xmlns:m="http://schemas.openxmlformats.org/officeDocument/2006/math">
                    <m:r>
                      <a:rPr lang="es-ES_tradnl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endParaRPr lang="es-ES_tradnl" dirty="0"/>
              </a:p>
              <a:p>
                <a:pPr lvl="1">
                  <a:lnSpc>
                    <a:spcPct val="100000"/>
                  </a:lnSpc>
                </a:pPr>
                <a:r>
                  <a:rPr lang="es-ES_tradnl" i="1" dirty="0" err="1">
                    <a:solidFill>
                      <a:srgbClr val="002060"/>
                    </a:solidFill>
                  </a:rPr>
                  <a:t>Stopping</a:t>
                </a:r>
                <a:r>
                  <a:rPr lang="es-ES_tradnl" i="1" dirty="0">
                    <a:solidFill>
                      <a:srgbClr val="002060"/>
                    </a:solidFill>
                  </a:rPr>
                  <a:t> rule </a:t>
                </a:r>
                <a:r>
                  <a:rPr lang="es-ES_tradnl" dirty="0">
                    <a:solidFill>
                      <a:srgbClr val="002060"/>
                    </a:solidFill>
                  </a:rPr>
                  <a:t>estadísticos</a:t>
                </a:r>
                <a:r>
                  <a:rPr lang="es-ES_tradnl" dirty="0"/>
                  <a:t>: parar cuando no haya mejora significativa de la asociación entre </a:t>
                </a:r>
                <a14:m>
                  <m:oMath xmlns:m="http://schemas.openxmlformats.org/officeDocument/2006/math">
                    <m:r>
                      <a:rPr lang="es-ES_tradnl" i="1" dirty="0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s-ES_tradnl" dirty="0"/>
                  <a:t> y </a:t>
                </a:r>
                <a14:m>
                  <m:oMath xmlns:m="http://schemas.openxmlformats.org/officeDocument/2006/math">
                    <m:r>
                      <a:rPr lang="es-ES_tradnl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endParaRPr lang="es-ES_tradnl" dirty="0"/>
              </a:p>
              <a:p>
                <a:pPr lvl="1">
                  <a:lnSpc>
                    <a:spcPct val="100000"/>
                  </a:lnSpc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EF28D0C-755D-5420-3ACB-76E8F86215C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327" t="-2907" r="-1568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29C6B8-7BAE-15D8-688D-C3E735436D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61475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A722DC-0B39-52CB-FB60-E4C1A3DCC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Algoritmo de árboles: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Comparación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F7A153-E452-C23F-918D-B6B2DFCC88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anchor="ctr"/>
          <a:lstStyle/>
          <a:p>
            <a:r>
              <a:rPr lang="es-ES_tradnl" dirty="0"/>
              <a:t>CART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CD54E312-3D1F-2C47-6DE1-1F15BC49A530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>
                <a:normAutofit fontScale="55000" lnSpcReduction="20000"/>
              </a:bodyPr>
              <a:lstStyle/>
              <a:p>
                <a:pPr marL="349250" indent="-34925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s-ES_tradnl" dirty="0"/>
                  <a:t>Partir el espacio de predictores</a:t>
                </a:r>
                <a:r>
                  <a:rPr lang="es-ES_tradnl" b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_tradnl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s-ES_tradnl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s-ES_tradnl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s-ES_tradn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s-ES_tradnl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s-ES_tradnl" b="0" i="1" smtClean="0">
                        <a:latin typeface="Cambria Math" panose="02040503050406030204" pitchFamily="18" charset="0"/>
                      </a:rPr>
                      <m:t>, …,</m:t>
                    </m:r>
                    <m:sSub>
                      <m:sSubPr>
                        <m:ctrlPr>
                          <a:rPr lang="es-ES_tradnl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s-ES_tradnl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s-ES_tradnl" dirty="0"/>
                  <a:t> en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𝐽</m:t>
                    </m:r>
                  </m:oMath>
                </a14:m>
                <a:r>
                  <a:rPr lang="es-ES_tradnl" dirty="0"/>
                  <a:t> regiones disyuntas sin </a:t>
                </a:r>
                <a:r>
                  <a:rPr lang="es-ES_tradnl" dirty="0" err="1"/>
                  <a:t>overlap</a:t>
                </a:r>
                <a:r>
                  <a:rPr lang="es-ES_tradnl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_tradn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s-ES_tradnl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s-ES_tradnl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s-ES_tradn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s-ES_tradnl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s-ES_tradnl" i="1">
                        <a:latin typeface="Cambria Math" panose="02040503050406030204" pitchFamily="18" charset="0"/>
                      </a:rPr>
                      <m:t>, …,</m:t>
                    </m:r>
                    <m:sSub>
                      <m:sSubPr>
                        <m:ctrlPr>
                          <a:rPr lang="es-ES_tradn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𝐽</m:t>
                        </m:r>
                      </m:sub>
                    </m:sSub>
                  </m:oMath>
                </a14:m>
                <a:r>
                  <a:rPr lang="es-ES_tradnl" dirty="0"/>
                  <a:t> </a:t>
                </a:r>
              </a:p>
              <a:p>
                <a:pPr marL="349250" indent="-34925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s-ES_tradnl" dirty="0"/>
                  <a:t>Dentro de cada partición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_tradn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s-ES_tradnl" dirty="0"/>
                  <a:t>, usamos el promedio como predicción de la respuesta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s-ES_tradnl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s-ES_tradnl" dirty="0"/>
                  <a:t> </a:t>
                </a:r>
              </a:p>
              <a:p>
                <a:pPr>
                  <a:lnSpc>
                    <a:spcPct val="120000"/>
                  </a:lnSpc>
                </a:pPr>
                <a:r>
                  <a:rPr lang="es-ES_tradnl" dirty="0"/>
                  <a:t>En el 1er paso, minimizamos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US" sz="29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29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900" b="0" i="1" smtClean="0">
                              <a:latin typeface="Cambria Math" panose="02040503050406030204" pitchFamily="18" charset="0"/>
                            </a:rPr>
                            <m:t>:</m:t>
                          </m:r>
                          <m:sSub>
                            <m:sSubPr>
                              <m:ctrlPr>
                                <a:rPr lang="en-US" sz="29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7"/>
                                </m:rPr>
                                <a:rPr lang="en-US" sz="29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m:rPr>
                                  <m:brk m:alnAt="7"/>
                                </m:rPr>
                                <a:rPr lang="en-US" sz="29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9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sSub>
                            <m:sSubPr>
                              <m:ctrlPr>
                                <a:rPr lang="en-US" sz="29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7"/>
                                </m:rPr>
                                <a:rPr lang="en-US" sz="29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𝑹</m:t>
                              </m:r>
                            </m:e>
                            <m:sub>
                              <m:r>
                                <a:rPr lang="en-US" sz="29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9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9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29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9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sub>
                        <m:sup/>
                        <m:e>
                          <m:sSup>
                            <m:sSupPr>
                              <m:ctrlPr>
                                <a:rPr lang="en-US" sz="29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9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9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900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sz="29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29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29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sz="29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2900" b="0" i="1" smtClean="0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</m:acc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sz="2900" b="1" i="1" smtClean="0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900" b="1" i="1" smtClean="0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𝑹</m:t>
                                          </m:r>
                                        </m:e>
                                        <m:sub>
                                          <m:r>
                                            <a:rPr lang="en-US" sz="2900" b="1" i="1" smtClean="0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𝟏</m:t>
                                          </m:r>
                                        </m:sub>
                                      </m:sSub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sz="29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9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  <m:r>
                        <a:rPr lang="en-US" sz="2900" b="0" i="1" smtClean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9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29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900" i="1">
                              <a:latin typeface="Cambria Math" panose="02040503050406030204" pitchFamily="18" charset="0"/>
                            </a:rPr>
                            <m:t>:</m:t>
                          </m:r>
                          <m:sSub>
                            <m:sSubPr>
                              <m:ctrlPr>
                                <a:rPr lang="en-US" sz="29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7"/>
                                </m:rPr>
                                <a:rPr lang="en-US" sz="29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m:rPr>
                                  <m:brk m:alnAt="7"/>
                                </m:rPr>
                                <a:rPr lang="en-US" sz="29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9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sSub>
                            <m:sSubPr>
                              <m:ctrlPr>
                                <a:rPr lang="en-US" sz="29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7"/>
                                </m:rPr>
                                <a:rPr lang="en-US" sz="29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𝑹</m:t>
                              </m:r>
                            </m:e>
                            <m:sub>
                              <m:r>
                                <a:rPr lang="en-US" sz="29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9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9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29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9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sub>
                        <m:sup/>
                        <m:e>
                          <m:sSup>
                            <m:sSupPr>
                              <m:ctrlPr>
                                <a:rPr lang="en-US" sz="29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9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9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9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sz="29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29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29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sz="29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2900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</m:acc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sz="2900" b="1" i="1" smtClean="0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900" b="1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𝑹</m:t>
                                          </m:r>
                                        </m:e>
                                        <m:sub>
                                          <m:r>
                                            <a:rPr lang="en-US" sz="2900" b="1" i="1" smtClean="0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𝟐</m:t>
                                          </m:r>
                                        </m:sub>
                                      </m:sSub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sz="29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900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</m:oMath>
                  </m:oMathPara>
                </a14:m>
                <a:endParaRPr lang="es-ES_tradnl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s-ES_tradnl" dirty="0"/>
                  <a:t>Con </a:t>
                </a:r>
                <a14:m>
                  <m:oMath xmlns:m="http://schemas.openxmlformats.org/officeDocument/2006/math">
                    <m:r>
                      <a:rPr lang="en-US" sz="3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s-ES_tradnl" dirty="0"/>
                  <a:t> umbral de partición</a:t>
                </a:r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CD54E312-3D1F-2C47-6DE1-1F15BC49A53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3"/>
                <a:stretch>
                  <a:fillRect l="-1229" t="-1375" b="-2062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059BE6C-7D73-6F1D-41A8-678B63E3AE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 anchor="ctr"/>
          <a:lstStyle/>
          <a:p>
            <a:r>
              <a:rPr lang="en-US"/>
              <a:t>Conditional Tree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9F57130E-1DF4-5EB5-27E9-6C5987F48BF7}"/>
                  </a:ext>
                </a:extLst>
              </p:cNvPr>
              <p:cNvSpPr>
                <a:spLocks noGrp="1"/>
              </p:cNvSpPr>
              <p:nvPr>
                <p:ph sz="quarter" idx="4"/>
              </p:nvPr>
            </p:nvSpPr>
            <p:spPr/>
            <p:txBody>
              <a:bodyPr>
                <a:normAutofit fontScale="55000" lnSpcReduction="20000"/>
              </a:bodyPr>
              <a:lstStyle/>
              <a:p>
                <a:pPr marL="301625" indent="-301625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s-ES_tradnl" dirty="0"/>
                  <a:t>Testear la hipótesis nula </a:t>
                </a:r>
                <a:r>
                  <a:rPr lang="es-ES_tradnl" dirty="0">
                    <a:solidFill>
                      <a:srgbClr val="002060"/>
                    </a:solidFill>
                  </a:rPr>
                  <a:t>global</a:t>
                </a:r>
                <a:r>
                  <a:rPr lang="es-ES_tradnl" i="1" dirty="0"/>
                  <a:t> </a:t>
                </a:r>
                <a:r>
                  <a:rPr lang="es-ES_tradnl" dirty="0"/>
                  <a:t>de independencia entre </a:t>
                </a:r>
                <a14:m>
                  <m:oMath xmlns:m="http://schemas.openxmlformats.org/officeDocument/2006/math">
                    <m:r>
                      <a:rPr lang="es-ES_tradnl" i="1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s-ES_tradnl" dirty="0"/>
                  <a:t> y cualquier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_tradnl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s-ES_tradnl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s-ES_tradnl" dirty="0"/>
                  <a:t>   Parar si no se puede rechazar H0. Caso contrario, elegir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s-ES_tradnl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s-ES_tradnl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s-ES_tradnl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s-ES_tradnl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es-ES_tradnl" dirty="0"/>
                  <a:t> con la relación más fuerte con </a:t>
                </a:r>
                <a14:m>
                  <m:oMath xmlns:m="http://schemas.openxmlformats.org/officeDocument/2006/math">
                    <m:r>
                      <a:rPr lang="es-ES_tradnl" i="1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endParaRPr lang="es-ES_tradnl" dirty="0"/>
              </a:p>
              <a:p>
                <a:pPr marL="301625" indent="-301625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s-ES_tradnl" dirty="0"/>
                  <a:t>Elegir el umbral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ES_tradnl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_tradnl" sz="3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s-ES_tradnl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s-ES_tradnl" dirty="0"/>
                  <a:t>para la partición.</a:t>
                </a:r>
              </a:p>
              <a:p>
                <a:pPr marL="301625" indent="-301625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s-ES_tradnl" dirty="0"/>
                  <a:t>Repetir 1 y 2 recursivamente redefiniendo las </a:t>
                </a:r>
                <a:r>
                  <a:rPr lang="es-ES_tradnl" dirty="0">
                    <a:solidFill>
                      <a:srgbClr val="002060"/>
                    </a:solidFill>
                  </a:rPr>
                  <a:t>ponderaciones</a:t>
                </a:r>
                <a:r>
                  <a:rPr lang="es-ES_tradnl" dirty="0"/>
                  <a:t> para las observaciones.✦</a:t>
                </a:r>
              </a:p>
              <a:p>
                <a:pPr marL="514350" indent="-514350">
                  <a:lnSpc>
                    <a:spcPct val="120000"/>
                  </a:lnSpc>
                  <a:buFont typeface="+mj-lt"/>
                  <a:buAutoNum type="arabicPeriod"/>
                </a:pPr>
                <a:endParaRPr lang="es-ES_tradnl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s-ES_tradnl" dirty="0"/>
                  <a:t> </a:t>
                </a:r>
              </a:p>
            </p:txBody>
          </p:sp>
        </mc:Choice>
        <mc:Fallback xmlns="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9F57130E-1DF4-5EB5-27E9-6C5987F48BF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4"/>
              </p:nvPr>
            </p:nvSpPr>
            <p:spPr>
              <a:blipFill>
                <a:blip r:embed="rId4"/>
                <a:stretch>
                  <a:fillRect l="-1222" t="-1375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029647-F8FF-DA1A-DADE-7DF1D59AB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9985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893125-5CA0-A535-B2C4-091880115B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 err="1"/>
              <a:t>Conditional</a:t>
            </a:r>
            <a:r>
              <a:rPr lang="es-ES_tradnl" dirty="0"/>
              <a:t> </a:t>
            </a:r>
            <a:r>
              <a:rPr lang="es-ES_tradnl" dirty="0" err="1"/>
              <a:t>Tree</a:t>
            </a:r>
            <a:r>
              <a:rPr lang="es-ES_tradnl" dirty="0"/>
              <a:t>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Consideraciones del Algoritmo 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432D641-04BE-2CB7-7663-DBDE0C4ECFF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lnSpc>
                    <a:spcPct val="110000"/>
                  </a:lnSpc>
                </a:pPr>
                <a:r>
                  <a:rPr lang="es-ES_tradnl" dirty="0"/>
                  <a:t>Esta partición usando un test de hipótesis resuelve el problema de </a:t>
                </a:r>
                <a:r>
                  <a:rPr lang="es-ES_tradnl" dirty="0">
                    <a:solidFill>
                      <a:srgbClr val="002060"/>
                    </a:solidFill>
                  </a:rPr>
                  <a:t>sesgo</a:t>
                </a:r>
                <a:r>
                  <a:rPr lang="es-ES_tradnl" dirty="0"/>
                  <a:t> de selección de </a:t>
                </a:r>
                <a:r>
                  <a:rPr lang="es-ES_tradnl" dirty="0">
                    <a:solidFill>
                      <a:srgbClr val="002060"/>
                    </a:solidFill>
                  </a:rPr>
                  <a:t>variables</a:t>
                </a:r>
                <a:endParaRPr lang="es-ES_tradnl" dirty="0"/>
              </a:p>
              <a:p>
                <a:pPr>
                  <a:lnSpc>
                    <a:spcPct val="11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Intuición del </a:t>
                </a:r>
                <a:r>
                  <a:rPr lang="es-ES_tradnl" i="1" dirty="0" err="1">
                    <a:solidFill>
                      <a:srgbClr val="002060"/>
                    </a:solidFill>
                  </a:rPr>
                  <a:t>Stoping</a:t>
                </a:r>
                <a:r>
                  <a:rPr lang="es-ES_tradnl" i="1" dirty="0">
                    <a:solidFill>
                      <a:srgbClr val="002060"/>
                    </a:solidFill>
                  </a:rPr>
                  <a:t> rule </a:t>
                </a:r>
                <a:r>
                  <a:rPr lang="es-ES_tradnl" dirty="0">
                    <a:solidFill>
                      <a:srgbClr val="002060"/>
                    </a:solidFill>
                  </a:rPr>
                  <a:t>y variable de selección</a:t>
                </a:r>
                <a:r>
                  <a:rPr lang="es-ES_tradnl" dirty="0"/>
                  <a:t>: </a:t>
                </a:r>
              </a:p>
              <a:p>
                <a:pPr lvl="1">
                  <a:lnSpc>
                    <a:spcPct val="110000"/>
                  </a:lnSpc>
                </a:pPr>
                <a:r>
                  <a:rPr lang="es-ES_tradnl" dirty="0"/>
                  <a:t>Depende del nivel de significancia estadística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s-ES_tradnl" dirty="0"/>
                  <a:t> para el test de la hipótesis nula global</a:t>
                </a:r>
              </a:p>
              <a:p>
                <a:pPr lvl="1">
                  <a:lnSpc>
                    <a:spcPct val="110000"/>
                  </a:lnSpc>
                </a:pPr>
                <a:r>
                  <a:rPr lang="es-ES_tradnl" dirty="0"/>
                  <a:t>Tiene en cuenta la relación entre </a:t>
                </a:r>
                <a14:m>
                  <m:oMath xmlns:m="http://schemas.openxmlformats.org/officeDocument/2006/math">
                    <m:r>
                      <a:rPr lang="es-ES_tradnl" i="1" dirty="0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s-ES_tradnl" dirty="0"/>
                  <a:t> y </a:t>
                </a:r>
                <a14:m>
                  <m:oMath xmlns:m="http://schemas.openxmlformats.org/officeDocument/2006/math">
                    <m:r>
                      <a:rPr lang="es-ES_tradnl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endParaRPr lang="es-ES_tradnl" dirty="0"/>
              </a:p>
              <a:p>
                <a:pPr marL="457200" lvl="1" indent="0">
                  <a:lnSpc>
                    <a:spcPct val="110000"/>
                  </a:lnSpc>
                  <a:buNone/>
                </a:pPr>
                <a:endParaRPr lang="es-ES_tradnl" dirty="0"/>
              </a:p>
              <a:p>
                <a:pPr>
                  <a:lnSpc>
                    <a:spcPct val="110000"/>
                  </a:lnSpc>
                </a:pPr>
                <a:endParaRPr lang="es-ES_tradnl" dirty="0"/>
              </a:p>
              <a:p>
                <a:pPr marL="0" indent="0" algn="ctr">
                  <a:lnSpc>
                    <a:spcPct val="110000"/>
                  </a:lnSpc>
                  <a:buNone/>
                </a:pPr>
                <a:endParaRPr lang="es-ES_tradnl" dirty="0"/>
              </a:p>
              <a:p>
                <a:pPr marL="0" indent="0">
                  <a:lnSpc>
                    <a:spcPct val="110000"/>
                  </a:lnSpc>
                  <a:buNone/>
                </a:pPr>
                <a:endParaRPr lang="es-ES_tradnl" dirty="0"/>
              </a:p>
              <a:p>
                <a:pPr marL="0" indent="0">
                  <a:lnSpc>
                    <a:spcPct val="110000"/>
                  </a:lnSpc>
                  <a:buNone/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432D641-04BE-2CB7-7663-DBDE0C4ECFF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27" t="-1163" r="-724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6D0718-59E4-1A3E-30F8-4A36F0B137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85414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1141C-591E-A159-D529-99EF9CFF5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 err="1"/>
              <a:t>Conditional</a:t>
            </a:r>
            <a:r>
              <a:rPr lang="es-ES_tradnl" dirty="0"/>
              <a:t> </a:t>
            </a:r>
            <a:r>
              <a:rPr lang="es-ES_tradnl" dirty="0" err="1"/>
              <a:t>Tree</a:t>
            </a:r>
            <a:r>
              <a:rPr lang="es-ES_tradnl" dirty="0"/>
              <a:t>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Ilustración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8FB40F85-6541-9617-4310-D0424367CFF3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pPr>
                  <a:lnSpc>
                    <a:spcPct val="110000"/>
                  </a:lnSpc>
                </a:pPr>
                <a:r>
                  <a:rPr lang="es-ES_tradnl" dirty="0"/>
                  <a:t>Ejemplo: Datos de experiencia de mamografías</a:t>
                </a:r>
              </a:p>
              <a:p>
                <a:pPr>
                  <a:lnSpc>
                    <a:spcPct val="110000"/>
                  </a:lnSpc>
                </a:pP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={</m:t>
                    </m:r>
                    <m:r>
                      <m:rPr>
                        <m:sty m:val="p"/>
                      </m:rPr>
                      <a:rPr lang="en-US" sz="2800" b="0" i="0" smtClean="0">
                        <a:latin typeface="Cambria Math" panose="02040503050406030204" pitchFamily="18" charset="0"/>
                      </a:rPr>
                      <m:t>ninguna</m:t>
                    </m:r>
                    <m:r>
                      <a:rPr lang="en-US" sz="2800" b="0" i="0" smtClean="0">
                        <a:latin typeface="Cambria Math" panose="02040503050406030204" pitchFamily="18" charset="0"/>
                      </a:rPr>
                      <m:t>,  </m:t>
                    </m:r>
                    <m:r>
                      <m:rPr>
                        <m:sty m:val="p"/>
                      </m:rPr>
                      <a:rPr lang="en-US" sz="2800" b="0" i="0" smtClean="0">
                        <a:latin typeface="Cambria Math" panose="02040503050406030204" pitchFamily="18" charset="0"/>
                      </a:rPr>
                      <m:t>dentro</m:t>
                    </m:r>
                    <m:r>
                      <a:rPr lang="en-US" sz="28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800" b="0" i="0" smtClean="0">
                        <a:latin typeface="Cambria Math" panose="02040503050406030204" pitchFamily="18" charset="0"/>
                      </a:rPr>
                      <m:t>de</m:t>
                    </m:r>
                    <m:r>
                      <a:rPr lang="en-US" sz="2800" b="0" i="0" smtClean="0">
                        <a:latin typeface="Cambria Math" panose="02040503050406030204" pitchFamily="18" charset="0"/>
                      </a:rPr>
                      <m:t> 1 </m:t>
                    </m:r>
                    <m:r>
                      <m:rPr>
                        <m:sty m:val="p"/>
                      </m:rPr>
                      <a:rPr lang="en-US" sz="2800" b="0" i="0" smtClean="0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sz="2800" b="0" i="0" smtClean="0">
                        <a:latin typeface="Cambria Math" panose="02040503050406030204" pitchFamily="18" charset="0"/>
                      </a:rPr>
                      <m:t>ñ</m:t>
                    </m:r>
                    <m:r>
                      <m:rPr>
                        <m:sty m:val="p"/>
                      </m:rPr>
                      <a:rPr lang="en-US" sz="2800" b="0" i="0" smtClean="0">
                        <a:latin typeface="Cambria Math" panose="02040503050406030204" pitchFamily="18" charset="0"/>
                      </a:rPr>
                      <m:t>o</m:t>
                    </m:r>
                    <m:r>
                      <a:rPr lang="en-US" sz="2800" b="0" i="0" smtClean="0">
                        <a:latin typeface="Cambria Math" panose="02040503050406030204" pitchFamily="18" charset="0"/>
                      </a:rPr>
                      <m:t>,  </m:t>
                    </m:r>
                    <m:r>
                      <m:rPr>
                        <m:sty m:val="p"/>
                      </m:rPr>
                      <a:rPr lang="en-US" sz="2800" b="0" i="0" smtClean="0">
                        <a:latin typeface="Cambria Math" panose="02040503050406030204" pitchFamily="18" charset="0"/>
                      </a:rPr>
                      <m:t>mas</m:t>
                    </m:r>
                    <m:r>
                      <a:rPr lang="en-US" sz="28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800" b="0" i="0" smtClean="0">
                        <a:latin typeface="Cambria Math" panose="02040503050406030204" pitchFamily="18" charset="0"/>
                      </a:rPr>
                      <m:t>de</m:t>
                    </m:r>
                    <m:r>
                      <a:rPr lang="en-US" sz="28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800" b="0" i="0" smtClean="0">
                        <a:latin typeface="Cambria Math" panose="02040503050406030204" pitchFamily="18" charset="0"/>
                      </a:rPr>
                      <m:t>un</m:t>
                    </m:r>
                    <m:r>
                      <a:rPr lang="en-US" sz="28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800" b="0" i="0" smtClean="0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sz="2800" b="0" i="0" smtClean="0">
                        <a:latin typeface="Cambria Math" panose="02040503050406030204" pitchFamily="18" charset="0"/>
                      </a:rPr>
                      <m:t>ñ</m:t>
                    </m:r>
                    <m:r>
                      <m:rPr>
                        <m:sty m:val="p"/>
                      </m:rPr>
                      <a:rPr lang="en-US" sz="2800" b="0" i="0" smtClean="0">
                        <a:latin typeface="Cambria Math" panose="02040503050406030204" pitchFamily="18" charset="0"/>
                      </a:rPr>
                      <m:t>o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s-ES_tradnl" sz="2800" dirty="0"/>
              </a:p>
              <a:p>
                <a:pPr>
                  <a:lnSpc>
                    <a:spcPct val="11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s-ES_tradnl" dirty="0"/>
                  <a:t>: {Muy de acuerdo, de acuerdo, o en desacuerdo}</a:t>
                </a:r>
              </a:p>
              <a:p>
                <a:pPr lvl="1">
                  <a:lnSpc>
                    <a:spcPct val="110000"/>
                  </a:lnSpc>
                </a:pPr>
                <a:r>
                  <a:rPr lang="es-ES_tradnl" dirty="0"/>
                  <a:t>“</a:t>
                </a:r>
                <a:r>
                  <a:rPr lang="es-ES_tradnl" i="1" dirty="0"/>
                  <a:t>No se necesita una mamografía al menos que haya síntomas</a:t>
                </a:r>
                <a:r>
                  <a:rPr lang="es-ES_tradnl" dirty="0"/>
                  <a:t>”</a:t>
                </a:r>
              </a:p>
              <a:p>
                <a:pPr>
                  <a:lnSpc>
                    <a:spcPct val="11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s-ES_tradnl" dirty="0"/>
                  <a:t>: Valoración 1-10 de los beneficios de la examinación</a:t>
                </a:r>
              </a:p>
              <a:p>
                <a:pPr>
                  <a:lnSpc>
                    <a:spcPct val="110000"/>
                  </a:lnSpc>
                </a:pPr>
                <a:endParaRPr lang="es-ES_tradnl" dirty="0"/>
              </a:p>
              <a:p>
                <a:pPr>
                  <a:lnSpc>
                    <a:spcPct val="110000"/>
                  </a:lnSpc>
                </a:pPr>
                <a:endParaRPr lang="es-ES_tradnl" dirty="0"/>
              </a:p>
            </p:txBody>
          </p:sp>
        </mc:Choice>
        <mc:Fallback xmlns="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8FB40F85-6541-9617-4310-D0424367CFF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3"/>
                <a:stretch>
                  <a:fillRect l="-1956" t="-2035" r="-3667" b="-291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Content Placeholder 11" descr="A diagram of a number of numbers&#10;&#10;Description automatically generated with medium confidence">
            <a:extLst>
              <a:ext uri="{FF2B5EF4-FFF2-40B4-BE49-F238E27FC236}">
                <a16:creationId xmlns:a16="http://schemas.microsoft.com/office/drawing/2014/main" id="{A1B4D042-E211-B7D4-ACF3-756CAFB1900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/>
          <a:stretch>
            <a:fillRect/>
          </a:stretch>
        </p:blipFill>
        <p:spPr>
          <a:xfrm>
            <a:off x="6096000" y="1825625"/>
            <a:ext cx="5966838" cy="3845295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96E946-834D-24BC-6185-9E29216CE7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6469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42471-9418-E3E3-C7E5-30087178FA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014154"/>
            <a:ext cx="6084339" cy="3548322"/>
          </a:xfrm>
        </p:spPr>
        <p:txBody>
          <a:bodyPr>
            <a:normAutofit/>
          </a:bodyPr>
          <a:lstStyle/>
          <a:p>
            <a:r>
              <a:rPr lang="es-ES_tradnl" sz="4800" dirty="0" err="1"/>
              <a:t>Athey</a:t>
            </a:r>
            <a:r>
              <a:rPr lang="es-ES_tradnl" sz="4800" dirty="0"/>
              <a:t> y Compañía: </a:t>
            </a:r>
            <a:r>
              <a:rPr lang="es-ES_tradnl" sz="4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2 trabajos de Random Forest y Economía Aplicada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780597-6948-B78E-E6E3-6E4F9F1321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References:</a:t>
            </a:r>
          </a:p>
          <a:p>
            <a:r>
              <a:rPr lang="en-US" sz="2400" b="1" cap="small" dirty="0">
                <a:solidFill>
                  <a:srgbClr val="002060"/>
                </a:solidFill>
                <a:effectLst/>
                <a:latin typeface="Times" pitchFamily="2" charset="0"/>
                <a:ea typeface="Times" pitchFamily="2" charset="0"/>
                <a:cs typeface="Times" pitchFamily="2" charset="0"/>
              </a:rPr>
              <a:t>* </a:t>
            </a:r>
            <a:r>
              <a:rPr lang="en-US" dirty="0"/>
              <a:t>Wager, S. and </a:t>
            </a:r>
            <a:r>
              <a:rPr lang="en-US" dirty="0" err="1"/>
              <a:t>Athey</a:t>
            </a:r>
            <a:r>
              <a:rPr lang="en-US" dirty="0"/>
              <a:t>, S., 2018. Estimation and Inference of Heterogeneous Treatment Effects Using Random Forests. </a:t>
            </a:r>
            <a:r>
              <a:rPr lang="en-US" i="1" dirty="0"/>
              <a:t>Journal of the American Statistical Association</a:t>
            </a:r>
            <a:r>
              <a:rPr lang="en-US" dirty="0"/>
              <a:t>, 113(523), pp.1228- 1242.</a:t>
            </a:r>
          </a:p>
          <a:p>
            <a:r>
              <a:rPr lang="en-US" dirty="0" err="1"/>
              <a:t>Athey</a:t>
            </a:r>
            <a:r>
              <a:rPr lang="en-US" dirty="0"/>
              <a:t>, S., Tibshirani, J., &amp; Wager, S. (2019). Generalized random forests. </a:t>
            </a:r>
            <a:r>
              <a:rPr lang="en-US" i="1" dirty="0"/>
              <a:t>Annals of Statistics</a:t>
            </a:r>
            <a:r>
              <a:rPr lang="en-US" dirty="0"/>
              <a:t>, 47(2), 1179–1203. https://</a:t>
            </a:r>
            <a:r>
              <a:rPr lang="en-US" dirty="0" err="1"/>
              <a:t>doi.org</a:t>
            </a:r>
            <a:r>
              <a:rPr lang="en-US" dirty="0"/>
              <a:t>/10.1214/18-AOS1709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8F5EC8-9CA8-BFFB-D2D0-21A543531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22</a:t>
            </a:fld>
            <a:endParaRPr lang="en-US"/>
          </a:p>
        </p:txBody>
      </p:sp>
      <p:pic>
        <p:nvPicPr>
          <p:cNvPr id="6" name="Picture 5" descr="A person sitting in a chair&#10;&#10;Description automatically generated">
            <a:extLst>
              <a:ext uri="{FF2B5EF4-FFF2-40B4-BE49-F238E27FC236}">
                <a16:creationId xmlns:a16="http://schemas.microsoft.com/office/drawing/2014/main" id="{E22EC4D5-8708-535F-121F-1F852BBC02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7931" y="887953"/>
            <a:ext cx="3716598" cy="3674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20578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0475D4-3D79-DB3D-5B34-58B5E51CED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 err="1"/>
              <a:t>Wager</a:t>
            </a:r>
            <a:r>
              <a:rPr lang="es-ES_tradnl" dirty="0"/>
              <a:t> &amp; </a:t>
            </a:r>
            <a:r>
              <a:rPr lang="es-ES_tradnl" dirty="0" err="1"/>
              <a:t>Athey</a:t>
            </a:r>
            <a:r>
              <a:rPr lang="es-ES_tradnl" dirty="0"/>
              <a:t> (2018): </a:t>
            </a:r>
            <a:r>
              <a:rPr lang="es-ES_tradnl" sz="4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Contribución  principal</a:t>
            </a:r>
            <a:endParaRPr lang="es-ES_tradnl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438C6E-AA46-6474-A4A4-3B199B71DC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lnSpc>
                <a:spcPct val="110000"/>
              </a:lnSpc>
            </a:pPr>
            <a:r>
              <a:rPr lang="es-ES_tradnl" dirty="0"/>
              <a:t>Desarrollan </a:t>
            </a:r>
            <a:r>
              <a:rPr lang="es-ES_tradnl" dirty="0">
                <a:solidFill>
                  <a:srgbClr val="002060"/>
                </a:solidFill>
              </a:rPr>
              <a:t>causal </a:t>
            </a:r>
            <a:r>
              <a:rPr lang="es-ES_tradnl" dirty="0" err="1">
                <a:solidFill>
                  <a:srgbClr val="002060"/>
                </a:solidFill>
              </a:rPr>
              <a:t>forest</a:t>
            </a:r>
            <a:r>
              <a:rPr lang="es-ES_tradnl" dirty="0">
                <a:solidFill>
                  <a:srgbClr val="002060"/>
                </a:solidFill>
              </a:rPr>
              <a:t> no paramétrico </a:t>
            </a:r>
            <a:r>
              <a:rPr lang="es-ES_tradnl" dirty="0"/>
              <a:t>para</a:t>
            </a:r>
            <a:r>
              <a:rPr lang="es-ES_tradnl" i="1" dirty="0"/>
              <a:t> </a:t>
            </a:r>
            <a:r>
              <a:rPr lang="es-ES_tradnl" dirty="0"/>
              <a:t>la estimación de los efectos heterogéneos de tratamiento</a:t>
            </a:r>
          </a:p>
          <a:p>
            <a:pPr>
              <a:lnSpc>
                <a:spcPct val="110000"/>
              </a:lnSpc>
            </a:pPr>
            <a:r>
              <a:rPr lang="es-ES_tradnl" dirty="0"/>
              <a:t>Muestran que </a:t>
            </a:r>
            <a:r>
              <a:rPr lang="es-ES_tradnl" dirty="0">
                <a:solidFill>
                  <a:srgbClr val="002060"/>
                </a:solidFill>
              </a:rPr>
              <a:t>causal</a:t>
            </a:r>
            <a:r>
              <a:rPr lang="es-ES_tradnl" i="1" dirty="0"/>
              <a:t> </a:t>
            </a:r>
            <a:r>
              <a:rPr lang="es-ES_tradnl" dirty="0" err="1">
                <a:solidFill>
                  <a:srgbClr val="002060"/>
                </a:solidFill>
              </a:rPr>
              <a:t>forest</a:t>
            </a:r>
            <a:r>
              <a:rPr lang="es-ES_tradnl" i="1" dirty="0"/>
              <a:t>:</a:t>
            </a:r>
          </a:p>
          <a:p>
            <a:pPr lvl="1">
              <a:lnSpc>
                <a:spcPct val="110000"/>
              </a:lnSpc>
            </a:pPr>
            <a:r>
              <a:rPr lang="es-ES_tradnl" dirty="0"/>
              <a:t>Es un estimador consistente del ATE</a:t>
            </a:r>
          </a:p>
          <a:p>
            <a:pPr lvl="1">
              <a:lnSpc>
                <a:spcPct val="110000"/>
              </a:lnSpc>
            </a:pPr>
            <a:r>
              <a:rPr lang="es-ES_tradnl" dirty="0"/>
              <a:t>Tiene distribución normal asintótica</a:t>
            </a:r>
          </a:p>
          <a:p>
            <a:pPr lvl="1">
              <a:lnSpc>
                <a:spcPct val="110000"/>
              </a:lnSpc>
            </a:pPr>
            <a:r>
              <a:rPr lang="es-ES_tradnl" dirty="0"/>
              <a:t>Tiene distribución de muestra centrada</a:t>
            </a:r>
          </a:p>
          <a:p>
            <a:pPr>
              <a:lnSpc>
                <a:spcPct val="110000"/>
              </a:lnSpc>
            </a:pPr>
            <a:r>
              <a:rPr lang="es-ES_tradnl" dirty="0"/>
              <a:t>Discuten como construir los intervalos de confianza para los efectos parciales</a:t>
            </a:r>
          </a:p>
          <a:p>
            <a:pPr>
              <a:lnSpc>
                <a:spcPct val="110000"/>
              </a:lnSpc>
            </a:pPr>
            <a:r>
              <a:rPr lang="es-ES_tradnl" dirty="0"/>
              <a:t>Aplicación empírica: método “más poderoso” que </a:t>
            </a:r>
            <a:r>
              <a:rPr lang="es-ES_tradnl" dirty="0" err="1">
                <a:solidFill>
                  <a:srgbClr val="002060"/>
                </a:solidFill>
              </a:rPr>
              <a:t>matching</a:t>
            </a:r>
            <a:r>
              <a:rPr lang="es-ES_tradnl" dirty="0"/>
              <a:t> con vecinos cercanos</a:t>
            </a:r>
          </a:p>
          <a:p>
            <a:pPr>
              <a:lnSpc>
                <a:spcPct val="110000"/>
              </a:lnSpc>
            </a:pPr>
            <a:endParaRPr lang="es-ES_trad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99E64A-2EEF-DDD5-C8D4-D207CA3FC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708473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24DE20-D5DB-D72E-BD55-4A13C2ECD1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Causal Random Forest: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Objetivo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D2E92B4-14B7-914E-4155-2C975546A71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s-ES_tradnl" dirty="0"/>
                  <a:t>Estimar la función del </a:t>
                </a:r>
                <a:r>
                  <a:rPr lang="es-ES_tradnl" dirty="0">
                    <a:solidFill>
                      <a:srgbClr val="002060"/>
                    </a:solidFill>
                  </a:rPr>
                  <a:t>efecto del tratamiento promedio </a:t>
                </a:r>
                <a:r>
                  <a:rPr lang="es-ES_tradnl" dirty="0"/>
                  <a:t>(ATE):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𝜏</m:t>
                      </m:r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sSubSup>
                            <m:sSubSup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</m:sup>
                          </m:sSubSup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d>
                            </m:sup>
                          </m:sSubSup>
                        </m: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</m:oMath>
                  </m:oMathPara>
                </a14:m>
                <a:endParaRPr lang="es-ES_tradnl" dirty="0"/>
              </a:p>
              <a:p>
                <a:pPr lvl="1">
                  <a:lnSpc>
                    <a:spcPct val="120000"/>
                  </a:lnSpc>
                </a:pPr>
                <a:r>
                  <a:rPr lang="es-ES_tradnl" dirty="0"/>
                  <a:t>Tratamiento: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1,0</m:t>
                        </m:r>
                      </m:e>
                    </m:d>
                  </m:oMath>
                </a14:m>
                <a:endParaRPr lang="es-ES_tradnl" dirty="0"/>
              </a:p>
              <a:p>
                <a:pPr>
                  <a:lnSpc>
                    <a:spcPct val="12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Supuesto</a:t>
                </a:r>
                <a:r>
                  <a:rPr lang="es-ES_tradnl" dirty="0"/>
                  <a:t>: independencia de </a:t>
                </a:r>
                <a:r>
                  <a:rPr lang="es-ES_tradnl" dirty="0" err="1"/>
                  <a:t>outcome</a:t>
                </a:r>
                <a:r>
                  <a:rPr lang="es-ES_tradnl" dirty="0"/>
                  <a:t> potenciales al tratamiento condicional en características observables: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⊥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ES_tradnl" dirty="0"/>
                  <a:t> 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Practica</a:t>
                </a:r>
                <a:r>
                  <a:rPr lang="es-ES_tradnl" dirty="0"/>
                  <a:t>: </a:t>
                </a:r>
                <a:r>
                  <a:rPr lang="es-ES_tradnl" dirty="0" err="1"/>
                  <a:t>matching</a:t>
                </a:r>
                <a:r>
                  <a:rPr lang="es-ES_tradnl" dirty="0"/>
                  <a:t> por vecinos cercanos -&gt; estimador consistente de ATE</a:t>
                </a:r>
              </a:p>
              <a:p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D2E92B4-14B7-914E-4155-2C975546A71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91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467192-D894-4638-5A10-947B0BAA0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14897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0475D4-3D79-DB3D-5B34-58B5E51CED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Causal Random Forest: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Definición de Causal </a:t>
            </a:r>
            <a:r>
              <a:rPr lang="es-ES_tradnl" i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Tree</a:t>
            </a:r>
            <a:endParaRPr lang="es-ES_tradnl" i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F438C6E-AA46-6474-A4A4-3B199B71DC8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Idea</a:t>
                </a:r>
                <a:r>
                  <a:rPr lang="es-ES_tradnl" dirty="0"/>
                  <a:t>: Para regresión, en lugar de estimar en los nodos terminales 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s-ES_tradnl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=1/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sub>
                        <m:sup/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s-ES_tradnl" dirty="0"/>
              </a:p>
              <a:p>
                <a:pPr>
                  <a:lnSpc>
                    <a:spcPct val="12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Causal </a:t>
                </a:r>
                <a:r>
                  <a:rPr lang="es-ES_tradnl" dirty="0" err="1">
                    <a:solidFill>
                      <a:srgbClr val="002060"/>
                    </a:solidFill>
                  </a:rPr>
                  <a:t>tree</a:t>
                </a:r>
                <a:r>
                  <a:rPr lang="es-ES_tradnl" dirty="0">
                    <a:solidFill>
                      <a:srgbClr val="002060"/>
                    </a:solidFill>
                  </a:rPr>
                  <a:t> estima</a:t>
                </a:r>
                <a:r>
                  <a:rPr lang="es-ES_tradnl" dirty="0"/>
                  <a:t>: </a:t>
                </a: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457200" lvl="1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𝜏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̂"/>
                              <m:ctrlPr>
                                <a:rPr lang="es-ES_tradnl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̂"/>
                              <m:ctrlPr>
                                <a:rPr lang="es-ES_tradnl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bSup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Sup>
                            <m:sSub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bSup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sub>
                        <m:sup/>
                        <m:e>
                          <m:sSubSup>
                            <m:sSub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bSup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p>
                          </m:sSubSup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sub>
                        <m:sup/>
                        <m:e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es-ES_tradnl" dirty="0"/>
              </a:p>
              <a:p>
                <a:pPr>
                  <a:lnSpc>
                    <a:spcPct val="12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Causal </a:t>
                </a:r>
                <a:r>
                  <a:rPr lang="es-ES_tradnl" dirty="0" err="1">
                    <a:solidFill>
                      <a:srgbClr val="002060"/>
                    </a:solidFill>
                  </a:rPr>
                  <a:t>tree</a:t>
                </a:r>
                <a:r>
                  <a:rPr lang="es-ES_tradnl" dirty="0">
                    <a:solidFill>
                      <a:srgbClr val="002060"/>
                    </a:solidFill>
                  </a:rPr>
                  <a:t> </a:t>
                </a:r>
                <a:r>
                  <a:rPr lang="es-ES_tradnl" dirty="0"/>
                  <a:t>se puede extender fácilmente -&gt; </a:t>
                </a:r>
                <a:r>
                  <a:rPr lang="es-ES_tradnl" dirty="0">
                    <a:solidFill>
                      <a:srgbClr val="002060"/>
                    </a:solidFill>
                  </a:rPr>
                  <a:t>causal </a:t>
                </a:r>
                <a:r>
                  <a:rPr lang="es-ES_tradnl" dirty="0" err="1">
                    <a:solidFill>
                      <a:srgbClr val="002060"/>
                    </a:solidFill>
                  </a:rPr>
                  <a:t>forest</a:t>
                </a:r>
                <a:endParaRPr lang="es-ES_tradnl" dirty="0">
                  <a:solidFill>
                    <a:srgbClr val="002060"/>
                  </a:solidFill>
                </a:endParaRPr>
              </a:p>
              <a:p>
                <a:pPr>
                  <a:lnSpc>
                    <a:spcPct val="120000"/>
                  </a:lnSpc>
                </a:pPr>
                <a:endParaRPr lang="es-ES_tradnl" dirty="0"/>
              </a:p>
              <a:p>
                <a:pPr>
                  <a:lnSpc>
                    <a:spcPct val="120000"/>
                  </a:lnSpc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F438C6E-AA46-6474-A4A4-3B199B71DC8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06" t="-20930" b="-30523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99E64A-2EEF-DDD5-C8D4-D207CA3FC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24483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0475D4-3D79-DB3D-5B34-58B5E51CED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Causal Random Forest: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Procedimientos para obtener “árboles honestos”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F438C6E-AA46-6474-A4A4-3B199B71DC8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>
                  <a:lnSpc>
                    <a:spcPct val="110000"/>
                  </a:lnSpc>
                </a:pPr>
                <a:r>
                  <a:rPr lang="es-ES_tradnl" dirty="0">
                    <a:solidFill>
                      <a:srgbClr val="FF0000"/>
                    </a:solidFill>
                  </a:rPr>
                  <a:t>Árboles honestos </a:t>
                </a:r>
                <a:r>
                  <a:rPr lang="es-ES_tradnl" dirty="0"/>
                  <a:t>(</a:t>
                </a:r>
                <a:r>
                  <a:rPr lang="es-ES_tradnl" i="1" dirty="0" err="1"/>
                  <a:t>Honest</a:t>
                </a:r>
                <a:r>
                  <a:rPr lang="es-ES_tradnl" i="1" dirty="0"/>
                  <a:t> </a:t>
                </a:r>
                <a:r>
                  <a:rPr lang="es-ES_tradnl" i="1" dirty="0" err="1"/>
                  <a:t>tree</a:t>
                </a:r>
                <a:r>
                  <a:rPr lang="es-ES_tradnl" dirty="0"/>
                  <a:t>): Se usan doble muestras dentro de la </a:t>
                </a:r>
                <a:r>
                  <a:rPr lang="es-ES_tradnl" dirty="0">
                    <a:solidFill>
                      <a:srgbClr val="002060"/>
                    </a:solidFill>
                  </a:rPr>
                  <a:t>muestra de entrenamiento </a:t>
                </a:r>
                <a:r>
                  <a:rPr lang="es-ES_tradnl" dirty="0"/>
                  <a:t>para crecer los árboles</a:t>
                </a:r>
              </a:p>
              <a:p>
                <a:pPr>
                  <a:lnSpc>
                    <a:spcPct val="11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Procedimiento 1: </a:t>
                </a:r>
              </a:p>
              <a:p>
                <a:pPr lvl="1">
                  <a:lnSpc>
                    <a:spcPct val="110000"/>
                  </a:lnSpc>
                </a:pPr>
                <a:r>
                  <a:rPr lang="es-ES_tradnl" dirty="0"/>
                  <a:t>Una muestra para las particiones (nodos interiores)</a:t>
                </a:r>
              </a:p>
              <a:p>
                <a:pPr lvl="1">
                  <a:lnSpc>
                    <a:spcPct val="110000"/>
                  </a:lnSpc>
                </a:pPr>
                <a:r>
                  <a:rPr lang="es-ES_tradnl" dirty="0"/>
                  <a:t>Otra muestra para la predicción de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s-ES_tradnl" dirty="0"/>
                  <a:t> (nodos finales)</a:t>
                </a:r>
              </a:p>
              <a:p>
                <a:pPr>
                  <a:lnSpc>
                    <a:spcPct val="11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Procedimiento 2:</a:t>
                </a:r>
              </a:p>
              <a:p>
                <a:pPr lvl="1">
                  <a:lnSpc>
                    <a:spcPct val="110000"/>
                  </a:lnSpc>
                </a:pPr>
                <a:r>
                  <a:rPr lang="es-ES_tradnl" dirty="0"/>
                  <a:t>Con una parte de la muestra, crecer un árbol con particiones binarias recursivas usando el tratamiento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s-ES_tradnl" dirty="0"/>
                  <a:t> como variable de respuesta</a:t>
                </a:r>
              </a:p>
              <a:p>
                <a:pPr lvl="1">
                  <a:lnSpc>
                    <a:spcPct val="110000"/>
                  </a:lnSpc>
                </a:pPr>
                <a:r>
                  <a:rPr lang="es-ES_tradnl" dirty="0"/>
                  <a:t>Estimar la respuesta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s-ES_tradnl" dirty="0"/>
                  <a:t> de la mitad de la muestra restante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F438C6E-AA46-6474-A4A4-3B199B71DC8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907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99E64A-2EEF-DDD5-C8D4-D207CA3FC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566239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3BF32D-4CB5-56CD-C723-0067317DB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Causal Random Forest: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Comparación de árboles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C4893E-DEDC-EF83-DD55-0570038F57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anchor="ctr"/>
          <a:lstStyle/>
          <a:p>
            <a:r>
              <a:rPr lang="es-ES_tradnl" dirty="0"/>
              <a:t>Causal </a:t>
            </a:r>
            <a:r>
              <a:rPr lang="es-ES_tradnl" dirty="0" err="1"/>
              <a:t>Tree</a:t>
            </a:r>
            <a:endParaRPr lang="es-ES_trad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EE7D4015-3083-A7F4-0322-8AA6D654B6A9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/>
              <a:lstStyle/>
              <a:p>
                <a:pPr>
                  <a:lnSpc>
                    <a:spcPct val="100000"/>
                  </a:lnSpc>
                </a:pPr>
                <a:r>
                  <a:rPr lang="es-ES_tradnl" dirty="0"/>
                  <a:t>Impone un mínimo número de observaciones tratadas y no tratadas en el nodo terminal para estimar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𝜏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̂"/>
                              <m:ctrlPr>
                                <a:rPr lang="es-ES_tradnl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̂"/>
                              <m:ctrlPr>
                                <a:rPr lang="es-ES_tradnl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bSup>
                    </m:oMath>
                  </m:oMathPara>
                </a14:m>
                <a:endParaRPr lang="es-ES_tradnl" dirty="0"/>
              </a:p>
              <a:p>
                <a:endParaRPr lang="es-ES_tradnl" dirty="0"/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EE7D4015-3083-A7F4-0322-8AA6D654B6A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 l="-2703" t="-2062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B7C3B89-D8CE-2F76-9735-EB98732237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 anchor="ctr"/>
          <a:lstStyle/>
          <a:p>
            <a:r>
              <a:rPr lang="es-ES_tradnl" dirty="0" err="1"/>
              <a:t>Honest</a:t>
            </a:r>
            <a:r>
              <a:rPr lang="es-ES_tradnl" dirty="0"/>
              <a:t> </a:t>
            </a:r>
            <a:r>
              <a:rPr lang="es-ES_tradnl" dirty="0" err="1"/>
              <a:t>Tree</a:t>
            </a:r>
            <a:endParaRPr lang="es-ES_trad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BF449AD1-BC3A-F1B9-2460-326368F6FB96}"/>
                  </a:ext>
                </a:extLst>
              </p:cNvPr>
              <p:cNvSpPr>
                <a:spLocks noGrp="1"/>
              </p:cNvSpPr>
              <p:nvPr>
                <p:ph sz="quarter" idx="4"/>
              </p:nvPr>
            </p:nvSpPr>
            <p:spPr/>
            <p:txBody>
              <a:bodyPr/>
              <a:lstStyle/>
              <a:p>
                <a:pPr>
                  <a:lnSpc>
                    <a:spcPct val="100000"/>
                  </a:lnSpc>
                </a:pPr>
                <a:r>
                  <a:rPr lang="es-ES_tradnl" dirty="0"/>
                  <a:t>Restricción en no “mirar” las respuestas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s-ES_tradnl" dirty="0"/>
                  <a:t> en las particiones recursivas</a:t>
                </a:r>
              </a:p>
              <a:p>
                <a:pPr>
                  <a:lnSpc>
                    <a:spcPct val="100000"/>
                  </a:lnSpc>
                </a:pPr>
                <a:r>
                  <a:rPr lang="es-ES_tradnl" dirty="0"/>
                  <a:t>Puede mirar la asignación al tratamiento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s-ES_tradnl" dirty="0"/>
              </a:p>
            </p:txBody>
          </p:sp>
        </mc:Choice>
        <mc:Fallback xmlns="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BF449AD1-BC3A-F1B9-2460-326368F6FB9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4"/>
              </p:nvPr>
            </p:nvSpPr>
            <p:spPr>
              <a:blipFill>
                <a:blip r:embed="rId3"/>
                <a:stretch>
                  <a:fillRect l="-2689" t="-2062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541D46-B7DE-C080-03E4-0CBC05494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790021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498833-6686-9B75-E032-097ED4A096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Causal Random Forest: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Ilustración de estimación de los Efectos heterogéneos</a:t>
            </a:r>
            <a:endParaRPr lang="es-ES_tradnl" dirty="0"/>
          </a:p>
        </p:txBody>
      </p:sp>
      <p:pic>
        <p:nvPicPr>
          <p:cNvPr id="6" name="Content Placeholder 5" descr="A group of red and yellow squares&#10;&#10;Description automatically generated">
            <a:extLst>
              <a:ext uri="{FF2B5EF4-FFF2-40B4-BE49-F238E27FC236}">
                <a16:creationId xmlns:a16="http://schemas.microsoft.com/office/drawing/2014/main" id="{1E2345E9-A503-9113-7AD2-F7FB229165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89747" y="1616596"/>
            <a:ext cx="7812505" cy="4813847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A6086B-B34D-08D3-AF28-BB54E306B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28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9F1A1A-6F16-86E7-AAFD-D12A46B4C605}"/>
              </a:ext>
            </a:extLst>
          </p:cNvPr>
          <p:cNvSpPr txBox="1"/>
          <p:nvPr/>
        </p:nvSpPr>
        <p:spPr>
          <a:xfrm>
            <a:off x="2906294" y="6406682"/>
            <a:ext cx="534293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effectLst/>
                <a:latin typeface="Gill Sans Nova Light" panose="020B0302020104020203" pitchFamily="34" charset="0"/>
              </a:rPr>
              <a:t>Wager &amp; </a:t>
            </a:r>
            <a:r>
              <a:rPr lang="en-US" sz="1600" dirty="0" err="1">
                <a:effectLst/>
                <a:latin typeface="Gill Sans Nova Light" panose="020B0302020104020203" pitchFamily="34" charset="0"/>
              </a:rPr>
              <a:t>Athey</a:t>
            </a:r>
            <a:r>
              <a:rPr lang="en-US" sz="1600" dirty="0">
                <a:effectLst/>
                <a:latin typeface="Gill Sans Nova Light" panose="020B0302020104020203" pitchFamily="34" charset="0"/>
              </a:rPr>
              <a:t> </a:t>
            </a:r>
            <a:r>
              <a:rPr lang="en-US" sz="1600" dirty="0">
                <a:latin typeface="Gill Sans Nova Light" panose="020B0302020104020203" pitchFamily="34" charset="0"/>
              </a:rPr>
              <a:t>(</a:t>
            </a:r>
            <a:r>
              <a:rPr lang="en-US" sz="1600" dirty="0">
                <a:effectLst/>
                <a:latin typeface="Gill Sans Nova Light" panose="020B0302020104020203" pitchFamily="34" charset="0"/>
              </a:rPr>
              <a:t>2014). p.1240</a:t>
            </a:r>
            <a:endParaRPr lang="en-US" sz="4400" dirty="0">
              <a:effectLst/>
              <a:latin typeface="Gill Sans Nova Light" panose="020B03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98295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0475D4-3D79-DB3D-5B34-58B5E51CED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 err="1"/>
              <a:t>Wager</a:t>
            </a:r>
            <a:r>
              <a:rPr lang="es-ES_tradnl" dirty="0"/>
              <a:t> &amp; </a:t>
            </a:r>
            <a:r>
              <a:rPr lang="es-ES_tradnl" dirty="0" err="1"/>
              <a:t>Athey</a:t>
            </a:r>
            <a:r>
              <a:rPr lang="es-ES_tradnl" dirty="0"/>
              <a:t> (2018): </a:t>
            </a:r>
            <a:r>
              <a:rPr lang="es-ES_tradnl" sz="4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Consideraciones finales</a:t>
            </a:r>
            <a:endParaRPr lang="es-ES_tradnl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438C6E-AA46-6474-A4A4-3B199B71DC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00000"/>
              </a:lnSpc>
            </a:pPr>
            <a:r>
              <a:rPr lang="es-ES_tradnl" dirty="0"/>
              <a:t>Paquetes disponibles en R: </a:t>
            </a:r>
            <a:r>
              <a:rPr lang="es-ES_tradnl" dirty="0" err="1">
                <a:latin typeface="Courier" pitchFamily="2" charset="0"/>
              </a:rPr>
              <a:t>causalTree</a:t>
            </a:r>
            <a:r>
              <a:rPr lang="es-ES_tradnl" dirty="0"/>
              <a:t>  (</a:t>
            </a:r>
            <a:r>
              <a:rPr lang="es-ES_tradnl" dirty="0" err="1"/>
              <a:t>Athey</a:t>
            </a:r>
            <a:r>
              <a:rPr lang="es-ES_tradnl" dirty="0"/>
              <a:t> and </a:t>
            </a:r>
            <a:r>
              <a:rPr lang="es-ES_tradnl" dirty="0" err="1"/>
              <a:t>Imbens</a:t>
            </a:r>
            <a:r>
              <a:rPr lang="es-ES_tradnl" dirty="0"/>
              <a:t> 2016) &amp; </a:t>
            </a:r>
            <a:r>
              <a:rPr lang="es-ES_tradnl" sz="2800" dirty="0" err="1">
                <a:latin typeface="Courier" pitchFamily="2" charset="0"/>
              </a:rPr>
              <a:t>randomForestCI</a:t>
            </a:r>
            <a:r>
              <a:rPr lang="es-ES_tradnl" dirty="0"/>
              <a:t> (</a:t>
            </a:r>
            <a:r>
              <a:rPr lang="es-ES_tradnl" dirty="0" err="1"/>
              <a:t>Wager</a:t>
            </a:r>
            <a:r>
              <a:rPr lang="es-ES_tradnl" dirty="0"/>
              <a:t>, Hastie, and </a:t>
            </a:r>
            <a:r>
              <a:rPr lang="es-ES_tradnl" dirty="0" err="1"/>
              <a:t>Efron</a:t>
            </a:r>
            <a:r>
              <a:rPr lang="es-ES_tradnl" dirty="0"/>
              <a:t> 2014)</a:t>
            </a:r>
          </a:p>
          <a:p>
            <a:pPr>
              <a:lnSpc>
                <a:spcPct val="100000"/>
              </a:lnSpc>
            </a:pPr>
            <a:r>
              <a:rPr lang="es-ES_tradnl" dirty="0"/>
              <a:t>Este método de </a:t>
            </a:r>
            <a:r>
              <a:rPr lang="es-ES_tradnl" dirty="0">
                <a:solidFill>
                  <a:srgbClr val="002060"/>
                </a:solidFill>
              </a:rPr>
              <a:t>causal </a:t>
            </a:r>
            <a:r>
              <a:rPr lang="es-ES_tradnl" dirty="0" err="1">
                <a:solidFill>
                  <a:srgbClr val="002060"/>
                </a:solidFill>
              </a:rPr>
              <a:t>forest</a:t>
            </a:r>
            <a:r>
              <a:rPr lang="es-ES_tradnl" dirty="0">
                <a:solidFill>
                  <a:srgbClr val="002060"/>
                </a:solidFill>
              </a:rPr>
              <a:t> </a:t>
            </a:r>
            <a:r>
              <a:rPr lang="es-ES_tradnl" dirty="0"/>
              <a:t>puede ser pensado como </a:t>
            </a:r>
            <a:r>
              <a:rPr lang="es-ES_tradnl" dirty="0" err="1"/>
              <a:t>matching</a:t>
            </a:r>
            <a:r>
              <a:rPr lang="es-ES_tradnl" dirty="0"/>
              <a:t> de vecinos cercanos (KNN) </a:t>
            </a:r>
            <a:r>
              <a:rPr lang="es-ES_tradnl" i="1" dirty="0"/>
              <a:t>adaptativo</a:t>
            </a:r>
          </a:p>
          <a:p>
            <a:pPr lvl="1">
              <a:lnSpc>
                <a:spcPct val="100000"/>
              </a:lnSpc>
            </a:pPr>
            <a:r>
              <a:rPr lang="es-ES_tradnl" dirty="0"/>
              <a:t>Datos determinan la dimensión más importante para definir el vecindario</a:t>
            </a:r>
          </a:p>
          <a:p>
            <a:pPr>
              <a:lnSpc>
                <a:spcPct val="100000"/>
              </a:lnSpc>
            </a:pPr>
            <a:r>
              <a:rPr lang="es-ES_tradnl" dirty="0">
                <a:solidFill>
                  <a:srgbClr val="002060"/>
                </a:solidFill>
              </a:rPr>
              <a:t>Árboles honestos </a:t>
            </a:r>
            <a:r>
              <a:rPr lang="es-ES_tradnl" dirty="0"/>
              <a:t>solucionan el problema de sesgo de selección </a:t>
            </a:r>
          </a:p>
          <a:p>
            <a:pPr lvl="1">
              <a:lnSpc>
                <a:spcPct val="100000"/>
              </a:lnSpc>
            </a:pPr>
            <a:r>
              <a:rPr lang="es-ES_tradnl" dirty="0">
                <a:solidFill>
                  <a:srgbClr val="002060"/>
                </a:solidFill>
              </a:rPr>
              <a:t>Mecanismo</a:t>
            </a:r>
            <a:r>
              <a:rPr lang="es-ES_tradnl" dirty="0"/>
              <a:t>: restringir que se separe una submuestra para la predicción en el nodo final</a:t>
            </a:r>
          </a:p>
          <a:p>
            <a:pPr>
              <a:lnSpc>
                <a:spcPct val="100000"/>
              </a:lnSpc>
            </a:pPr>
            <a:endParaRPr lang="es-ES_trad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99E64A-2EEF-DDD5-C8D4-D207CA3FC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04013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F6500-5D2B-5AC6-B9D2-9A9E7146CC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 err="1"/>
              <a:t>Athey</a:t>
            </a:r>
            <a:r>
              <a:rPr lang="es-ES_tradnl" dirty="0"/>
              <a:t>, </a:t>
            </a:r>
            <a:r>
              <a:rPr lang="es-ES_tradnl" dirty="0" err="1"/>
              <a:t>Tbshirani</a:t>
            </a:r>
            <a:r>
              <a:rPr lang="es-ES_tradnl" dirty="0"/>
              <a:t> &amp; </a:t>
            </a:r>
            <a:r>
              <a:rPr lang="es-ES_tradnl" dirty="0" err="1"/>
              <a:t>Wager</a:t>
            </a:r>
            <a:r>
              <a:rPr lang="es-ES_tradnl" dirty="0"/>
              <a:t> (2019):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Contribución principal</a:t>
            </a:r>
            <a:endParaRPr lang="es-ES_trad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0C50E2-3D79-A2EC-63D4-3D5524FFA6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>
              <a:lnSpc>
                <a:spcPct val="150000"/>
              </a:lnSpc>
            </a:pPr>
            <a:r>
              <a:rPr lang="es-ES_tradnl" dirty="0">
                <a:solidFill>
                  <a:srgbClr val="002060"/>
                </a:solidFill>
              </a:rPr>
              <a:t>Proponen</a:t>
            </a:r>
            <a:r>
              <a:rPr lang="es-ES_tradnl" dirty="0"/>
              <a:t> método generalizado de Random Forest que puede ser usado para estimar cualquier </a:t>
            </a:r>
            <a:r>
              <a:rPr lang="es-ES_tradnl" dirty="0">
                <a:solidFill>
                  <a:srgbClr val="002060"/>
                </a:solidFill>
              </a:rPr>
              <a:t>cantidad de interés </a:t>
            </a:r>
            <a:r>
              <a:rPr lang="es-ES_tradnl" dirty="0"/>
              <a:t>identificada como solución del conjunto local de método de los momentos. </a:t>
            </a:r>
          </a:p>
          <a:p>
            <a:pPr>
              <a:lnSpc>
                <a:spcPct val="150000"/>
              </a:lnSpc>
            </a:pPr>
            <a:r>
              <a:rPr lang="es-ES_tradnl" dirty="0"/>
              <a:t>Usan </a:t>
            </a:r>
            <a:r>
              <a:rPr lang="es-ES_tradnl" dirty="0">
                <a:solidFill>
                  <a:srgbClr val="002060"/>
                </a:solidFill>
              </a:rPr>
              <a:t>casual </a:t>
            </a:r>
            <a:r>
              <a:rPr lang="es-ES_tradnl" dirty="0" err="1">
                <a:solidFill>
                  <a:srgbClr val="002060"/>
                </a:solidFill>
              </a:rPr>
              <a:t>random</a:t>
            </a:r>
            <a:r>
              <a:rPr lang="es-ES_tradnl" dirty="0">
                <a:solidFill>
                  <a:srgbClr val="002060"/>
                </a:solidFill>
              </a:rPr>
              <a:t> </a:t>
            </a:r>
            <a:r>
              <a:rPr lang="es-ES_tradnl" dirty="0" err="1">
                <a:solidFill>
                  <a:srgbClr val="002060"/>
                </a:solidFill>
              </a:rPr>
              <a:t>forest</a:t>
            </a:r>
            <a:r>
              <a:rPr lang="es-ES_tradnl" dirty="0">
                <a:solidFill>
                  <a:srgbClr val="002060"/>
                </a:solidFill>
              </a:rPr>
              <a:t> </a:t>
            </a:r>
            <a:r>
              <a:rPr lang="es-ES_tradnl" dirty="0"/>
              <a:t>para la ponderación de observaciones en un vecindario -&gt; método de máxima verosimilitud</a:t>
            </a:r>
          </a:p>
          <a:p>
            <a:pPr>
              <a:lnSpc>
                <a:spcPct val="150000"/>
              </a:lnSpc>
            </a:pPr>
            <a:r>
              <a:rPr lang="es-ES_tradnl" dirty="0"/>
              <a:t>Muestran las propiedades asintóticas de consistencia y distribución normal asintótica del método generalizado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300FEE-78F1-3FD1-5B93-8747A76D1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72442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17BD67-1ABF-C24B-6DD9-E233F4317C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 err="1"/>
              <a:t>Athey</a:t>
            </a:r>
            <a:r>
              <a:rPr lang="es-ES_tradnl" dirty="0"/>
              <a:t>, </a:t>
            </a:r>
            <a:r>
              <a:rPr lang="es-ES_tradnl" dirty="0" err="1"/>
              <a:t>Tbshirani</a:t>
            </a:r>
            <a:r>
              <a:rPr lang="es-ES_tradnl" dirty="0"/>
              <a:t> &amp; </a:t>
            </a:r>
            <a:r>
              <a:rPr lang="es-ES_tradnl" dirty="0" err="1"/>
              <a:t>Wager</a:t>
            </a:r>
            <a:r>
              <a:rPr lang="es-ES_tradnl" dirty="0"/>
              <a:t> (2019):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Aplicaciones principales</a:t>
            </a:r>
            <a:endParaRPr lang="es-ES_trad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F6A9024-D6F1-0978-1F51-0627FD59A15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s-ES_tradnl" dirty="0"/>
                  <a:t>Regresiones no paramétricas por cuantiles: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s-ES_tradnl" dirty="0"/>
                  <a:t>mejora significativa con respecto a Random Forest por cuantiles cuando hay un shift importante en la variable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endParaRPr lang="es-ES_tradnl" dirty="0"/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s-ES_tradnl" dirty="0"/>
                  <a:t>ATE condicional en X -&gt; muy parecido a lo visto en </a:t>
                </a:r>
                <a:r>
                  <a:rPr lang="es-ES_tradnl" dirty="0" err="1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Wager</a:t>
                </a:r>
                <a:r>
                  <a:rPr lang="es-ES_tradnl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 &amp; </a:t>
                </a:r>
                <a:r>
                  <a:rPr lang="es-ES_tradnl" dirty="0" err="1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Athey</a:t>
                </a:r>
                <a:r>
                  <a:rPr lang="es-ES_tradnl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 (2018)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s-ES_tradnl" dirty="0"/>
                  <a:t>Random Forest Generalizado mejora (MSE) a Causal Forest con sesgo de selección y heterogeneidad</a:t>
                </a: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s-ES_tradnl" dirty="0"/>
                  <a:t>Efectos heterogéneos usando IV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s-ES_tradnl" dirty="0"/>
                  <a:t>Ejemplo: Participación laboral femenina usando como instrumento el número y sexo de los hijos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F6A9024-D6F1-0978-1F51-0627FD59A15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5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AE0E66-436F-0163-66FA-B1C60C5F1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91406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F6500-5D2B-5AC6-B9D2-9A9E7146CC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 err="1"/>
              <a:t>Athey</a:t>
            </a:r>
            <a:r>
              <a:rPr lang="es-ES_tradnl" dirty="0"/>
              <a:t>, </a:t>
            </a:r>
            <a:r>
              <a:rPr lang="es-ES_tradnl" dirty="0" err="1"/>
              <a:t>Tbshirani</a:t>
            </a:r>
            <a:r>
              <a:rPr lang="es-ES_tradnl" dirty="0"/>
              <a:t> &amp; </a:t>
            </a:r>
            <a:r>
              <a:rPr lang="es-ES_tradnl" dirty="0" err="1"/>
              <a:t>Wager</a:t>
            </a:r>
            <a:r>
              <a:rPr lang="es-ES_tradnl" dirty="0"/>
              <a:t> (2019):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Limitaciones</a:t>
            </a:r>
            <a:endParaRPr lang="es-ES_trad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0C50E2-3D79-A2EC-63D4-3D5524FFA6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s-ES_tradnl" dirty="0"/>
              <a:t>Intervalos de confianza poco precisos (grandes):</a:t>
            </a:r>
          </a:p>
          <a:p>
            <a:pPr lvl="1">
              <a:lnSpc>
                <a:spcPct val="150000"/>
              </a:lnSpc>
            </a:pPr>
            <a:r>
              <a:rPr lang="es-ES_tradnl" dirty="0"/>
              <a:t>Requieren condiciones adicionales para obtener la validez asintótica de cobertura</a:t>
            </a:r>
          </a:p>
          <a:p>
            <a:pPr>
              <a:lnSpc>
                <a:spcPct val="150000"/>
              </a:lnSpc>
            </a:pPr>
            <a:r>
              <a:rPr lang="es-ES_tradnl" dirty="0"/>
              <a:t>Estimación poco precisa de efectos heterogéneos en los “bordes” del espacio de predictores (como en el caso anterior)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300FEE-78F1-3FD1-5B93-8747A76D1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230318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357CD-60DB-7599-DBBF-E7E34F55F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Conclusiones finales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8E002C-8C25-F567-04EE-6365B03764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_tradnl" dirty="0"/>
              <a:t>¿Qué aprendimos hoy?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A580811-4E8A-0CFA-2D7A-CC97B0990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05612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99168-AA67-F1BE-BEB5-BFF50FDBF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¿Qué aprendimos hoy?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466B93-964D-A72E-FB12-DE627F299F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>
              <a:lnSpc>
                <a:spcPct val="170000"/>
              </a:lnSpc>
            </a:pPr>
            <a:r>
              <a:rPr lang="es-ES_tradnl" dirty="0">
                <a:solidFill>
                  <a:srgbClr val="002060"/>
                </a:solidFill>
              </a:rPr>
              <a:t>Revisamos</a:t>
            </a:r>
            <a:r>
              <a:rPr lang="es-ES_tradnl" dirty="0"/>
              <a:t> el concepto de un árbol (CART) </a:t>
            </a:r>
            <a:endParaRPr lang="es-ES_tradnl" dirty="0">
              <a:solidFill>
                <a:srgbClr val="002060"/>
              </a:solidFill>
            </a:endParaRPr>
          </a:p>
          <a:p>
            <a:pPr>
              <a:lnSpc>
                <a:spcPct val="170000"/>
              </a:lnSpc>
            </a:pPr>
            <a:r>
              <a:rPr lang="es-ES_tradnl" dirty="0">
                <a:solidFill>
                  <a:srgbClr val="002060"/>
                </a:solidFill>
              </a:rPr>
              <a:t>Aprendimos</a:t>
            </a:r>
            <a:r>
              <a:rPr lang="es-ES_tradnl" dirty="0"/>
              <a:t> tres métodos basados en árboles</a:t>
            </a:r>
          </a:p>
          <a:p>
            <a:pPr lvl="1">
              <a:lnSpc>
                <a:spcPct val="170000"/>
              </a:lnSpc>
            </a:pPr>
            <a:r>
              <a:rPr lang="es-ES_tradnl" dirty="0">
                <a:solidFill>
                  <a:srgbClr val="002060"/>
                </a:solidFill>
              </a:rPr>
              <a:t>Bagging</a:t>
            </a:r>
            <a:r>
              <a:rPr lang="es-ES_tradnl" dirty="0"/>
              <a:t>: </a:t>
            </a:r>
            <a:r>
              <a:rPr lang="es-ES_tradnl" dirty="0" err="1"/>
              <a:t>boostrapeamos</a:t>
            </a:r>
            <a:r>
              <a:rPr lang="es-ES_tradnl" dirty="0"/>
              <a:t> muestras independientes, estimamos árboles, promediamos</a:t>
            </a:r>
            <a:endParaRPr lang="es-ES_tradnl" dirty="0">
              <a:solidFill>
                <a:srgbClr val="002060"/>
              </a:solidFill>
            </a:endParaRPr>
          </a:p>
          <a:p>
            <a:pPr lvl="1">
              <a:lnSpc>
                <a:spcPct val="170000"/>
              </a:lnSpc>
            </a:pPr>
            <a:r>
              <a:rPr lang="es-ES_tradnl" dirty="0">
                <a:solidFill>
                  <a:srgbClr val="002060"/>
                </a:solidFill>
              </a:rPr>
              <a:t>Boosting</a:t>
            </a:r>
            <a:r>
              <a:rPr lang="es-ES_tradnl" dirty="0"/>
              <a:t>: Armamos árboles, dependiendo del árbol anterior reajustando lo no aplicado por los residuos</a:t>
            </a:r>
          </a:p>
          <a:p>
            <a:pPr>
              <a:lnSpc>
                <a:spcPct val="170000"/>
              </a:lnSpc>
            </a:pPr>
            <a:r>
              <a:rPr lang="es-ES_tradnl" dirty="0">
                <a:solidFill>
                  <a:srgbClr val="002060"/>
                </a:solidFill>
              </a:rPr>
              <a:t>Discutimos</a:t>
            </a:r>
            <a:r>
              <a:rPr lang="es-ES_tradnl" dirty="0"/>
              <a:t> Random Forest, </a:t>
            </a:r>
            <a:r>
              <a:rPr lang="es-ES_tradnl" dirty="0">
                <a:solidFill>
                  <a:srgbClr val="002060"/>
                </a:solidFill>
              </a:rPr>
              <a:t>aprendiendo</a:t>
            </a:r>
            <a:r>
              <a:rPr lang="es-ES_tradnl" dirty="0"/>
              <a:t> de:</a:t>
            </a:r>
          </a:p>
          <a:p>
            <a:pPr lvl="1">
              <a:lnSpc>
                <a:spcPct val="170000"/>
              </a:lnSpc>
            </a:pPr>
            <a:r>
              <a:rPr lang="es-ES_tradnl" dirty="0"/>
              <a:t>Idea y algoritmo final</a:t>
            </a:r>
          </a:p>
          <a:p>
            <a:pPr lvl="1">
              <a:lnSpc>
                <a:spcPct val="170000"/>
              </a:lnSpc>
            </a:pPr>
            <a:r>
              <a:rPr lang="es-ES_tradnl" dirty="0"/>
              <a:t>La medición de la importancia de predictores y su diferencia con Bagging</a:t>
            </a:r>
          </a:p>
          <a:p>
            <a:pPr lvl="1">
              <a:lnSpc>
                <a:spcPct val="170000"/>
              </a:lnSpc>
            </a:pPr>
            <a:r>
              <a:rPr lang="es-ES_tradnl" dirty="0"/>
              <a:t>Discutimos de los trade-off de sesgo-varianza</a:t>
            </a:r>
          </a:p>
          <a:p>
            <a:pPr>
              <a:lnSpc>
                <a:spcPct val="170000"/>
              </a:lnSpc>
            </a:pPr>
            <a:r>
              <a:rPr lang="es-ES_tradnl" dirty="0">
                <a:solidFill>
                  <a:srgbClr val="002060"/>
                </a:solidFill>
              </a:rPr>
              <a:t>Comparamos</a:t>
            </a:r>
            <a:r>
              <a:rPr lang="es-ES_tradnl" dirty="0"/>
              <a:t> los tres métodos basados en arboles</a:t>
            </a:r>
          </a:p>
          <a:p>
            <a:pPr lvl="1">
              <a:lnSpc>
                <a:spcPct val="170000"/>
              </a:lnSpc>
            </a:pPr>
            <a:endParaRPr lang="es-ES_trad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7E39AB-00F5-ADEE-08FA-C6F284265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13241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3CD98-35CD-CC0F-75A6-C9BFD84781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¿Qué aprendimos hoy?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13E4B9-C304-4F66-FD4C-CDF376D0FE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s-ES_tradnl" dirty="0">
                <a:solidFill>
                  <a:srgbClr val="002060"/>
                </a:solidFill>
              </a:rPr>
              <a:t>Discutimos</a:t>
            </a:r>
            <a:r>
              <a:rPr lang="es-ES_tradnl" dirty="0"/>
              <a:t> una aplicación útil, simple y clara para el debate de finanzas publicas sobre la redistribución de la riqueza</a:t>
            </a:r>
          </a:p>
          <a:p>
            <a:pPr lvl="1"/>
            <a:r>
              <a:rPr lang="es-ES_tradnl" dirty="0"/>
              <a:t>Caracterizar grupos por las preferencias de redistribución (</a:t>
            </a:r>
            <a:r>
              <a:rPr lang="es-ES_tradnl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Keely</a:t>
            </a:r>
            <a:r>
              <a:rPr lang="es-ES_tradnl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&amp; Tan, 2008</a:t>
            </a:r>
            <a:r>
              <a:rPr lang="es-ES_tradnl" dirty="0"/>
              <a:t>)</a:t>
            </a:r>
            <a:endParaRPr lang="es-ES_tradnl" dirty="0">
              <a:solidFill>
                <a:srgbClr val="002060"/>
              </a:solidFill>
            </a:endParaRPr>
          </a:p>
          <a:p>
            <a:r>
              <a:rPr lang="es-ES_tradnl" dirty="0">
                <a:solidFill>
                  <a:srgbClr val="002060"/>
                </a:solidFill>
              </a:rPr>
              <a:t>Mencionamos</a:t>
            </a:r>
            <a:r>
              <a:rPr lang="es-ES_tradnl" dirty="0"/>
              <a:t> brevemente el </a:t>
            </a:r>
            <a:r>
              <a:rPr lang="es-ES_tradnl" dirty="0">
                <a:solidFill>
                  <a:srgbClr val="00B050"/>
                </a:solidFill>
              </a:rPr>
              <a:t>potencial</a:t>
            </a:r>
            <a:r>
              <a:rPr lang="es-ES_tradnl" dirty="0"/>
              <a:t> para usar </a:t>
            </a:r>
            <a:r>
              <a:rPr lang="es-ES_tradnl" dirty="0" err="1"/>
              <a:t>Conditional</a:t>
            </a:r>
            <a:r>
              <a:rPr lang="es-ES_tradnl" dirty="0"/>
              <a:t> </a:t>
            </a:r>
            <a:r>
              <a:rPr lang="es-ES_tradnl" dirty="0" err="1"/>
              <a:t>Trees</a:t>
            </a:r>
            <a:r>
              <a:rPr lang="es-ES_tradnl" dirty="0"/>
              <a:t> y </a:t>
            </a:r>
            <a:r>
              <a:rPr lang="es-ES_tradnl" dirty="0" err="1"/>
              <a:t>Conditional</a:t>
            </a:r>
            <a:r>
              <a:rPr lang="es-ES_tradnl" dirty="0"/>
              <a:t> Random Forest incorporando test estadísticos y solucionando problemas de selección de variables</a:t>
            </a:r>
          </a:p>
          <a:p>
            <a:r>
              <a:rPr lang="es-ES_tradnl" dirty="0">
                <a:solidFill>
                  <a:srgbClr val="002060"/>
                </a:solidFill>
              </a:rPr>
              <a:t>Desarrollamos dos trabajos recientes por </a:t>
            </a:r>
            <a:r>
              <a:rPr lang="es-ES_tradnl" dirty="0" err="1">
                <a:solidFill>
                  <a:srgbClr val="002060"/>
                </a:solidFill>
              </a:rPr>
              <a:t>Athey</a:t>
            </a:r>
            <a:r>
              <a:rPr lang="es-ES_tradnl" dirty="0">
                <a:solidFill>
                  <a:srgbClr val="002060"/>
                </a:solidFill>
              </a:rPr>
              <a:t> y compañía </a:t>
            </a:r>
            <a:r>
              <a:rPr lang="es-ES_tradnl" dirty="0"/>
              <a:t>que es la  intersección de Big Data y Economía Aplicada :</a:t>
            </a:r>
          </a:p>
          <a:p>
            <a:pPr lvl="1"/>
            <a:r>
              <a:rPr lang="es-ES_tradnl" dirty="0"/>
              <a:t>Causal </a:t>
            </a:r>
            <a:r>
              <a:rPr lang="es-ES_tradnl" dirty="0" err="1"/>
              <a:t>Tree</a:t>
            </a:r>
            <a:r>
              <a:rPr lang="es-ES_tradnl" dirty="0"/>
              <a:t>- -&gt; </a:t>
            </a:r>
            <a:r>
              <a:rPr lang="es-ES_tradnl" i="1" dirty="0"/>
              <a:t>Causal Random Forest</a:t>
            </a:r>
            <a:endParaRPr lang="es-ES_tradnl" dirty="0"/>
          </a:p>
          <a:p>
            <a:endParaRPr lang="es-ES_trad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378F05-17AA-7801-5EAB-088AE8EB0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59116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D55B1-4C9E-9A68-CAC5-2D5211025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_tradnl" dirty="0"/>
              <a:t>¿Dudas, consultas?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6DE542-4031-D126-7AAF-A0332014D1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s-ES_tradnl" dirty="0">
                <a:latin typeface="Gill Sans Nova Light" panose="020B0302020104020203" pitchFamily="34" charset="0"/>
              </a:rPr>
              <a:t>Consultas: </a:t>
            </a:r>
            <a:r>
              <a:rPr lang="en-US" b="0" i="0" dirty="0">
                <a:solidFill>
                  <a:srgbClr val="0078D7"/>
                </a:solidFill>
                <a:effectLst/>
                <a:latin typeface="Gill Sans Nova Light" panose="020B0302020104020203" pitchFamily="34" charset="0"/>
                <a:hlinkClick r:id="rId2"/>
              </a:rPr>
              <a:t>25RO35480961@campus.economicas.uba.ar</a:t>
            </a:r>
            <a:r>
              <a:rPr lang="en-US" b="0" i="0" dirty="0">
                <a:solidFill>
                  <a:srgbClr val="0078D7"/>
                </a:solidFill>
                <a:effectLst/>
                <a:latin typeface="Gill Sans Nova Light" panose="020B0302020104020203" pitchFamily="34" charset="0"/>
              </a:rPr>
              <a:t> </a:t>
            </a:r>
            <a:endParaRPr lang="es-ES_tradnl" dirty="0">
              <a:latin typeface="Gill Sans Nova Light" panose="020B03020201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42557C-64E1-99EA-732F-3F53925CF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87550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87264-3936-E01F-69E6-755BDAD76A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_tradnl" dirty="0"/>
              <a:t>Consideraciones técnicas de los </a:t>
            </a:r>
            <a:r>
              <a:rPr lang="es-ES_tradnl" dirty="0" err="1"/>
              <a:t>papers</a:t>
            </a:r>
            <a:r>
              <a:rPr lang="es-ES_tradnl" dirty="0"/>
              <a:t> discutidos hoy</a:t>
            </a:r>
            <a:endParaRPr lang="es-ES_tradnl" i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0DBC37-65BC-D07C-22F6-12C163A796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s-ES_tradnl" dirty="0" err="1"/>
              <a:t>Apendice</a:t>
            </a:r>
            <a:endParaRPr lang="es-ES_trad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F6AA5B-BB72-FCCC-E30C-19365D0A2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38321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893125-5CA0-A535-B2C4-091880115B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1.Conditional </a:t>
            </a:r>
            <a:r>
              <a:rPr lang="es-ES_tradnl" dirty="0" err="1"/>
              <a:t>Tree</a:t>
            </a:r>
            <a:r>
              <a:rPr lang="es-ES_tradnl" dirty="0"/>
              <a:t>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Consideraciones del Algoritmo II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432D641-04BE-2CB7-7663-DBDE0C4ECFF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>
                  <a:lnSpc>
                    <a:spcPct val="110000"/>
                  </a:lnSpc>
                </a:pPr>
                <a:r>
                  <a:rPr lang="es-ES_tradnl" dirty="0"/>
                  <a:t>Hipótesis </a:t>
                </a:r>
                <a:r>
                  <a:rPr lang="es-ES_tradnl" dirty="0">
                    <a:solidFill>
                      <a:srgbClr val="002060"/>
                    </a:solidFill>
                  </a:rPr>
                  <a:t>nula parcial </a:t>
                </a:r>
                <a:r>
                  <a:rPr lang="es-ES_tradnl" dirty="0"/>
                  <a:t>para un predictor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s-ES_tradnl" dirty="0"/>
                  <a:t>: </a:t>
                </a:r>
              </a:p>
              <a:p>
                <a:pPr marL="0" indent="0" algn="ctr">
                  <a:lnSpc>
                    <a:spcPct val="110000"/>
                  </a:lnSpc>
                  <a:buNone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s-ES_tradnl" dirty="0"/>
                  <a:t> para todo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=1,.. .,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lang="es-ES_tradnl" dirty="0"/>
              </a:p>
              <a:p>
                <a:pPr>
                  <a:lnSpc>
                    <a:spcPct val="110000"/>
                  </a:lnSpc>
                </a:pPr>
                <a:r>
                  <a:rPr lang="es-ES_tradnl" dirty="0"/>
                  <a:t>Hipótesis </a:t>
                </a:r>
                <a:r>
                  <a:rPr lang="es-ES_tradnl" dirty="0">
                    <a:solidFill>
                      <a:srgbClr val="002060"/>
                    </a:solidFill>
                  </a:rPr>
                  <a:t>nula global</a:t>
                </a:r>
                <a:r>
                  <a:rPr lang="es-ES_tradnl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⋂"/>
                        <m:limLoc m:val="subSup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  <m:e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p>
                        </m:sSubSup>
                      </m:e>
                    </m:nary>
                  </m:oMath>
                </a14:m>
                <a:endParaRPr lang="es-ES_tradnl" i="1" dirty="0"/>
              </a:p>
              <a:p>
                <a:pPr>
                  <a:lnSpc>
                    <a:spcPct val="11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Test de permutación </a:t>
                </a:r>
              </a:p>
              <a:p>
                <a:pPr lvl="1">
                  <a:lnSpc>
                    <a:spcPct val="110000"/>
                  </a:lnSpc>
                </a:pPr>
                <a:r>
                  <a:rPr lang="es-ES_tradnl" dirty="0"/>
                  <a:t>Surge de usar un estadístico lineal entre entre </a:t>
                </a:r>
                <a14:m>
                  <m:oMath xmlns:m="http://schemas.openxmlformats.org/officeDocument/2006/math">
                    <m:r>
                      <a:rPr lang="es-ES_tradnl" i="1" dirty="0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s-ES_tradnl" dirty="0"/>
                  <a:t> y </a:t>
                </a:r>
                <a14:m>
                  <m:oMath xmlns:m="http://schemas.openxmlformats.org/officeDocument/2006/math">
                    <m:r>
                      <a:rPr lang="es-ES_tradnl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s-ES_tradnl" dirty="0"/>
                  <a:t> que usa una transformación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s-ES_tradnl" dirty="0"/>
                  <a:t> y una función de influencia de </a:t>
                </a:r>
                <a14:m>
                  <m:oMath xmlns:m="http://schemas.openxmlformats.org/officeDocument/2006/math">
                    <m:r>
                      <a:rPr lang="es-ES_tradnl" i="1" dirty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endParaRPr lang="es-ES_tradnl" dirty="0"/>
              </a:p>
              <a:p>
                <a:pPr lvl="1">
                  <a:lnSpc>
                    <a:spcPct val="110000"/>
                  </a:lnSpc>
                </a:pPr>
                <a:r>
                  <a:rPr lang="es-ES_tradnl" dirty="0"/>
                  <a:t>Misma lógica que test conocido: comparar el p-valor con el nivel de significancia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endParaRPr lang="es-ES_tradnl" dirty="0"/>
              </a:p>
              <a:p>
                <a:pPr lvl="1">
                  <a:lnSpc>
                    <a:spcPct val="110000"/>
                  </a:lnSpc>
                </a:pPr>
                <a:endParaRPr lang="es-ES_tradnl" dirty="0"/>
              </a:p>
              <a:p>
                <a:pPr>
                  <a:lnSpc>
                    <a:spcPct val="110000"/>
                  </a:lnSpc>
                </a:pPr>
                <a:endParaRPr lang="es-ES_tradnl" dirty="0"/>
              </a:p>
              <a:p>
                <a:pPr marL="0" indent="0" algn="ctr">
                  <a:lnSpc>
                    <a:spcPct val="110000"/>
                  </a:lnSpc>
                  <a:buNone/>
                </a:pPr>
                <a:endParaRPr lang="es-ES_tradnl" dirty="0"/>
              </a:p>
              <a:p>
                <a:pPr marL="0" indent="0">
                  <a:lnSpc>
                    <a:spcPct val="110000"/>
                  </a:lnSpc>
                  <a:buNone/>
                </a:pPr>
                <a:endParaRPr lang="es-ES_tradnl" dirty="0"/>
              </a:p>
              <a:p>
                <a:pPr marL="0" indent="0">
                  <a:lnSpc>
                    <a:spcPct val="110000"/>
                  </a:lnSpc>
                  <a:buNone/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432D641-04BE-2CB7-7663-DBDE0C4ECFF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035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6D0718-59E4-1A3E-30F8-4A36F0B137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47133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44C81-6856-471F-B56B-0EB27AFE84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1.Conditional </a:t>
            </a:r>
            <a:r>
              <a:rPr lang="es-ES_tradnl" dirty="0" err="1"/>
              <a:t>Tree</a:t>
            </a:r>
            <a:r>
              <a:rPr lang="es-ES_tradnl" dirty="0"/>
              <a:t>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Consideraciones del Algoritmo III</a:t>
            </a:r>
            <a:endParaRPr lang="es-ES_trad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A8AC93A-75D9-3F8A-C503-175A081AB4D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lnSpc>
                    <a:spcPct val="150000"/>
                  </a:lnSpc>
                </a:pPr>
                <a:r>
                  <a:rPr lang="es-ES_tradnl" dirty="0"/>
                  <a:t>El umbral optimo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ES_tradnl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_tradnl" sz="3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s-ES_tradnl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s-ES_tradnl" dirty="0"/>
                  <a:t> también se decide con un test de estadísticos lineales de dos muestras (por arriba y abajo del umbral).</a:t>
                </a:r>
              </a:p>
              <a:p>
                <a:pPr>
                  <a:lnSpc>
                    <a:spcPct val="150000"/>
                  </a:lnSpc>
                </a:pPr>
                <a:r>
                  <a:rPr lang="es-ES_tradnl" dirty="0"/>
                  <a:t>Las observaciones con </a:t>
                </a:r>
                <a:r>
                  <a:rPr lang="es-ES_tradnl" dirty="0" err="1"/>
                  <a:t>missing</a:t>
                </a:r>
                <a:r>
                  <a:rPr lang="es-ES_tradnl" dirty="0"/>
                  <a:t> </a:t>
                </a:r>
                <a:r>
                  <a:rPr lang="es-ES_tradnl" dirty="0" err="1"/>
                  <a:t>value</a:t>
                </a:r>
                <a:r>
                  <a:rPr lang="es-ES_tradnl" dirty="0"/>
                  <a:t> tienen </a:t>
                </a:r>
                <a:r>
                  <a:rPr lang="es-ES_tradnl" i="1" dirty="0"/>
                  <a:t>ponderaciones</a:t>
                </a:r>
                <a:r>
                  <a:rPr lang="es-ES_tradnl" dirty="0"/>
                  <a:t> igual a cero para no entrar en una partición ni en los estadísticos.</a:t>
                </a:r>
              </a:p>
              <a:p>
                <a:pPr>
                  <a:lnSpc>
                    <a:spcPct val="150000"/>
                  </a:lnSpc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A8AC93A-75D9-3F8A-C503-175A081AB4D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27" r="-724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EE230A-B166-65B5-4320-F81FC4313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730066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0475D4-3D79-DB3D-5B34-58B5E51CED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2.Causal Random Forest: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Inferencia asintótica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F438C6E-AA46-6474-A4A4-3B199B71DC8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s-ES_tradnl" dirty="0"/>
                  <a:t>Para la construcción de los intervalos de confianza, requieren:</a:t>
                </a:r>
              </a:p>
              <a:p>
                <a:pPr marL="971550" lvl="1" indent="-514350">
                  <a:buFont typeface="+mj-lt"/>
                  <a:buAutoNum type="arabicPeriod"/>
                </a:pPr>
                <a:r>
                  <a:rPr lang="es-ES_tradnl" dirty="0"/>
                  <a:t>Submuestras de los datos de entrenamiento</a:t>
                </a:r>
              </a:p>
              <a:p>
                <a:pPr marL="971550" lvl="1" indent="-514350">
                  <a:buFont typeface="+mj-lt"/>
                  <a:buAutoNum type="arabicPeriod"/>
                </a:pPr>
                <a:r>
                  <a:rPr lang="es-ES_tradnl" dirty="0"/>
                  <a:t>Decisión de partición (Split) no incorpore información “</a:t>
                </a:r>
                <a:r>
                  <a:rPr lang="es-ES_tradnl" i="1" dirty="0"/>
                  <a:t>inapropiada</a:t>
                </a:r>
                <a:r>
                  <a:rPr lang="es-ES_tradnl" dirty="0"/>
                  <a:t>” de los </a:t>
                </a:r>
                <a:r>
                  <a:rPr lang="es-ES_tradnl" dirty="0" err="1"/>
                  <a:t>outcomes</a:t>
                </a:r>
                <a:r>
                  <a:rPr lang="es-ES_tradnl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s-ES_tradnl" dirty="0"/>
              </a:p>
              <a:p>
                <a:r>
                  <a:rPr lang="es-ES_tradnl" dirty="0"/>
                  <a:t>Propiedades asintóticas de causal </a:t>
                </a:r>
                <a:r>
                  <a:rPr lang="es-ES_tradnl" dirty="0" err="1"/>
                  <a:t>random</a:t>
                </a:r>
                <a:r>
                  <a:rPr lang="es-ES_tradnl" dirty="0"/>
                  <a:t> </a:t>
                </a:r>
                <a:r>
                  <a:rPr lang="es-ES_tradnl" dirty="0" err="1"/>
                  <a:t>forest</a:t>
                </a:r>
                <a:r>
                  <a:rPr lang="es-ES_tradnl" dirty="0"/>
                  <a:t>:</a:t>
                </a:r>
              </a:p>
              <a:p>
                <a:pPr lvl="1"/>
                <a:r>
                  <a:rPr lang="es-ES_tradnl" dirty="0"/>
                  <a:t>Muestran la consistencia</a:t>
                </a:r>
              </a:p>
              <a:p>
                <a:pPr lvl="1"/>
                <a:r>
                  <a:rPr lang="es-ES_tradnl" dirty="0"/>
                  <a:t>Muestran la distribución asintótica normal y centrada para submuestras de tamaño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s-ES_tradnl" dirty="0"/>
                  <a:t> menor que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s-ES_tradnl" dirty="0"/>
                  <a:t> (muestra de entrenamiento)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F438C6E-AA46-6474-A4A4-3B199B71DC8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27" t="-2907" r="-2051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99E64A-2EEF-DDD5-C8D4-D207CA3FC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42587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9301FB-3A84-C815-5E85-63D37842F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2.Causal Random Forest: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Consideraciones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29DC075-06F4-5F67-FA5D-D7DC1782AEF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s-ES_tradnl" dirty="0">
                    <a:solidFill>
                      <a:srgbClr val="002060"/>
                    </a:solidFill>
                  </a:rPr>
                  <a:t>Criterio de partición</a:t>
                </a:r>
                <a:r>
                  <a:rPr lang="es-ES_tradnl" dirty="0"/>
                  <a:t>: minimiza la suma de la pérdida del error al cuadrado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s-ES_tradnl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𝒥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</m:acc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 −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𝑌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s-ES_tradnl" dirty="0"/>
              </a:p>
              <a:p>
                <a:pPr marL="457200" lvl="1" indent="0">
                  <a:buNone/>
                </a:pPr>
                <a:r>
                  <a:rPr lang="es-ES_tradnl" dirty="0">
                    <a:ea typeface="Cambria Math" panose="02040503050406030204" pitchFamily="18" charset="0"/>
                  </a:rPr>
                  <a:t>Donde</a:t>
                </a:r>
                <a:r>
                  <a:rPr lang="en-US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𝒥</m:t>
                    </m:r>
                  </m:oMath>
                </a14:m>
                <a:r>
                  <a:rPr lang="es-ES_tradnl" dirty="0"/>
                  <a:t> es la submuestra de entrenamiento para predecir</a:t>
                </a:r>
              </a:p>
              <a:p>
                <a:r>
                  <a:rPr lang="es-ES_tradnl" dirty="0">
                    <a:solidFill>
                      <a:srgbClr val="002060"/>
                    </a:solidFill>
                  </a:rPr>
                  <a:t>Implicancia</a:t>
                </a:r>
                <a:r>
                  <a:rPr lang="es-ES_tradnl" dirty="0"/>
                  <a:t>: maximiza la varianza del estimador del tratamiento para la submuestra de predicción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</m:acc>
                    <m:d>
                      <m:d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es-ES_tradnl" dirty="0"/>
              </a:p>
              <a:p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29DC075-06F4-5F67-FA5D-D7DC1782AEF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27" t="-21512" r="-2292" b="-2907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4AB041-0CFB-C4B7-B008-5BA5B3E94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00487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0475D4-3D79-DB3D-5B34-58B5E51CED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2.Causal Random Forest: </a:t>
            </a:r>
            <a:r>
              <a:rPr lang="es-ES_tradnl" sz="40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Puntos importantes de las Simulaciones</a:t>
            </a:r>
            <a:endParaRPr lang="es-ES_tradnl" i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F438C6E-AA46-6474-A4A4-3B199B71DC8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ES_tradnl" dirty="0"/>
                  <a:t>Muestran que MSE de </a:t>
                </a:r>
                <a:r>
                  <a:rPr lang="es-ES_tradnl" dirty="0" err="1"/>
                  <a:t>random</a:t>
                </a:r>
                <a:r>
                  <a:rPr lang="es-ES_tradnl" dirty="0"/>
                  <a:t> </a:t>
                </a:r>
                <a:r>
                  <a:rPr lang="es-ES_tradnl" dirty="0" err="1"/>
                  <a:t>forest</a:t>
                </a:r>
                <a:r>
                  <a:rPr lang="es-ES_tradnl" dirty="0"/>
                  <a:t> es &lt; 10-KNN  y 100-KNN 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s-ES_tradnl" dirty="0"/>
                  <a:t>MSE de Random Forest cae cuando aumenta el número de árboles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endParaRPr lang="es-ES_tradnl" dirty="0"/>
              </a:p>
              <a:p>
                <a:pPr lvl="1">
                  <a:lnSpc>
                    <a:spcPct val="150000"/>
                  </a:lnSpc>
                </a:pPr>
                <a:r>
                  <a:rPr lang="es-ES_tradnl" dirty="0"/>
                  <a:t>MSE de Random Forest no cambia significativamente a medida que aumentan el número de predictores para los árboles 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s-ES_tradnl" dirty="0"/>
                  <a:t>)</a:t>
                </a:r>
              </a:p>
              <a:p>
                <a:pPr>
                  <a:lnSpc>
                    <a:spcPct val="150000"/>
                  </a:lnSpc>
                </a:pPr>
                <a:r>
                  <a:rPr lang="es-ES_tradnl" dirty="0"/>
                  <a:t>Causal </a:t>
                </a:r>
                <a:r>
                  <a:rPr lang="es-ES_tradnl" dirty="0" err="1"/>
                  <a:t>forest</a:t>
                </a:r>
                <a:r>
                  <a:rPr lang="es-ES_tradnl" dirty="0"/>
                  <a:t> tiene arboles individuales más flexible que Random Forest para hacer las particiones -&gt; aumenta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s-ES_tradnl" dirty="0"/>
                  <a:t>,  reduce la correlación entre árboles y baja la varianza total del </a:t>
                </a:r>
                <a:r>
                  <a:rPr lang="es-ES_tradnl" dirty="0" err="1"/>
                  <a:t>forest</a:t>
                </a:r>
                <a:endParaRPr lang="es-ES_tradnl" dirty="0"/>
              </a:p>
              <a:p>
                <a:pPr>
                  <a:lnSpc>
                    <a:spcPct val="150000"/>
                  </a:lnSpc>
                </a:pPr>
                <a:endParaRPr lang="es-ES_tradnl" dirty="0"/>
              </a:p>
              <a:p>
                <a:pPr>
                  <a:lnSpc>
                    <a:spcPct val="150000"/>
                  </a:lnSpc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F438C6E-AA46-6474-A4A4-3B199B71DC8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06" b="-1163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99E64A-2EEF-DDD5-C8D4-D207CA3FC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8549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3026</TotalTime>
  <Words>2605</Words>
  <Application>Microsoft Macintosh PowerPoint</Application>
  <PresentationFormat>Panorámica</PresentationFormat>
  <Paragraphs>312</Paragraphs>
  <Slides>42</Slides>
  <Notes>14</Notes>
  <HiddenSlides>0</HiddenSlides>
  <MMClips>0</MMClips>
  <ScaleCrop>false</ScaleCrop>
  <HeadingPairs>
    <vt:vector size="6" baseType="variant">
      <vt:variant>
        <vt:lpstr>Fuentes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42</vt:i4>
      </vt:variant>
    </vt:vector>
  </HeadingPairs>
  <TitlesOfParts>
    <vt:vector size="52" baseType="lpstr">
      <vt:lpstr>Arial</vt:lpstr>
      <vt:lpstr>Calibri</vt:lpstr>
      <vt:lpstr>Cambria Math</vt:lpstr>
      <vt:lpstr>Courier</vt:lpstr>
      <vt:lpstr>Gill Sans Nova Light</vt:lpstr>
      <vt:lpstr>Goudy Old Style</vt:lpstr>
      <vt:lpstr>LMRoman10</vt:lpstr>
      <vt:lpstr>Times</vt:lpstr>
      <vt:lpstr>Times New Roman</vt:lpstr>
      <vt:lpstr>Office Theme</vt:lpstr>
      <vt:lpstr> Repaso de CART y Ensamble,  Aplicaciones &amp; Extensiones</vt:lpstr>
      <vt:lpstr>Cuestiones operativas del curso</vt:lpstr>
      <vt:lpstr>En la clase de hoy</vt:lpstr>
      <vt:lpstr>Repaso breve de las clases anteriores</vt:lpstr>
      <vt:lpstr>Ilustración del árbol y las particiones</vt:lpstr>
      <vt:lpstr>Árboles CART: Problemas de Alta Varianza</vt:lpstr>
      <vt:lpstr>Solución más sofisticada: Método de Ensamble</vt:lpstr>
      <vt:lpstr>Métodos Basados en Arboles</vt:lpstr>
      <vt:lpstr>Una aplicación en finanzas públicas </vt:lpstr>
      <vt:lpstr>Motivación: Debate de teorías </vt:lpstr>
      <vt:lpstr>Objetivos del paper</vt:lpstr>
      <vt:lpstr>Métodos y Datos usados en el paper</vt:lpstr>
      <vt:lpstr>Resultados Principales</vt:lpstr>
      <vt:lpstr>Conclusiones importantes de los resultados</vt:lpstr>
      <vt:lpstr>Conditional trees</vt:lpstr>
      <vt:lpstr>Motivacion: Ventaja estadística e ilustrativa</vt:lpstr>
      <vt:lpstr>Conditional Trees: Motivación  técnica </vt:lpstr>
      <vt:lpstr>Conditional Trees: Motivación II</vt:lpstr>
      <vt:lpstr>Algoritmo de árboles: Comparación</vt:lpstr>
      <vt:lpstr>Conditional Tree: Consideraciones del Algoritmo I</vt:lpstr>
      <vt:lpstr>Conditional Tree: Ilustración</vt:lpstr>
      <vt:lpstr>Athey y Compañía: 2 trabajos de Random Forest y Economía Aplicada</vt:lpstr>
      <vt:lpstr>Wager &amp; Athey (2018): Contribución  principal</vt:lpstr>
      <vt:lpstr>Causal Random Forest: Objetivo</vt:lpstr>
      <vt:lpstr>Causal Random Forest: Definición de Causal Tree</vt:lpstr>
      <vt:lpstr>Causal Random Forest: Procedimientos para obtener “árboles honestos”</vt:lpstr>
      <vt:lpstr>Causal Random Forest: Comparación de árboles </vt:lpstr>
      <vt:lpstr>Causal Random Forest: Ilustración de estimación de los Efectos heterogéneos</vt:lpstr>
      <vt:lpstr>Wager &amp; Athey (2018): Consideraciones finales</vt:lpstr>
      <vt:lpstr>Athey, Tbshirani &amp; Wager (2019): Contribución principal</vt:lpstr>
      <vt:lpstr>Athey, Tbshirani &amp; Wager (2019): Aplicaciones principales</vt:lpstr>
      <vt:lpstr>Athey, Tbshirani &amp; Wager (2019): Limitaciones</vt:lpstr>
      <vt:lpstr>Conclusiones finales</vt:lpstr>
      <vt:lpstr>¿Qué aprendimos hoy?</vt:lpstr>
      <vt:lpstr>¿Qué aprendimos hoy?</vt:lpstr>
      <vt:lpstr>¿Dudas, consultas?</vt:lpstr>
      <vt:lpstr>Consideraciones técnicas de los papers discutidos hoy</vt:lpstr>
      <vt:lpstr>1.Conditional Tree: Consideraciones del Algoritmo II</vt:lpstr>
      <vt:lpstr>1.Conditional Tree: Consideraciones del Algoritmo III</vt:lpstr>
      <vt:lpstr>2.Causal Random Forest: Inferencia asintótica</vt:lpstr>
      <vt:lpstr>2.Causal Random Forest: Consideraciones</vt:lpstr>
      <vt:lpstr>2.Causal Random Forest: Puntos importantes de las Simulaciones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Big data, Aprendizaje y Minería de Datos:  Perspectivas, ideas y herramientas para economistas</dc:title>
  <dc:creator>Romero, Maria Noelia</dc:creator>
  <cp:lastModifiedBy>Noelia Romero</cp:lastModifiedBy>
  <cp:revision>160</cp:revision>
  <dcterms:created xsi:type="dcterms:W3CDTF">2023-06-12T20:51:31Z</dcterms:created>
  <dcterms:modified xsi:type="dcterms:W3CDTF">2025-12-04T20:55:59Z</dcterms:modified>
</cp:coreProperties>
</file>