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423" r:id="rId2"/>
    <p:sldId id="497" r:id="rId3"/>
    <p:sldId id="347" r:id="rId4"/>
    <p:sldId id="370" r:id="rId5"/>
    <p:sldId id="420" r:id="rId6"/>
    <p:sldId id="274" r:id="rId7"/>
    <p:sldId id="421" r:id="rId8"/>
    <p:sldId id="422" r:id="rId9"/>
    <p:sldId id="261" r:id="rId10"/>
    <p:sldId id="372" r:id="rId11"/>
    <p:sldId id="375" r:id="rId12"/>
    <p:sldId id="471" r:id="rId13"/>
    <p:sldId id="472" r:id="rId14"/>
    <p:sldId id="473" r:id="rId15"/>
    <p:sldId id="474" r:id="rId16"/>
    <p:sldId id="359" r:id="rId17"/>
    <p:sldId id="501" r:id="rId18"/>
    <p:sldId id="476" r:id="rId19"/>
    <p:sldId id="477" r:id="rId20"/>
    <p:sldId id="269" r:id="rId21"/>
    <p:sldId id="478" r:id="rId22"/>
    <p:sldId id="479" r:id="rId23"/>
    <p:sldId id="480" r:id="rId24"/>
    <p:sldId id="488" r:id="rId25"/>
    <p:sldId id="482" r:id="rId26"/>
    <p:sldId id="504" r:id="rId27"/>
    <p:sldId id="505" r:id="rId28"/>
    <p:sldId id="506" r:id="rId29"/>
    <p:sldId id="507" r:id="rId30"/>
    <p:sldId id="508" r:id="rId31"/>
    <p:sldId id="509" r:id="rId32"/>
    <p:sldId id="483" r:id="rId33"/>
    <p:sldId id="510" r:id="rId34"/>
    <p:sldId id="337" r:id="rId35"/>
    <p:sldId id="503" r:id="rId36"/>
    <p:sldId id="44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7"/>
          </p14:sldIdLst>
        </p14:section>
        <p14:section name="Bagging" id="{4362B0FE-8FD8-7F47-A3FA-AE64BB60E499}">
          <p14:sldIdLst>
            <p14:sldId id="347"/>
            <p14:sldId id="370"/>
            <p14:sldId id="420"/>
            <p14:sldId id="274"/>
            <p14:sldId id="421"/>
            <p14:sldId id="422"/>
            <p14:sldId id="261"/>
            <p14:sldId id="372"/>
            <p14:sldId id="375"/>
          </p14:sldIdLst>
        </p14:section>
        <p14:section name="Random Forest" id="{0EBCA84C-6837-1443-ABA4-6B235619745E}">
          <p14:sldIdLst>
            <p14:sldId id="471"/>
            <p14:sldId id="472"/>
            <p14:sldId id="473"/>
            <p14:sldId id="474"/>
            <p14:sldId id="359"/>
            <p14:sldId id="501"/>
            <p14:sldId id="476"/>
            <p14:sldId id="477"/>
            <p14:sldId id="269"/>
            <p14:sldId id="478"/>
            <p14:sldId id="479"/>
            <p14:sldId id="480"/>
            <p14:sldId id="488"/>
            <p14:sldId id="482"/>
          </p14:sldIdLst>
        </p14:section>
        <p14:section name="Boosting" id="{6F4B11F4-6A4A-3F49-8F69-5A50384744F0}">
          <p14:sldIdLst>
            <p14:sldId id="504"/>
            <p14:sldId id="505"/>
            <p14:sldId id="506"/>
            <p14:sldId id="507"/>
            <p14:sldId id="508"/>
            <p14:sldId id="509"/>
          </p14:sldIdLst>
        </p14:section>
        <p14:section name="Comparando los tres métodos" id="{4B2FE170-BECF-0B4B-847E-88DD93B59D92}">
          <p14:sldIdLst>
            <p14:sldId id="483"/>
            <p14:sldId id="510"/>
          </p14:sldIdLst>
        </p14:section>
        <p14:section name="Conclusiones finales" id="{30AE4762-25DE-C74D-AF95-4AEC0CC37FB0}">
          <p14:sldIdLst>
            <p14:sldId id="337"/>
            <p14:sldId id="503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/>
    <p:restoredTop sz="82897"/>
  </p:normalViewPr>
  <p:slideViewPr>
    <p:cSldViewPr snapToGrid="0">
      <p:cViewPr varScale="1">
        <p:scale>
          <a:sx n="87" d="100"/>
          <a:sy n="87" d="100"/>
        </p:scale>
        <p:origin x="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19/11/25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77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348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8758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2541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C421-9F65-2C45-CA48-FE70997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AB168-2827-F098-1ED6-85B197FEB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941C1-85B7-97D9-4CBD-08EC2BE6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 este gráfico, el eje x es </a:t>
            </a:r>
            <a:r>
              <a:rPr lang="es-ES_tradnl" b="1" dirty="0"/>
              <a:t>número de observaciones</a:t>
            </a:r>
            <a:r>
              <a:rPr lang="es-ES_tradnl" b="0" dirty="0"/>
              <a:t> en los nodos terminales (no número de nodos terminales). Ambas medidas se mueven juntas. Mientras más nodos terminales tenemos, más particiones del espacio de predictores, y menor número de observaciones en los nodos terminales. Entonces, si uno tiene particiones donde dejamos solo 5 observaciones en los nodos terminales, el árbol es mas “profundo” (</a:t>
            </a:r>
            <a:r>
              <a:rPr lang="es-ES_tradnl" b="1" dirty="0"/>
              <a:t>Deep</a:t>
            </a:r>
            <a:r>
              <a:rPr lang="es-ES_tradnl" b="0" dirty="0"/>
              <a:t>) pero nuestro error de predicción afuera de la muestra empeora. En otras palabras, estamos </a:t>
            </a:r>
            <a:r>
              <a:rPr lang="es-ES_tradnl" b="0" dirty="0" err="1"/>
              <a:t>sobreajustando</a:t>
            </a:r>
            <a:r>
              <a:rPr lang="es-ES_tradnl" b="0" dirty="0"/>
              <a:t> la predicción a los datos dentro de la muestra, pero somos peores prediciendo afuera, por eso aumenta el MSE de testeo.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73EC9-3BAB-1CE3-5773-8A96A63BC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3538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9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Fuente: https://</a:t>
            </a:r>
            <a:r>
              <a:rPr lang="es-ES_tradnl" dirty="0" err="1"/>
              <a:t>www.analyticsvidhya.com</a:t>
            </a:r>
            <a:r>
              <a:rPr lang="es-ES_tradnl" dirty="0"/>
              <a:t>/blog/2015/11/</a:t>
            </a:r>
            <a:r>
              <a:rPr lang="es-ES_tradnl" dirty="0" err="1"/>
              <a:t>quick</a:t>
            </a:r>
            <a:r>
              <a:rPr lang="es-ES_tradnl" dirty="0"/>
              <a:t>-</a:t>
            </a:r>
            <a:r>
              <a:rPr lang="es-ES_tradnl" dirty="0" err="1"/>
              <a:t>introduction</a:t>
            </a:r>
            <a:r>
              <a:rPr lang="es-ES_tradnl" dirty="0"/>
              <a:t>-</a:t>
            </a:r>
            <a:r>
              <a:rPr lang="es-ES_tradnl" dirty="0" err="1"/>
              <a:t>boosting</a:t>
            </a:r>
            <a:r>
              <a:rPr lang="es-ES_tradnl" dirty="0"/>
              <a:t>-</a:t>
            </a:r>
            <a:r>
              <a:rPr lang="es-ES_tradnl" dirty="0" err="1"/>
              <a:t>algorithms</a:t>
            </a:r>
            <a:r>
              <a:rPr lang="es-ES_tradnl" dirty="0"/>
              <a:t>-machine-learning/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085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adicional a chequear: https://</a:t>
            </a:r>
            <a:r>
              <a:rPr lang="es-ES_tradnl" dirty="0" err="1"/>
              <a:t>medium.com</a:t>
            </a:r>
            <a:r>
              <a:rPr lang="es-ES_tradnl" dirty="0"/>
              <a:t>/@</a:t>
            </a:r>
            <a:r>
              <a:rPr lang="es-ES_tradnl" dirty="0" err="1"/>
              <a:t>jvpnath</a:t>
            </a:r>
            <a:r>
              <a:rPr lang="es-ES_tradnl" dirty="0"/>
              <a:t>/adaboost-vs-gradient-boosting-two-roads-to-smarter-machines-04c613384900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349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0085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34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11/19/25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Métodos de Ensamble: 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Bagging, Random Forest &amp; Boosting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6756560" cy="859869"/>
          </a:xfrm>
        </p:spPr>
        <p:txBody>
          <a:bodyPr anchor="t">
            <a:normAutofit/>
          </a:bodyPr>
          <a:lstStyle/>
          <a:p>
            <a:r>
              <a:rPr lang="es-ES_tradnl" sz="4000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8.7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830C-DCB6-63EE-6D0C-5D9C2506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 e Idea  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Bagging: </a:t>
                </a:r>
                <a:r>
                  <a:rPr lang="es-ES_tradnl" dirty="0">
                    <a:solidFill>
                      <a:srgbClr val="002060"/>
                    </a:solidFill>
                  </a:rPr>
                  <a:t>Bootstrap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Aggregation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Bootstrap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</a:t>
                </a:r>
                <a:r>
                  <a:rPr lang="es-ES_tradnl" dirty="0">
                    <a:solidFill>
                      <a:srgbClr val="002060"/>
                    </a:solidFill>
                  </a:rPr>
                  <a:t> entrenamiento</a:t>
                </a:r>
                <a:r>
                  <a:rPr lang="es-ES_tradnl" dirty="0"/>
                  <a:t>: tomar como predicción el promedio de las predicciones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Aclaración: Se puede usar con árboles como con otro modelo visto en clase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la varianza del promedio es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</a:t>
                </a:r>
                <a:r>
                  <a:rPr lang="es-ES_tradnl" dirty="0"/>
                  <a:t> que la de una predicción sola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b="-127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9E9A5-45D0-3F8F-2E8C-0C45EFAB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1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4E13-2618-54C9-E094-9A21696F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Tomar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 nuestra muestra de entrenamiento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un árbol para cada muestra y hacer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predicciones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AutoNum type="arabicPeriod" startAt="3"/>
                </a:pPr>
                <a:r>
                  <a:rPr lang="es-ES_tradnl" dirty="0"/>
                  <a:t>Tomar el promedio de las predicciones: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A08C-CAD0-1E4B-9661-0EF52DD1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0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Bagging: </a:t>
            </a:r>
            <a:r>
              <a:rPr lang="es-ES_tradnl" i="1">
                <a:solidFill>
                  <a:schemeClr val="tx1">
                    <a:lumMod val="50000"/>
                    <a:lumOff val="50000"/>
                  </a:schemeClr>
                </a:solidFill>
              </a:rPr>
              <a:t>Ilustracion</a:t>
            </a:r>
            <a:r>
              <a:rPr lang="es-ES_tradnl"/>
              <a:t> </a:t>
            </a:r>
          </a:p>
        </p:txBody>
      </p:sp>
      <p:pic>
        <p:nvPicPr>
          <p:cNvPr id="6" name="Content Placeholder 5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65D3D5CC-CFB5-A0AB-4300-15C0A6E9E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33304" y="1430864"/>
            <a:ext cx="4935942" cy="47460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E5E67-75A8-ACF2-7DD7-A216C6DD7CDF}"/>
              </a:ext>
            </a:extLst>
          </p:cNvPr>
          <p:cNvSpPr txBox="1"/>
          <p:nvPr/>
        </p:nvSpPr>
        <p:spPr>
          <a:xfrm>
            <a:off x="3957403" y="6123543"/>
            <a:ext cx="3994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latin typeface="Gill Sans Nova Light" panose="020B0302020104020203" pitchFamily="34" charset="0"/>
              </a:rPr>
              <a:t>Fuente: </a:t>
            </a:r>
            <a:r>
              <a:rPr lang="es-ES_tradnl" dirty="0" err="1">
                <a:latin typeface="Gill Sans Nova Light" panose="020B0302020104020203" pitchFamily="34" charset="0"/>
              </a:rPr>
              <a:t>Kovacevic</a:t>
            </a:r>
            <a:r>
              <a:rPr lang="es-ES_tradnl" dirty="0">
                <a:latin typeface="Gill Sans Nova Light" panose="020B0302020104020203" pitchFamily="34" charset="0"/>
              </a:rPr>
              <a:t> et al (2021) </a:t>
            </a:r>
            <a:r>
              <a:rPr lang="es-ES_tradnl" dirty="0" err="1">
                <a:latin typeface="Gill Sans Nova Light" panose="020B0302020104020203" pitchFamily="34" charset="0"/>
              </a:rPr>
              <a:t>pag</a:t>
            </a:r>
            <a:r>
              <a:rPr lang="es-ES_tradnl" dirty="0">
                <a:latin typeface="Gill Sans Nova Light" panose="020B0302020104020203" pitchFamily="34" charset="0"/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72273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 del método de Bagging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muestra es </a:t>
                </a:r>
                <a:r>
                  <a:rPr lang="es-ES_tradnl" dirty="0">
                    <a:solidFill>
                      <a:srgbClr val="002060"/>
                    </a:solidFill>
                  </a:rPr>
                  <a:t>profundo</a:t>
                </a:r>
                <a:r>
                  <a:rPr lang="es-ES_tradnl" dirty="0"/>
                  <a:t> (</a:t>
                </a:r>
                <a:r>
                  <a:rPr lang="es-ES_tradnl" dirty="0">
                    <a:solidFill>
                      <a:srgbClr val="002060"/>
                    </a:solidFill>
                  </a:rPr>
                  <a:t>Deep</a:t>
                </a:r>
                <a:r>
                  <a:rPr lang="es-ES_tradnl" dirty="0"/>
                  <a:t>, con muchos nodos terminales) y no se poda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Cada árbol tiene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</a:t>
                </a:r>
                <a:r>
                  <a:rPr lang="es-ES_tradnl" dirty="0"/>
                  <a:t> varianza y </a:t>
                </a:r>
                <a:r>
                  <a:rPr lang="es-ES_tradnl" dirty="0">
                    <a:solidFill>
                      <a:srgbClr val="00B050"/>
                    </a:solidFill>
                  </a:rPr>
                  <a:t>bajo</a:t>
                </a:r>
                <a:r>
                  <a:rPr lang="es-ES_tradnl" dirty="0"/>
                  <a:t> sesgo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Resultado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Bajamos</a:t>
                </a:r>
                <a:r>
                  <a:rPr lang="es-ES_tradnl" dirty="0"/>
                  <a:t> la varianza de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y aumentamos nuestro poder de predicción afuera de la muestra de entrenamiento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810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Clasificación</a:t>
            </a:r>
            <a:r>
              <a:rPr lang="es-ES_tradnl" dirty="0"/>
              <a:t>: usar voto por mayoría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predicción es la categoría que más ocurre entre las B muestras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En la práctica</a:t>
            </a:r>
            <a:r>
              <a:rPr lang="es-ES_tradnl" dirty="0"/>
              <a:t>: B ∼ 100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Out-of-bag (OOB) prediction</a:t>
            </a:r>
            <a:r>
              <a:rPr lang="es-ES_tradnl" dirty="0"/>
              <a:t>: En vez de usar el error de CV, usar las observaciones que no entraron sorteadas al Bootstrap dentro de la muestra de entrenamiento. Luego tomar promedio.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0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9865" cy="1325563"/>
          </a:xfrm>
        </p:spPr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error de CV vs. OOB</a:t>
            </a:r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AC0EE16-F4E8-6EAD-BADC-AF36EF3B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503" y="1622860"/>
            <a:ext cx="4828033" cy="45541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D8664-2B36-C0D7-7E3D-85B4A6A1CD29}"/>
              </a:ext>
            </a:extLst>
          </p:cNvPr>
          <p:cNvSpPr txBox="1"/>
          <p:nvPr/>
        </p:nvSpPr>
        <p:spPr>
          <a:xfrm>
            <a:off x="3681983" y="620546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p.344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773084-DF2C-7535-8E96-C7D50C54E48F}"/>
              </a:ext>
            </a:extLst>
          </p:cNvPr>
          <p:cNvSpPr/>
          <p:nvPr/>
        </p:nvSpPr>
        <p:spPr>
          <a:xfrm>
            <a:off x="3890356" y="2394063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4B2F61-FA0F-13AB-CDBA-7C186A93DE20}"/>
              </a:ext>
            </a:extLst>
          </p:cNvPr>
          <p:cNvSpPr/>
          <p:nvPr/>
        </p:nvSpPr>
        <p:spPr>
          <a:xfrm>
            <a:off x="3997836" y="3291840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62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Arboles</a:t>
                </a:r>
                <a:r>
                  <a:rPr lang="es-ES_tradnl" dirty="0"/>
                  <a:t>: Variable más importante -&gt; 1er Split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Usar  RSS (Regresión) o Gini </a:t>
                </a:r>
                <a:r>
                  <a:rPr lang="es-ES_tradnl" dirty="0" err="1"/>
                  <a:t>index</a:t>
                </a:r>
                <a:r>
                  <a:rPr lang="es-ES_tradnl" dirty="0"/>
                  <a:t> (Clasificación)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Cuánto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RSS</a:t>
                </a:r>
                <a:r>
                  <a:rPr lang="es-ES_tradnl" dirty="0"/>
                  <a:t>, con la partición de un predictor en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árboles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Valores altos indican la importancia del predictor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number of red bars&#10;&#10;Description automatically generated with medium confidence">
            <a:extLst>
              <a:ext uri="{FF2B5EF4-FFF2-40B4-BE49-F238E27FC236}">
                <a16:creationId xmlns:a16="http://schemas.microsoft.com/office/drawing/2014/main" id="{FAAF21E0-C3A8-D575-3F31-9483CDED1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9493" y="1528997"/>
            <a:ext cx="4728800" cy="46479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1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9375-7BA2-40C0-03E9-5169D745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Una muestra -&gt; Un árbol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</a:t>
                </a:r>
                <a:r>
                  <a:rPr lang="es-ES_tradnl" dirty="0" err="1"/>
                  <a:t>overfit</a:t>
                </a:r>
                <a:r>
                  <a:rPr lang="es-ES_tradnl" dirty="0"/>
                  <a:t> en cada submuestra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Un predictor importa mucho -&gt; siempre estará 1ro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todos los árboles serán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parecidos</a:t>
                </a:r>
                <a:r>
                  <a:rPr lang="es-ES_tradnl" dirty="0"/>
                  <a:t>, los árboles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correlacionados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b="1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Forest (clase que viene)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56A5A-59C7-A321-AF97-B6D758C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0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Random Forest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8.2.2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15</a:t>
            </a:r>
          </a:p>
          <a:p>
            <a:r>
              <a:rPr lang="en-US" dirty="0" err="1"/>
              <a:t>Efron</a:t>
            </a:r>
            <a:r>
              <a:rPr lang="en-US" dirty="0"/>
              <a:t>, B., &amp; Hastie, T. (2016). </a:t>
            </a:r>
            <a:r>
              <a:rPr lang="en-US" i="1" dirty="0"/>
              <a:t>Computer age statistical inference.</a:t>
            </a:r>
            <a:r>
              <a:rPr lang="en-US" b="1" dirty="0"/>
              <a:t> Chap. 15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intuitiva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de Bagging</a:t>
                </a:r>
                <a:r>
                  <a:rPr lang="es-ES_tradnl" dirty="0"/>
                  <a:t>: con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</a:t>
                </a:r>
                <a:r>
                  <a:rPr lang="es-ES_tradnl" dirty="0" err="1"/>
                  <a:t>bootstrapeadas</a:t>
                </a:r>
                <a:r>
                  <a:rPr lang="es-ES_tradnl" dirty="0"/>
                  <a:t> puede pasar que los </a:t>
                </a:r>
                <a:r>
                  <a:rPr lang="es-ES_tradnl" dirty="0">
                    <a:solidFill>
                      <a:srgbClr val="002060"/>
                    </a:solidFill>
                  </a:rPr>
                  <a:t>árboles correlacionados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hay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variable importante</a:t>
                </a:r>
                <a:r>
                  <a:rPr lang="es-ES_tradnl" dirty="0"/>
                  <a:t>, siempre esta </a:t>
                </a:r>
                <a:r>
                  <a:rPr lang="es-ES_tradnl" dirty="0">
                    <a:solidFill>
                      <a:srgbClr val="00B050"/>
                    </a:solidFill>
                  </a:rPr>
                  <a:t>primero</a:t>
                </a:r>
                <a:r>
                  <a:rPr lang="es-ES_tradnl" dirty="0"/>
                  <a:t>. Entonces, todos los árboles serán muy similares.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de Random Forest</a:t>
                </a:r>
                <a:r>
                  <a:rPr lang="es-ES_tradnl" dirty="0"/>
                  <a:t>: Bajar la correlación entre los árboles de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8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formal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 de Método Ensamble: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i.i.d</a:t>
                </a:r>
                <a:r>
                  <a:rPr lang="es-ES_tradnl" dirty="0"/>
                  <a:t> 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i.d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(no independientes) </a:t>
                </a:r>
                <a:r>
                  <a:rPr lang="es-ES_tradnl" dirty="0"/>
                  <a:t>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correlación positiva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/>
                  <a:t> 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 del promedio</a:t>
                </a:r>
                <a:r>
                  <a:rPr lang="es-ES_tradnl" dirty="0"/>
                  <a:t>: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Si aumenta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, 2do termino </a:t>
                </a:r>
                <a:r>
                  <a:rPr lang="es-ES_tradnl" dirty="0">
                    <a:solidFill>
                      <a:srgbClr val="00B050"/>
                    </a:solidFill>
                  </a:rPr>
                  <a:t>decrece</a:t>
                </a:r>
                <a:r>
                  <a:rPr lang="es-ES_tradnl" dirty="0"/>
                  <a:t>. 1er termino </a:t>
                </a:r>
                <a:r>
                  <a:rPr lang="es-ES_tradnl" dirty="0">
                    <a:solidFill>
                      <a:srgbClr val="FF0000"/>
                    </a:solidFill>
                  </a:rPr>
                  <a:t>no cambia </a:t>
                </a:r>
                <a:r>
                  <a:rPr lang="es-ES_tradnl" dirty="0"/>
                  <a:t>y depende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</a:t>
                </a:r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Bajar la varianza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bajando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entre los árboles </a:t>
                </a:r>
                <a:r>
                  <a:rPr lang="es-ES_tradnl" dirty="0"/>
                  <a:t>Bootstrap (típicamente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ES_tradnl" dirty="0"/>
                  <a:t> entre arboles)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¿Cómo?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Aleatorizando los predictores</a:t>
                </a:r>
                <a:r>
                  <a:rPr lang="es-ES_tradnl" dirty="0"/>
                  <a:t> cuando se arma el árbol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4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AFFF-A5E0-379E-A89A-3C5380DD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Ranfom</a:t>
            </a:r>
            <a:r>
              <a:rPr lang="en-US" dirty="0"/>
              <a:t> Forest: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Para </a:t>
                </a:r>
                <a:r>
                  <a:rPr lang="en-US" b="0" dirty="0" err="1"/>
                  <a:t>cada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dirty="0"/>
                  <a:t> 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 una muestra </a:t>
                </a:r>
                <a:r>
                  <a:rPr lang="es-ES_tradnl" dirty="0" err="1"/>
                  <a:t>bootstrap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de los datos de entrenamiento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una de esas muestras armar un </a:t>
                </a:r>
                <a:r>
                  <a:rPr lang="es-ES_tradnl" i="1" dirty="0" err="1"/>
                  <a:t>random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forest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s-ES_tradnl" dirty="0"/>
                  <a:t> aplicando recursivamente: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Seleccionar aleatoriamente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variables </a:t>
                </a: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posibles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Tomar la mejor variable y el mejor punto de partición dentro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Dividir el nodo en dos nuevos nodos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Con el conjunto de árboles resultante calcular la predicción:</a:t>
                </a:r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Regresion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Clasificacion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𝑣𝑜𝑡𝑜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𝑚𝑎𝑦𝑜𝑟𝑖𝑡𝑎𝑟𝑖𝑜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CA1D-1163-0ED9-FDDA-269BCB53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0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C219-B3FF-4130-896A-FD668610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se elige: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Regresion: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Clasificación: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/3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Depende</a:t>
                </a:r>
                <a:r>
                  <a:rPr lang="es-ES_tradnl" dirty="0"/>
                  <a:t> de la naturaleza del problema y los datos.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tunning</a:t>
                </a: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parameter</a:t>
                </a:r>
                <a:r>
                  <a:rPr lang="es-ES_tradnl" dirty="0">
                    <a:solidFill>
                      <a:srgbClr val="FF0000"/>
                    </a:solidFill>
                  </a:rPr>
                  <a:t>/complejidad </a:t>
                </a:r>
                <a:r>
                  <a:rPr lang="es-ES_tradnl" dirty="0"/>
                  <a:t>-&gt; elijo por CV</a:t>
                </a:r>
                <a:endParaRPr lang="es-ES_tradnl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𝑅𝑎𝑛𝑑𝑜𝑚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𝐹𝑜𝑟𝑒𝑠𝑡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err="1" smtClean="0">
                        <a:latin typeface="Cambria Math" panose="02040503050406030204" pitchFamily="18" charset="0"/>
                      </a:rPr>
                      <m:t>𝐵𝑎𝑔𝑔𝑖𝑛𝑔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muy chico, Random Forest puede tener mala performance en predecir el error de CV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 todos los estimadores se benefician de “</a:t>
                </a:r>
                <a:r>
                  <a:rPr lang="es-ES_tradnl" i="1" dirty="0" err="1"/>
                  <a:t>shaking</a:t>
                </a:r>
                <a:r>
                  <a:rPr lang="es-ES_tradnl" i="1" dirty="0"/>
                  <a:t> up </a:t>
                </a:r>
                <a:r>
                  <a:rPr lang="es-ES_tradnl" i="1" dirty="0" err="1"/>
                  <a:t>the</a:t>
                </a:r>
                <a:r>
                  <a:rPr lang="es-ES_tradnl" i="1" dirty="0"/>
                  <a:t> data</a:t>
                </a:r>
                <a:r>
                  <a:rPr lang="es-ES_tradnl" dirty="0"/>
                  <a:t>” como con la aleatorización de predictores en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Esta idea </a:t>
                </a:r>
                <a:r>
                  <a:rPr lang="es-ES_tradnl" dirty="0">
                    <a:solidFill>
                      <a:srgbClr val="00B050"/>
                    </a:solidFill>
                  </a:rPr>
                  <a:t>beneficia</a:t>
                </a:r>
                <a:r>
                  <a:rPr lang="es-ES_tradnl" dirty="0"/>
                  <a:t> a estimadores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 no linealidad </a:t>
                </a:r>
                <a:r>
                  <a:rPr lang="es-ES_tradnl" dirty="0"/>
                  <a:t>como los arboles 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3E450-667C-770D-D7BA-7D2BBA0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4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Random Forest: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Parámetro </a:t>
                </a:r>
                <a:r>
                  <a:rPr lang="es-ES_tradnl" i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tunning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Ejemplo de clasificación 1 de 14 categorías de cáncer 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s-ES_tradnl" dirty="0"/>
                  <a:t> predictores de genes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Bagging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En la práctica: usamos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lo suficientemente grande para q baje el error de predicción afuera de la muestra</a:t>
                </a:r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t="-1453" r="-31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B6326FA7-52BD-6F90-347C-BCE0BB8738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120373"/>
            <a:ext cx="5181600" cy="376184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4CE0-E335-46D3-73E4-B668F099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7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comparando métodos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Ejemplo</a:t>
                </a:r>
                <a:r>
                  <a:rPr lang="es-ES_tradnl" dirty="0"/>
                  <a:t>: Clasificación de email: spam o 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 err="1"/>
                  <a:t>Metodos</a:t>
                </a:r>
                <a:r>
                  <a:rPr lang="es-ES_tradnl" dirty="0"/>
                  <a:t> y parámetros: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Bagging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Random Forest: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Boosting</a:t>
                </a:r>
                <a:r>
                  <a:rPr lang="es-ES_tradnl" dirty="0"/>
                  <a:t>: arboles de 5 nodos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s-ES_tradnl" dirty="0"/>
                  <a:t>). 10-fold CV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numbers and lines&#10;&#10;Description automatically generated">
            <a:extLst>
              <a:ext uri="{FF2B5EF4-FFF2-40B4-BE49-F238E27FC236}">
                <a16:creationId xmlns:a16="http://schemas.microsoft.com/office/drawing/2014/main" id="{4D60F621-117C-F200-D8BD-CCAA09184B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57900" y="1282700"/>
            <a:ext cx="6058106" cy="47721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Out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Bag (OOB)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Samples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Para cada observación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construir el predictor de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promediando </a:t>
                </a:r>
                <a:r>
                  <a:rPr lang="es-ES_tradnl" b="1" dirty="0"/>
                  <a:t>solo</a:t>
                </a:r>
                <a:r>
                  <a:rPr lang="es-ES_tradnl" dirty="0"/>
                  <a:t> los árboles correspondientes a las muestras Bootstrap en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b="1" dirty="0"/>
                  <a:t>no aparece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1" dirty="0"/>
                  <a:t>Estimador de error OOB</a:t>
                </a:r>
                <a:r>
                  <a:rPr lang="es-ES_tradnl" dirty="0"/>
                  <a:t> casi similar a N-</a:t>
                </a:r>
                <a:r>
                  <a:rPr lang="es-ES_tradnl" dirty="0" err="1"/>
                  <a:t>fold</a:t>
                </a:r>
                <a:r>
                  <a:rPr lang="es-ES_tradnl" dirty="0"/>
                  <a:t> </a:t>
                </a:r>
                <a:r>
                  <a:rPr lang="es-ES_tradnl" dirty="0" err="1"/>
                  <a:t>cross-validation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Distinto al error 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A0E84256-BD6F-E5D0-EDD3-45674E6E82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094639" cy="37843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811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Importancia de una Variable</a:t>
            </a:r>
            <a:endParaRPr lang="es-ES_tradn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s-ES_tradnl" dirty="0"/>
              <a:t>En cada momento de partición en un árbol,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s-ES_tradnl" dirty="0">
                <a:solidFill>
                  <a:srgbClr val="002060"/>
                </a:solidFill>
              </a:rPr>
              <a:t>Mejora </a:t>
            </a:r>
            <a:r>
              <a:rPr lang="es-ES_tradnl" dirty="0"/>
              <a:t>del criterio de partición = </a:t>
            </a:r>
            <a:r>
              <a:rPr lang="es-ES_tradnl" dirty="0">
                <a:solidFill>
                  <a:srgbClr val="002060"/>
                </a:solidFill>
              </a:rPr>
              <a:t>medida de importancia atribuida </a:t>
            </a:r>
            <a:r>
              <a:rPr lang="es-ES_tradnl" dirty="0"/>
              <a:t>a la partición de cada variable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Diferencia clave con </a:t>
            </a:r>
            <a:r>
              <a:rPr lang="es-ES_tradnl" dirty="0" err="1">
                <a:solidFill>
                  <a:srgbClr val="002060"/>
                </a:solidFill>
              </a:rPr>
              <a:t>Boosting</a:t>
            </a:r>
            <a:r>
              <a:rPr lang="es-ES_tradnl" dirty="0"/>
              <a:t>: cada variable tiene la posibilidad de ser elegida como la más importante dentro del subconjunto </a:t>
            </a:r>
            <a:r>
              <a:rPr lang="es-ES_tradnl" i="1" dirty="0"/>
              <a:t>m</a:t>
            </a:r>
          </a:p>
          <a:p>
            <a:pPr>
              <a:lnSpc>
                <a:spcPct val="2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99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8C1CC4-2077-434E-BCF1-5D01C08A9B17}" type="slidenum">
              <a:rPr lang="en-US" sz="1200">
                <a:latin typeface="+mn-lt"/>
                <a:cs typeface="+mn-cs"/>
              </a:rPr>
              <a:pPr>
                <a:spcAft>
                  <a:spcPts val="600"/>
                </a:spcAft>
              </a:pPr>
              <a:t>21</a:t>
            </a:fld>
            <a:endParaRPr lang="en-US" sz="1200">
              <a:latin typeface="+mn-lt"/>
              <a:cs typeface="+mn-cs"/>
            </a:endParaRPr>
          </a:p>
        </p:txBody>
      </p:sp>
      <p:pic>
        <p:nvPicPr>
          <p:cNvPr id="13" name="Content Placeholder 12" descr="A comparison of a graph&#10;&#10;Description automatically generated">
            <a:extLst>
              <a:ext uri="{FF2B5EF4-FFF2-40B4-BE49-F238E27FC236}">
                <a16:creationId xmlns:a16="http://schemas.microsoft.com/office/drawing/2014/main" id="{C80D5F32-9E73-13A4-E248-AEB8FDD9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339" y="626268"/>
            <a:ext cx="6949321" cy="5605463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AED00-BF64-ED62-C021-FFD05E5228CC}"/>
              </a:ext>
            </a:extLst>
          </p:cNvPr>
          <p:cNvSpPr txBox="1"/>
          <p:nvPr/>
        </p:nvSpPr>
        <p:spPr>
          <a:xfrm>
            <a:off x="3155949" y="6211669"/>
            <a:ext cx="588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Gill Sans Nova Light" panose="020B0302020104020203" pitchFamily="34" charset="0"/>
              </a:rPr>
              <a:t>Fuente: Chapter 17 </a:t>
            </a:r>
            <a:r>
              <a:rPr lang="en-US" sz="1400" dirty="0" err="1">
                <a:latin typeface="Gill Sans Nova Light" panose="020B0302020104020203" pitchFamily="34" charset="0"/>
              </a:rPr>
              <a:t>en</a:t>
            </a:r>
            <a:r>
              <a:rPr lang="en-US" sz="1400" dirty="0">
                <a:latin typeface="Gill Sans Nova Light" panose="020B0302020104020203" pitchFamily="34" charset="0"/>
              </a:rPr>
              <a:t> </a:t>
            </a:r>
            <a:r>
              <a:rPr lang="en-US" sz="1400" dirty="0" err="1">
                <a:latin typeface="Gill Sans Nova Light" panose="020B0302020104020203" pitchFamily="34" charset="0"/>
              </a:rPr>
              <a:t>Efron</a:t>
            </a:r>
            <a:r>
              <a:rPr lang="en-US" sz="1400" dirty="0">
                <a:latin typeface="Gill Sans Nova Light" panose="020B0302020104020203" pitchFamily="34" charset="0"/>
              </a:rPr>
              <a:t>, B., &amp; Hastie, T. (2016). </a:t>
            </a:r>
            <a:r>
              <a:rPr lang="en-US" sz="1400" i="1" dirty="0">
                <a:latin typeface="Gill Sans Nova Light" panose="020B0302020104020203" pitchFamily="34" charset="0"/>
              </a:rPr>
              <a:t>Computer age statistical inference</a:t>
            </a:r>
            <a:endParaRPr lang="es-ES_tradnl" sz="1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73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, Random Forest puede tener </a:t>
                </a:r>
                <a:r>
                  <a:rPr lang="es-ES_tradnl" dirty="0">
                    <a:solidFill>
                      <a:srgbClr val="FF0000"/>
                    </a:solidFill>
                  </a:rPr>
                  <a:t>baja performance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Mayor sesgo </a:t>
                </a:r>
                <a:r>
                  <a:rPr lang="es-ES_tradnl" dirty="0"/>
                  <a:t>por no tener el set de variables relevantes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Random Forest es </a:t>
                </a:r>
                <a:r>
                  <a:rPr lang="es-ES_tradnl" dirty="0">
                    <a:solidFill>
                      <a:srgbClr val="002060"/>
                    </a:solidFill>
                  </a:rPr>
                  <a:t>robusto</a:t>
                </a:r>
                <a:r>
                  <a:rPr lang="es-ES_tradnl" dirty="0"/>
                  <a:t> a tener un </a:t>
                </a:r>
                <a:r>
                  <a:rPr lang="es-ES_tradnl" dirty="0" err="1"/>
                  <a:t>subset</a:t>
                </a:r>
                <a:r>
                  <a:rPr lang="es-ES_tradnl" dirty="0"/>
                  <a:t>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predictores con mucho ruido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la probabilidad de elegir las variables relevantes en el subconjunto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alta, entonces, no importa que haya muchas variables con ruido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58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Random Forest (RF)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b="0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no causa que RF sobreajuste los datos (como Boosting)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Solo si dejamos que cada uno de los árboles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sean muy grandes y hagan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de los datos de entrenamiento.</a:t>
                </a:r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97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626A-52F2-A9D6-CD5F-DD81DE54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A3C9-8E61-9482-275C-5CDE959C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Random Forest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a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menos que </a:t>
                </a:r>
                <a:r>
                  <a:rPr lang="es-ES_tradnl" dirty="0"/>
                  <a:t>dejemos que los arboles crezcan mucho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dirty="0"/>
                  <a:t> nodos terminales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s-ES_tradnl" dirty="0"/>
                  <a:t> observaciones en cada nodo,  </a:t>
                </a:r>
                <a:r>
                  <a:rPr lang="es-ES_tradnl" dirty="0">
                    <a:solidFill>
                      <a:srgbClr val="FF0000"/>
                    </a:solidFill>
                  </a:rPr>
                  <a:t>empeora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performance del error </a:t>
                </a:r>
                <a:r>
                  <a:rPr lang="es-ES_tradnl" dirty="0"/>
                  <a:t>de testeo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diagram of a number of blue boxes&#10;&#10;Description automatically generated">
            <a:extLst>
              <a:ext uri="{FF2B5EF4-FFF2-40B4-BE49-F238E27FC236}">
                <a16:creationId xmlns:a16="http://schemas.microsoft.com/office/drawing/2014/main" id="{D03AC4AE-15BF-D54F-9D2A-3164B2BF4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1825625"/>
            <a:ext cx="5774406" cy="39462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7681E-C84D-9A38-1E00-A33F8BD7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40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la de-correlación de árboles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está “</a:t>
                </a:r>
                <a:r>
                  <a:rPr lang="es-ES_tradnl" i="1" dirty="0"/>
                  <a:t>de-correlacionado</a:t>
                </a:r>
                <a:r>
                  <a:rPr lang="es-ES_tradnl" dirty="0"/>
                  <a:t>”: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Muestra </a:t>
                </a:r>
                <a:r>
                  <a:rPr lang="es-ES_tradnl" b="0" dirty="0" err="1"/>
                  <a:t>bootstrapeada</a:t>
                </a:r>
                <a:r>
                  <a:rPr lang="es-ES_tradnl" b="0" dirty="0"/>
                  <a:t> de datos de entrenamiento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Subconjunto aleatorio de predictores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seleccionados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Idea</a:t>
                </a:r>
                <a:r>
                  <a:rPr lang="es-ES_tradnl" dirty="0"/>
                  <a:t>: 2 arboles aleatorios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en un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son menos similares si usan distintas variables en el subconjunto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crece 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Menos</a:t>
                </a:r>
                <a:r>
                  <a:rPr lang="es-ES_tradnl" dirty="0"/>
                  <a:t> errores de predicción afuera de la muestra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  <a:tabLst>
                    <a:tab pos="677863" algn="l"/>
                  </a:tabLst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</a:t>
                </a:r>
                <a:r>
                  <a:rPr lang="es-ES_tradnl" dirty="0"/>
                  <a:t> correlación entre arboles dentro del Random Forest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4642CF-8F50-221D-651E-A1D514DDCD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83030"/>
            <a:ext cx="5181600" cy="42365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0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8.2.3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10.2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77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Similar a Bagging: crear muchos árboles para promediarlos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muestras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independientes-</a:t>
                </a:r>
                <a:r>
                  <a:rPr lang="es-ES_tradnl" dirty="0"/>
                  <a:t>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árboles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Diferencia con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Bagging</a:t>
                </a:r>
                <a:r>
                  <a:rPr lang="es-ES_tradnl" dirty="0"/>
                  <a:t>: los árboles crecen </a:t>
                </a:r>
                <a:r>
                  <a:rPr lang="es-ES_tradnl" dirty="0">
                    <a:solidFill>
                      <a:srgbClr val="002060"/>
                    </a:solidFill>
                  </a:rPr>
                  <a:t>secuencialmente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No hay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i="1" dirty="0"/>
                  <a:t>:</a:t>
                </a:r>
                <a:r>
                  <a:rPr lang="es-ES_tradnl" dirty="0"/>
                  <a:t> Cada árbol se ajusta basado en una versión modificada de los datos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arboles </a:t>
                </a:r>
                <a:r>
                  <a:rPr lang="es-ES_tradnl" dirty="0">
                    <a:solidFill>
                      <a:srgbClr val="0070C0"/>
                    </a:solidFill>
                  </a:rPr>
                  <a:t>secuenciales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cada paso el método da más importancia relativa a las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mal predichas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final</a:t>
                </a:r>
                <a:r>
                  <a:rPr lang="es-ES_tradnl" dirty="0"/>
                  <a:t>: promedio ponderado de predicciones en cada paso.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11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EB20-DE52-5EA3-A697-785D4423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AdaBoosting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 del aprendizaje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EEFD6-4656-AADE-CD94-2C52E01B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  <p:pic>
        <p:nvPicPr>
          <p:cNvPr id="8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FB058FFF-DDA7-8AD8-6FD6-1810A2F92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66403" b="54598"/>
          <a:stretch/>
        </p:blipFill>
        <p:spPr>
          <a:xfrm>
            <a:off x="3072181" y="2179784"/>
            <a:ext cx="2031834" cy="190353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CB90E-AF96-582A-F374-AF9498C54AEA}"/>
              </a:ext>
            </a:extLst>
          </p:cNvPr>
          <p:cNvSpPr txBox="1"/>
          <p:nvPr/>
        </p:nvSpPr>
        <p:spPr>
          <a:xfrm>
            <a:off x="3340513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36884-F08D-F088-80A0-97993F9701C9}"/>
              </a:ext>
            </a:extLst>
          </p:cNvPr>
          <p:cNvSpPr txBox="1"/>
          <p:nvPr/>
        </p:nvSpPr>
        <p:spPr>
          <a:xfrm>
            <a:off x="5306917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4CCCC-B0A1-2622-D970-F17CDFDE7A2E}"/>
              </a:ext>
            </a:extLst>
          </p:cNvPr>
          <p:cNvSpPr txBox="1"/>
          <p:nvPr/>
        </p:nvSpPr>
        <p:spPr>
          <a:xfrm>
            <a:off x="7273321" y="1598717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3</a:t>
            </a:r>
          </a:p>
        </p:txBody>
      </p:sp>
      <p:pic>
        <p:nvPicPr>
          <p:cNvPr id="7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BE2E50F3-DE58-DD1A-5F60-A6722E2B0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67" t="1385" r="33735" b="53212"/>
          <a:stretch/>
        </p:blipFill>
        <p:spPr>
          <a:xfrm>
            <a:off x="5169417" y="2249527"/>
            <a:ext cx="1856508" cy="1903530"/>
          </a:xfrm>
          <a:prstGeom prst="rect">
            <a:avLst/>
          </a:prstGeom>
        </p:spPr>
      </p:pic>
      <p:pic>
        <p:nvPicPr>
          <p:cNvPr id="9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1D16505C-C0BE-B15D-F961-83F6A58B3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54" r="2171" b="54598"/>
          <a:stretch/>
        </p:blipFill>
        <p:spPr>
          <a:xfrm>
            <a:off x="7087987" y="2179783"/>
            <a:ext cx="1818825" cy="1903530"/>
          </a:xfrm>
          <a:prstGeom prst="rect">
            <a:avLst/>
          </a:prstGeom>
        </p:spPr>
      </p:pic>
      <p:pic>
        <p:nvPicPr>
          <p:cNvPr id="10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C050EFFB-AD38-9FA1-15AB-42E713CA44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973"/>
          <a:stretch/>
        </p:blipFill>
        <p:spPr>
          <a:xfrm>
            <a:off x="3072181" y="4225181"/>
            <a:ext cx="6047638" cy="222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Boosting: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Arbol inicial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(residuos iguales a las observaciones) para toda observación en la muestra de entrenamiento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repetir:</a:t>
                </a:r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Computar el árbol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 particiones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nodos terminales) en la muestra de entrenamiento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Actualizar la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sumándole la versión reducida del nuevo árbol 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/>
                  <a:t>c. Actualizar los residuos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Predicción del modelo </a:t>
                </a:r>
                <a:r>
                  <a:rPr lang="es-ES_tradnl" dirty="0" err="1"/>
                  <a:t>boosted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  <a:blipFill>
                <a:blip r:embed="rId2"/>
                <a:stretch>
                  <a:fillRect l="-724" t="-802" r="-241" b="-197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14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Parámetros claves en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Numero de árboles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es muy grande -&gt;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cross-validation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Penalización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: número positivo pequeño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Controla la tasa a la que aprende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Valores típicos entre 0.01 y 0.001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Numero de particiones (profundidad)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controla la complejidad 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79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3B5B-D241-806F-9DA5-153751D7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A86F-9334-96E7-13A1-EBAB0229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Distinción de tipos de Boosting: 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Alternativas prácticas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AdaBoosting</a:t>
                </a:r>
                <a:r>
                  <a:rPr lang="es-ES_tradnl" dirty="0"/>
                  <a:t>: Foco en las </a:t>
                </a:r>
                <a:r>
                  <a:rPr lang="es-ES_tradnl" dirty="0">
                    <a:solidFill>
                      <a:srgbClr val="002060"/>
                    </a:solidFill>
                  </a:rPr>
                  <a:t>observaciones mal predichas </a:t>
                </a:r>
                <a:r>
                  <a:rPr lang="es-ES_tradnl" dirty="0"/>
                  <a:t>en cada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</a:t>
                </a:r>
                <a:r>
                  <a:rPr lang="es-ES_tradnl" dirty="0"/>
                  <a:t>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Una sola partición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árbol dos brazos (</a:t>
                </a:r>
                <a:r>
                  <a:rPr lang="es-ES_tradnl" i="1" dirty="0" err="1"/>
                  <a:t>stump</a:t>
                </a:r>
                <a:r>
                  <a:rPr lang="es-ES_tradnl" dirty="0"/>
                  <a:t>) -&gt;</a:t>
                </a:r>
                <a:r>
                  <a:rPr lang="es-ES_tradnl" i="1" dirty="0"/>
                  <a:t> Adaptative Boosting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Funciona bien con datos limpios -&gt; sin </a:t>
                </a:r>
                <a:r>
                  <a:rPr lang="es-ES_tradnl" dirty="0" err="1"/>
                  <a:t>NaN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  <a:buFont typeface="Letra del sistema regular"/>
                  <a:buChar char="✗"/>
                </a:pP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/>
                  <a:t>Outliers</a:t>
                </a:r>
                <a:r>
                  <a:rPr lang="es-ES_tradnl" dirty="0"/>
                  <a:t> pueden influir mucho en caso de </a:t>
                </a:r>
                <a:r>
                  <a:rPr lang="es-ES_tradnl" dirty="0" err="1"/>
                  <a:t>regresion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GradientBoosting</a:t>
                </a:r>
                <a:r>
                  <a:rPr lang="es-ES_tradnl" dirty="0"/>
                  <a:t>: Foco en en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error global de predicción </a:t>
                </a:r>
                <a:r>
                  <a:rPr lang="es-ES_tradnl" dirty="0"/>
                  <a:t>de toda la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cómo</a:t>
                </a:r>
                <a:r>
                  <a:rPr lang="es-ES_tradnl" dirty="0"/>
                  <a:t> 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</a:t>
                </a:r>
                <a:r>
                  <a:rPr lang="es-ES_tradnl" dirty="0" err="1"/>
                  <a:t>Gradent</a:t>
                </a:r>
                <a:r>
                  <a:rPr lang="es-ES_tradnl" dirty="0"/>
                  <a:t> </a:t>
                </a:r>
                <a:r>
                  <a:rPr lang="es-ES_tradnl" dirty="0" err="1"/>
                  <a:t>descent</a:t>
                </a:r>
                <a:r>
                  <a:rPr lang="es-ES_tradnl" dirty="0"/>
                  <a:t>” técnica computacional más general usada en Machine Learning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computacionalmente más eficiente con bases de datos medianas y grandes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Puede usar arboles mas profundos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Versiones nuevas de </a:t>
                </a: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XGBoosting</a:t>
                </a:r>
                <a:r>
                  <a:rPr lang="es-ES_tradnl" dirty="0"/>
                  <a:t> y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/>
                  <a:t>Admiten </a:t>
                </a:r>
                <a:r>
                  <a:rPr lang="es-US" dirty="0" err="1"/>
                  <a:t>NAs</a:t>
                </a:r>
                <a:endParaRPr lang="es-US" dirty="0"/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variables </a:t>
                </a:r>
                <a:r>
                  <a:rPr lang="es-US" dirty="0" err="1"/>
                  <a:t>string</a:t>
                </a:r>
                <a:r>
                  <a:rPr lang="es-US" dirty="0"/>
                  <a:t>/</a:t>
                </a:r>
                <a:r>
                  <a:rPr lang="es-US" dirty="0" err="1"/>
                  <a:t>object</a:t>
                </a:r>
                <a:r>
                  <a:rPr lang="es-US" dirty="0"/>
                  <a:t> -&gt; no hace falta convertir las variables en dummies!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581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14F1F-4E1A-EE6B-F771-473041F9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síntesis: Comparando los tres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12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Arboles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297537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secuenciales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Número de árboles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 de predictores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disponibles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de particiones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penalidad (</a:t>
                          </a:r>
                          <a:r>
                            <a:rPr lang="es-ES_tradnl" sz="2000" i="1" baseline="0" dirty="0">
                              <a:latin typeface="Gill Sans Nova Light" panose="020B0302020104020203" pitchFamily="34" charset="0"/>
                            </a:rPr>
                            <a:t>tasa de aprendizaje</a:t>
                          </a:r>
                          <a:r>
                            <a:rPr lang="es-ES_tradnl" sz="2000" i="0" baseline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  <a:endParaRPr lang="es-ES_tradnl" sz="2000" baseline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857682"/>
                  </p:ext>
                </p:extLst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78571" r="-200778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8571" r="-100000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78571" r="-389" b="-6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129808" r="-200778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29808" r="-100000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129808" r="-389" b="-1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3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Revisamos</a:t>
            </a:r>
            <a:r>
              <a:rPr lang="es-ES_tradnl" dirty="0"/>
              <a:t> el concepto de un árbol (CART) 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tres métodos basados en árboles</a:t>
            </a: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Bagging</a:t>
            </a:r>
            <a:r>
              <a:rPr lang="es-ES_tradnl" dirty="0"/>
              <a:t>: </a:t>
            </a:r>
            <a:r>
              <a:rPr lang="es-ES_tradnl" dirty="0" err="1"/>
              <a:t>boostrapeamos</a:t>
            </a:r>
            <a:r>
              <a:rPr lang="es-ES_tradnl" dirty="0"/>
              <a:t> muestras independientes, estimamos árboles, promediamos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Boosting</a:t>
            </a:r>
            <a:r>
              <a:rPr lang="es-ES_tradnl" dirty="0"/>
              <a:t>: Armamos árboles, dependiendo del árbol anterior reajustando lo no aplicado por los residuos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Random Forest, </a:t>
            </a:r>
            <a:r>
              <a:rPr lang="es-ES_tradnl" dirty="0">
                <a:solidFill>
                  <a:srgbClr val="002060"/>
                </a:solidFill>
              </a:rPr>
              <a:t>aprendiendo</a:t>
            </a:r>
            <a:r>
              <a:rPr lang="es-ES_tradnl" dirty="0"/>
              <a:t> de: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Idea y algoritmo final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La medición de la importancia de predictores y su diferencia con Bagging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Discutimos de los trade-off de sesgo-varianza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tres métodos basados en arboles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2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2973</TotalTime>
  <Words>2312</Words>
  <Application>Microsoft Macintosh PowerPoint</Application>
  <PresentationFormat>Panorámica</PresentationFormat>
  <Paragraphs>270</Paragraphs>
  <Slides>36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7" baseType="lpstr">
      <vt:lpstr>Arial</vt:lpstr>
      <vt:lpstr>Calibri</vt:lpstr>
      <vt:lpstr>Cambria Math</vt:lpstr>
      <vt:lpstr>Courier New</vt:lpstr>
      <vt:lpstr>Gill Sans Nova Light</vt:lpstr>
      <vt:lpstr>Goudy Old Style</vt:lpstr>
      <vt:lpstr>Letra del sistema regular</vt:lpstr>
      <vt:lpstr>Times</vt:lpstr>
      <vt:lpstr>Times New Roman</vt:lpstr>
      <vt:lpstr>Wingdings</vt:lpstr>
      <vt:lpstr>Office Theme</vt:lpstr>
      <vt:lpstr>Métodos de Ensamble:  Bagging, Random Forest &amp; Boosting</vt:lpstr>
      <vt:lpstr>En la clase de hoy</vt:lpstr>
      <vt:lpstr>Métodos basados en Árboles I: Bagging</vt:lpstr>
      <vt:lpstr>Bagging: Definición e Idea  </vt:lpstr>
      <vt:lpstr>Bagging: Algoritmo</vt:lpstr>
      <vt:lpstr>Bagging: Ilustracion </vt:lpstr>
      <vt:lpstr>Implicancias del método de Bagging</vt:lpstr>
      <vt:lpstr>Bagging: Intuiciones</vt:lpstr>
      <vt:lpstr>Bagging: Ilustración del error de CV vs. OOB</vt:lpstr>
      <vt:lpstr>Bagging: Consideraciones finales I</vt:lpstr>
      <vt:lpstr>Bagging: Consideraciones finales II</vt:lpstr>
      <vt:lpstr>Métodos basados en Árboles III: Random Forest</vt:lpstr>
      <vt:lpstr> Random Forest: Motivación intuitiva</vt:lpstr>
      <vt:lpstr> Random Forest: Motivación formal</vt:lpstr>
      <vt:lpstr>Ranfom Forest: Algoritmo</vt:lpstr>
      <vt:lpstr>Random Forest: Consideraciones </vt:lpstr>
      <vt:lpstr>Random Forest: Parámetro tunning m</vt:lpstr>
      <vt:lpstr> Random Forest: Ilustración comparando métodos </vt:lpstr>
      <vt:lpstr> Random Forest: Out of Bag (OOB) Samples</vt:lpstr>
      <vt:lpstr>Random Forest: Importancia de una Variable</vt:lpstr>
      <vt:lpstr>Presentación de PowerPoint</vt:lpstr>
      <vt:lpstr>Random Forest: Varianza y Sesgo I</vt:lpstr>
      <vt:lpstr>Random Forest: Varianza y Sesgo II</vt:lpstr>
      <vt:lpstr>Random Forest: Varianza y Sesgo III</vt:lpstr>
      <vt:lpstr>Random Forest: Varianza y la de-correlación de árboles  </vt:lpstr>
      <vt:lpstr>Métodos basados en Árboles III: Boosting</vt:lpstr>
      <vt:lpstr>Boosting: Idea</vt:lpstr>
      <vt:lpstr>AdaBoosting: Ilustración  del aprendizaje</vt:lpstr>
      <vt:lpstr>Boosting: Algoritmo </vt:lpstr>
      <vt:lpstr>Boosting: Parámetros claves en Boosting</vt:lpstr>
      <vt:lpstr>Distinción de tipos de Boosting:  Alternativas prácticas</vt:lpstr>
      <vt:lpstr>En síntesis: Comparando los tres métodos </vt:lpstr>
      <vt:lpstr>Métodos Basados en Arboles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158</cp:revision>
  <dcterms:created xsi:type="dcterms:W3CDTF">2023-06-12T20:51:31Z</dcterms:created>
  <dcterms:modified xsi:type="dcterms:W3CDTF">2025-11-19T19:29:29Z</dcterms:modified>
</cp:coreProperties>
</file>