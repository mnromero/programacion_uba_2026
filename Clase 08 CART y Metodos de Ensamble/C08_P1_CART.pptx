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3"/>
  </p:notesMasterIdLst>
  <p:sldIdLst>
    <p:sldId id="423" r:id="rId2"/>
    <p:sldId id="326" r:id="rId3"/>
    <p:sldId id="497" r:id="rId4"/>
    <p:sldId id="329" r:id="rId5"/>
    <p:sldId id="410" r:id="rId6"/>
    <p:sldId id="351" r:id="rId7"/>
    <p:sldId id="260" r:id="rId8"/>
    <p:sldId id="352" r:id="rId9"/>
    <p:sldId id="411" r:id="rId10"/>
    <p:sldId id="257" r:id="rId11"/>
    <p:sldId id="355" r:id="rId12"/>
    <p:sldId id="356" r:id="rId13"/>
    <p:sldId id="412" r:id="rId14"/>
    <p:sldId id="357" r:id="rId15"/>
    <p:sldId id="358" r:id="rId16"/>
    <p:sldId id="266" r:id="rId17"/>
    <p:sldId id="360" r:id="rId18"/>
    <p:sldId id="361" r:id="rId19"/>
    <p:sldId id="363" r:id="rId20"/>
    <p:sldId id="369" r:id="rId21"/>
    <p:sldId id="488" r:id="rId22"/>
    <p:sldId id="413" r:id="rId23"/>
    <p:sldId id="270" r:id="rId24"/>
    <p:sldId id="362" r:id="rId25"/>
    <p:sldId id="365" r:id="rId26"/>
    <p:sldId id="366" r:id="rId27"/>
    <p:sldId id="367" r:id="rId28"/>
    <p:sldId id="368" r:id="rId29"/>
    <p:sldId id="376" r:id="rId30"/>
    <p:sldId id="414" r:id="rId31"/>
    <p:sldId id="487" r:id="rId32"/>
    <p:sldId id="364" r:id="rId33"/>
    <p:sldId id="486" r:id="rId34"/>
    <p:sldId id="415" r:id="rId35"/>
    <p:sldId id="371" r:id="rId36"/>
    <p:sldId id="272" r:id="rId37"/>
    <p:sldId id="469" r:id="rId38"/>
    <p:sldId id="418" r:id="rId39"/>
    <p:sldId id="337" r:id="rId40"/>
    <p:sldId id="314" r:id="rId41"/>
    <p:sldId id="444" r:id="rId4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AA5E9202-8AF9-7B42-B817-22D148D689E3}">
          <p14:sldIdLst>
            <p14:sldId id="423"/>
            <p14:sldId id="326"/>
            <p14:sldId id="497"/>
          </p14:sldIdLst>
        </p14:section>
        <p14:section name="Introduccion a Arboles" id="{F06AC147-1820-E64A-873C-8C467231AE8F}">
          <p14:sldIdLst/>
        </p14:section>
        <p14:section name="Motivacion" id="{2A9884C3-E307-8646-AB46-1C97B2F6769E}">
          <p14:sldIdLst>
            <p14:sldId id="329"/>
            <p14:sldId id="410"/>
            <p14:sldId id="351"/>
            <p14:sldId id="260"/>
            <p14:sldId id="352"/>
          </p14:sldIdLst>
        </p14:section>
        <p14:section name="Ilustración del algoritmo y formalización" id="{0097FC44-956C-EB46-8C1C-C3D7346DA26E}">
          <p14:sldIdLst>
            <p14:sldId id="411"/>
            <p14:sldId id="257"/>
            <p14:sldId id="355"/>
            <p14:sldId id="356"/>
            <p14:sldId id="412"/>
            <p14:sldId id="357"/>
            <p14:sldId id="358"/>
            <p14:sldId id="266"/>
            <p14:sldId id="360"/>
            <p14:sldId id="361"/>
            <p14:sldId id="363"/>
            <p14:sldId id="369"/>
            <p14:sldId id="488"/>
          </p14:sldIdLst>
        </p14:section>
        <p14:section name="Tree Pruning" id="{117000AB-7224-2140-AC4C-4580F39A188F}">
          <p14:sldIdLst>
            <p14:sldId id="413"/>
            <p14:sldId id="270"/>
            <p14:sldId id="362"/>
            <p14:sldId id="365"/>
            <p14:sldId id="366"/>
            <p14:sldId id="367"/>
            <p14:sldId id="368"/>
            <p14:sldId id="376"/>
          </p14:sldIdLst>
        </p14:section>
        <p14:section name="Arboles vs Modelos lineales" id="{9D9EEA97-91EA-3A42-BBAA-8F741D104C8F}">
          <p14:sldIdLst>
            <p14:sldId id="414"/>
            <p14:sldId id="487"/>
            <p14:sldId id="364"/>
            <p14:sldId id="486"/>
          </p14:sldIdLst>
        </p14:section>
        <p14:section name="Ventajas y Desventajas" id="{C28E94FA-4F3A-6646-9C18-8BFEAAC17B67}">
          <p14:sldIdLst>
            <p14:sldId id="415"/>
            <p14:sldId id="371"/>
            <p14:sldId id="272"/>
            <p14:sldId id="469"/>
            <p14:sldId id="418"/>
          </p14:sldIdLst>
        </p14:section>
        <p14:section name="Conclusiones finales" id="{30AE4762-25DE-C74D-AF95-4AEC0CC37FB0}">
          <p14:sldIdLst>
            <p14:sldId id="337"/>
            <p14:sldId id="314"/>
            <p14:sldId id="444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5714"/>
    <p:restoredTop sz="83205"/>
  </p:normalViewPr>
  <p:slideViewPr>
    <p:cSldViewPr snapToGrid="0">
      <p:cViewPr varScale="1">
        <p:scale>
          <a:sx n="61" d="100"/>
          <a:sy n="61" d="100"/>
        </p:scale>
        <p:origin x="224" y="7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" d="1"/>
        <a:sy n="1" d="1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_tradnl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4A57B98-7F31-0D42-9B7E-63D1E3B1FEB1}" type="datetimeFigureOut">
              <a:rPr lang="es-ES_tradnl" smtClean="0"/>
              <a:t>19/11/25</a:t>
            </a:fld>
            <a:endParaRPr lang="es-ES_tradnl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_tradnl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_tradn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_tradn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4B6B6AD-E852-0649-B090-0B587A2ABB49}" type="slidenum">
              <a:rPr lang="es-ES_tradnl" smtClean="0"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30220003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B412AF-8B30-1C4A-9486-8B7EE1FDFB12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099205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630DE0-2491-4445-BD47-B1B1930FC5EF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363292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B6B6AD-E852-0649-B090-0B587A2ABB49}" type="slidenum">
              <a:rPr lang="es-ES_tradnl" smtClean="0"/>
              <a:t>3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269418847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630DE0-2491-4445-BD47-B1B1930FC5EF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79506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630DE0-2491-4445-BD47-B1B1930FC5EF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845389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 err="1"/>
              <a:t>Nodos</a:t>
            </a:r>
            <a:r>
              <a:rPr lang="en-US" dirty="0"/>
              <a:t> </a:t>
            </a:r>
            <a:r>
              <a:rPr lang="en-US" dirty="0" err="1"/>
              <a:t>terminales</a:t>
            </a:r>
            <a:r>
              <a:rPr lang="en-US" dirty="0"/>
              <a:t> or “leaves”: “hojas” al final del arbol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 err="1"/>
              <a:t>Nodos</a:t>
            </a:r>
            <a:r>
              <a:rPr lang="en-US" dirty="0"/>
              <a:t> </a:t>
            </a:r>
            <a:r>
              <a:rPr lang="en-US" dirty="0" err="1"/>
              <a:t>internos</a:t>
            </a:r>
            <a:r>
              <a:rPr lang="en-US" dirty="0"/>
              <a:t>: </a:t>
            </a:r>
            <a:r>
              <a:rPr lang="en-US" dirty="0" err="1"/>
              <a:t>donde</a:t>
            </a:r>
            <a:r>
              <a:rPr lang="en-US" dirty="0"/>
              <a:t> se divide </a:t>
            </a:r>
            <a:r>
              <a:rPr lang="en-US" dirty="0" err="1"/>
              <a:t>el</a:t>
            </a:r>
            <a:r>
              <a:rPr lang="en-US" dirty="0"/>
              <a:t> </a:t>
            </a:r>
            <a:r>
              <a:rPr lang="en-US" dirty="0" err="1"/>
              <a:t>espacio</a:t>
            </a:r>
            <a:r>
              <a:rPr lang="en-US" dirty="0"/>
              <a:t> de </a:t>
            </a:r>
            <a:r>
              <a:rPr lang="en-US" dirty="0" err="1"/>
              <a:t>los</a:t>
            </a:r>
            <a:r>
              <a:rPr lang="en-US" dirty="0"/>
              <a:t> predictors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Branches: </a:t>
            </a:r>
            <a:r>
              <a:rPr lang="en-US" dirty="0" err="1"/>
              <a:t>segmentos</a:t>
            </a:r>
            <a:r>
              <a:rPr lang="en-US" dirty="0"/>
              <a:t> que </a:t>
            </a:r>
            <a:r>
              <a:rPr lang="en-US" dirty="0" err="1"/>
              <a:t>une</a:t>
            </a:r>
            <a:r>
              <a:rPr lang="en-US" dirty="0"/>
              <a:t> </a:t>
            </a:r>
            <a:r>
              <a:rPr lang="en-US" dirty="0" err="1"/>
              <a:t>nodos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B6B6AD-E852-0649-B090-0B587A2ABB49}" type="slidenum">
              <a:rPr lang="es-ES_tradnl" smtClean="0"/>
              <a:t>11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152217377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B6B6AD-E852-0649-B090-0B587A2ABB49}" type="slidenum">
              <a:rPr lang="es-ES_tradnl" smtClean="0"/>
              <a:t>12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45966343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B6B6AD-E852-0649-B090-0B587A2ABB49}" type="slidenum">
              <a:rPr lang="es-ES_tradnl" smtClean="0"/>
              <a:t>13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259137251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endParaRPr lang="es-ES_tradnl" dirty="0"/>
              </a:p>
            </p:txBody>
          </p:sp>
        </mc:Choice>
        <mc:Fallback xmlns="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b="1" dirty="0" err="1"/>
                  <a:t>Interpretacion</a:t>
                </a:r>
                <a:r>
                  <a:rPr lang="en-US" b="0" dirty="0"/>
                  <a:t>: </a:t>
                </a:r>
                <a:r>
                  <a:rPr lang="en-US" b="0" i="0">
                    <a:latin typeface="Cambria Math" panose="02040503050406030204" pitchFamily="18" charset="0"/>
                  </a:rPr>
                  <a:t>{𝑋|𝑋_𝑗≤𝑠}  </a:t>
                </a:r>
                <a:r>
                  <a:rPr lang="es-ES_tradnl" dirty="0"/>
                  <a:t> es la región del</a:t>
                </a:r>
                <a:r>
                  <a:rPr lang="es-ES_tradnl" baseline="0" dirty="0"/>
                  <a:t> espacio del predictor </a:t>
                </a:r>
                <a:r>
                  <a:rPr lang="en-US" b="0" i="0">
                    <a:latin typeface="Cambria Math" panose="02040503050406030204" pitchFamily="18" charset="0"/>
                  </a:rPr>
                  <a:t>𝑋_𝑗</a:t>
                </a:r>
                <a:r>
                  <a:rPr lang="es-ES_tradnl" dirty="0"/>
                  <a:t> que toma valores menores</a:t>
                </a:r>
                <a:r>
                  <a:rPr lang="es-ES_tradnl" baseline="0" dirty="0"/>
                  <a:t> que </a:t>
                </a:r>
                <a:r>
                  <a:rPr lang="en-US" b="0" i="0">
                    <a:latin typeface="Cambria Math" panose="02040503050406030204" pitchFamily="18" charset="0"/>
                  </a:rPr>
                  <a:t>𝑠</a:t>
                </a:r>
                <a:endParaRPr lang="es-ES_tradnl" dirty="0"/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B6B6AD-E852-0649-B090-0B587A2ABB49}" type="slidenum">
              <a:rPr lang="es-ES_tradnl" smtClean="0"/>
              <a:t>16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171270464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endParaRPr lang="es-ES_tradnl" dirty="0"/>
              </a:p>
            </p:txBody>
          </p:sp>
        </mc:Choice>
        <mc:Fallback xmlns="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s-ES_tradnl" dirty="0" err="1"/>
                  <a:t>Overfiting</a:t>
                </a:r>
                <a:r>
                  <a:rPr lang="es-ES_tradnl" dirty="0"/>
                  <a:t> con arboles: </a:t>
                </a:r>
                <a:r>
                  <a:rPr lang="en-US" sz="1800" dirty="0">
                    <a:effectLst/>
                    <a:latin typeface="CMSS10"/>
                  </a:rPr>
                  <a:t>Un arbol </a:t>
                </a:r>
                <a:r>
                  <a:rPr lang="en-US" sz="1800" dirty="0" err="1">
                    <a:effectLst/>
                    <a:latin typeface="CMSS10"/>
                  </a:rPr>
                  <a:t>demasiado</a:t>
                </a:r>
                <a:r>
                  <a:rPr lang="en-US" sz="1800" dirty="0">
                    <a:effectLst/>
                    <a:latin typeface="CMSS10"/>
                  </a:rPr>
                  <a:t> extenso </a:t>
                </a:r>
                <a:r>
                  <a:rPr lang="en-US" sz="1800" dirty="0" err="1">
                    <a:effectLst/>
                    <a:latin typeface="CMSS10"/>
                  </a:rPr>
                  <a:t>sobreajusta</a:t>
                </a:r>
                <a:r>
                  <a:rPr lang="en-US" sz="1800" dirty="0">
                    <a:effectLst/>
                    <a:latin typeface="CMSS10"/>
                  </a:rPr>
                  <a:t> </a:t>
                </a:r>
                <a:r>
                  <a:rPr lang="en-US" sz="1800" dirty="0" err="1">
                    <a:effectLst/>
                    <a:latin typeface="CMSS10"/>
                  </a:rPr>
                  <a:t>los</a:t>
                </a:r>
                <a:r>
                  <a:rPr lang="en-US" sz="1800" dirty="0">
                    <a:effectLst/>
                    <a:latin typeface="CMSS10"/>
                  </a:rPr>
                  <a:t> </a:t>
                </a:r>
                <a:r>
                  <a:rPr lang="en-US" sz="1800" dirty="0" err="1">
                    <a:effectLst/>
                    <a:latin typeface="CMSS10"/>
                  </a:rPr>
                  <a:t>datos</a:t>
                </a:r>
                <a:r>
                  <a:rPr lang="en-US" sz="1800" dirty="0">
                    <a:effectLst/>
                    <a:latin typeface="CMSS10"/>
                  </a:rPr>
                  <a:t> (es </a:t>
                </a:r>
                <a:r>
                  <a:rPr lang="en-US" sz="1800" dirty="0" err="1">
                    <a:effectLst/>
                    <a:latin typeface="CMSS10"/>
                  </a:rPr>
                  <a:t>como</a:t>
                </a:r>
                <a:r>
                  <a:rPr lang="en-US" sz="1800" dirty="0">
                    <a:effectLst/>
                    <a:latin typeface="CMSS10"/>
                  </a:rPr>
                  <a:t> </a:t>
                </a:r>
                <a:r>
                  <a:rPr lang="en-US" sz="1800" dirty="0" err="1">
                    <a:effectLst/>
                    <a:latin typeface="CMSS10"/>
                  </a:rPr>
                  <a:t>poner</a:t>
                </a:r>
                <a:r>
                  <a:rPr lang="en-US" sz="1800" dirty="0">
                    <a:effectLst/>
                    <a:latin typeface="CMSS10"/>
                  </a:rPr>
                  <a:t> </a:t>
                </a:r>
                <a:r>
                  <a:rPr lang="en-US" sz="1800" dirty="0" err="1">
                    <a:effectLst/>
                    <a:latin typeface="CMSS10"/>
                  </a:rPr>
                  <a:t>una</a:t>
                </a:r>
                <a:r>
                  <a:rPr lang="en-US" sz="1800" dirty="0">
                    <a:effectLst/>
                    <a:latin typeface="CMSS10"/>
                  </a:rPr>
                  <a:t> dummy para </a:t>
                </a:r>
                <a:r>
                  <a:rPr lang="en-US" sz="1800" dirty="0" err="1">
                    <a:effectLst/>
                    <a:latin typeface="CMSS10"/>
                  </a:rPr>
                  <a:t>cada</a:t>
                </a:r>
                <a:r>
                  <a:rPr lang="en-US" sz="1800" dirty="0">
                    <a:effectLst/>
                    <a:latin typeface="CMSS10"/>
                  </a:rPr>
                  <a:t> </a:t>
                </a:r>
                <a:r>
                  <a:rPr lang="en-US" sz="1800" dirty="0" err="1">
                    <a:effectLst/>
                    <a:latin typeface="CMSS10"/>
                  </a:rPr>
                  <a:t>observacion</a:t>
                </a:r>
                <a:r>
                  <a:rPr lang="en-US" sz="1800" dirty="0">
                    <a:effectLst/>
                    <a:latin typeface="CMSS10"/>
                  </a:rPr>
                  <a:t>). </a:t>
                </a:r>
                <a:endParaRPr lang="en-US" dirty="0">
                  <a:effectLst/>
                </a:endParaRPr>
              </a:p>
              <a:p>
                <a:r>
                  <a:rPr lang="es-ES_tradnl" b="1" dirty="0"/>
                  <a:t>Tener en cuenta</a:t>
                </a:r>
              </a:p>
              <a:p>
                <a:pPr>
                  <a:lnSpc>
                    <a:spcPct val="200000"/>
                  </a:lnSpc>
                </a:pPr>
                <a:r>
                  <a:rPr lang="es-ES_tradnl" i="1" dirty="0"/>
                  <a:t>Datos de entrenamiento</a:t>
                </a:r>
                <a:r>
                  <a:rPr lang="es-ES_tradnl" dirty="0"/>
                  <a:t>: partir el espacio de predictores y encontrar las regiones</a:t>
                </a:r>
              </a:p>
              <a:p>
                <a:pPr>
                  <a:lnSpc>
                    <a:spcPct val="200000"/>
                  </a:lnSpc>
                </a:pPr>
                <a:r>
                  <a:rPr lang="es-ES_tradnl" i="1" dirty="0"/>
                  <a:t>Datos de prueba</a:t>
                </a:r>
                <a:r>
                  <a:rPr lang="es-ES_tradnl" dirty="0"/>
                  <a:t>: ahí predecimos </a:t>
                </a:r>
                <a:r>
                  <a:rPr lang="en-US" b="0" i="0">
                    <a:latin typeface="Cambria Math" panose="02040503050406030204" pitchFamily="18" charset="0"/>
                  </a:rPr>
                  <a:t>𝑦 ̂_(</a:t>
                </a:r>
                <a:r>
                  <a:rPr lang="en-US" b="1" i="0">
                    <a:solidFill>
                      <a:srgbClr val="FF0000"/>
                    </a:solidFill>
                    <a:latin typeface="Cambria Math" panose="02040503050406030204" pitchFamily="18" charset="0"/>
                  </a:rPr>
                  <a:t>𝑹_𝒋</a:t>
                </a:r>
                <a:r>
                  <a:rPr lang="en-US" b="0" i="0">
                    <a:solidFill>
                      <a:srgbClr val="FF0000"/>
                    </a:solidFill>
                    <a:latin typeface="Cambria Math" panose="02040503050406030204" pitchFamily="18" charset="0"/>
                  </a:rPr>
                  <a:t> )</a:t>
                </a:r>
                <a:r>
                  <a:rPr lang="es-ES_tradnl" dirty="0"/>
                  <a:t> y calculamos el error de predicción</a:t>
                </a:r>
              </a:p>
              <a:p>
                <a:endParaRPr lang="es-ES_tradnl" dirty="0"/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B6B6AD-E852-0649-B090-0B587A2ABB49}" type="slidenum">
              <a:rPr lang="es-ES_tradnl" smtClean="0"/>
              <a:t>18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323919132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B6B6AD-E852-0649-B090-0B587A2ABB49}" type="slidenum">
              <a:rPr lang="es-ES_tradnl" smtClean="0"/>
              <a:t>21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44462250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630DE0-2491-4445-BD47-B1B1930FC5EF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589708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B6B6AD-E852-0649-B090-0B587A2ABB49}" type="slidenum">
              <a:rPr lang="es-ES_tradnl" smtClean="0"/>
              <a:t>27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10073837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630DE0-2491-4445-BD47-B1B1930FC5EF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440294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630DE0-2491-4445-BD47-B1B1930FC5EF}" type="slidenum">
              <a:rPr lang="en-US" smtClean="0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128826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7ED07FA-7792-F649-B523-FCAF9068A01B}" type="slidenum">
              <a:rPr lang="es-ES_tradnl" smtClean="0"/>
              <a:t>39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330722832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1CB98C-7E11-E20C-7CA1-01CA7BC605C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A8FC3A6-7EF0-25DE-49FD-093DABEA406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9BDF46-6163-6B81-C8F2-2AFCA65AD2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996A44-393B-2349-9636-C2E629343387}" type="datetime1">
              <a:rPr lang="en-US" smtClean="0"/>
              <a:t>11/19/25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D8C366-551D-FE97-2B1D-32127BF381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F01B1D-ECC1-F92A-E5F2-CCE79365E9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23868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F0CDC1-3848-0D97-B7AC-87941E6A67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5930B0-69E0-A392-06B3-B0B255B708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AB745A-C184-9A02-3478-963C49CDE2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D7DD35-DA54-6249-8929-31941A6F915E}" type="datetime1">
              <a:rPr lang="en-US" smtClean="0"/>
              <a:t>11/19/25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BE6306-932B-2678-8102-D5B1FF6A89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CFBCBB-A717-3F86-896B-2E915566B3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6441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32CE9D-254D-F34F-04CD-7171E08AAE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FD3A657-71FF-6D0F-FA99-85DC67E6EC2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3D6D25-137F-9F92-60F0-FB0CA02EF5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633375-BE77-974E-B796-FE3045409A94}" type="datetime1">
              <a:rPr lang="en-US" smtClean="0"/>
              <a:t>11/19/25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048134-AEC4-52EE-619E-153EC79DA5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A96E28-6B6A-F6F8-4722-E4543D315C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37865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B31D6C-E496-E079-CBB1-0568125CB5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CE5603-C8AA-9A92-329E-1802B5F5928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1050DDA-AA05-B9E0-6968-15C94DE927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8F06625-219C-99D2-3E54-1E8F41B241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45ED56-00FC-634F-B6C2-E86770DA063E}" type="datetime1">
              <a:rPr lang="en-US" smtClean="0"/>
              <a:t>11/19/25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BBABBC7-B012-FDE4-EA5B-0F69DA2EAF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205FDEE-8F41-2CAA-8017-4038F3B812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11568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CBA04D-9D5C-EB18-C5D0-F76A09B06B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9A72525-56CB-7F89-4E11-9F3346C59F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54198E8-A9B1-48FB-F54D-A3A92D36D84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E21E517-63E9-95AE-DECC-CFC5865D181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242A0CC-FDD5-8EAE-60EC-D76CDDC978D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ADA6C08-7F94-962B-4B6D-4E592F0E25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80F7AF-5390-6D41-B3C2-4512AD8DC48F}" type="datetime1">
              <a:rPr lang="en-US" smtClean="0"/>
              <a:t>11/19/25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A6DBB8B-904B-340C-44C2-AEB8E73419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F57219B-396C-1FD3-E2D2-AE43472755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92647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A471B7-64C8-5681-B050-6630E1012E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0026AF0-FBD4-6543-A23B-33B8EC5C60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1FBA76-D706-234B-B88E-FA9EF4D7D110}" type="datetime1">
              <a:rPr lang="en-US" smtClean="0"/>
              <a:t>11/19/25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3087316-ECA6-24C4-30E6-F285BB5BB7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FF1D056-F9AE-1692-E81E-AF758FCCC0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54577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2A10710-3846-C9D7-2144-F947912C55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57C583-3803-924E-B51C-25F9B096D826}" type="datetime1">
              <a:rPr lang="en-US" smtClean="0"/>
              <a:t>11/19/25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88AC6AD-5E2E-A761-7126-579D50261B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EF490D8-22CE-08FF-C435-CF9436B209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2121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0C159F-BCFE-0041-5B65-0F7FC249D8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7DE978-B876-7F13-E812-15175B9B47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37065CE-0860-1EFD-1CD1-8D84398DFB6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EFE4DE7-1714-6B66-42FD-77D069D7B5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9C20E7-E151-324B-B310-BE89353755F2}" type="datetime1">
              <a:rPr lang="en-US" smtClean="0"/>
              <a:t>11/19/25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25CCE9F-F437-9F8B-15B0-8576AFF53E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2499748-1BAE-0CB1-1ED5-9FF402F0A5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26043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2D5094-D299-E460-49A2-D005A07ACC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869A670-8C5F-885F-FB89-1940119E608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7F02C41-9999-BFD6-AEAD-EB346FCC3E2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AE5BE73-C51E-CB3B-FD3F-C461033F7B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B53A3E-DA75-EC4A-9046-4A3B26FBAAC1}" type="datetime1">
              <a:rPr lang="en-US" smtClean="0"/>
              <a:t>11/19/25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95D6684-3CE0-4A83-95A6-6EBB09496A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C573D51-51CE-D827-C1EE-C87D922E8A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20155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236847-10A3-1E86-2365-C19719B4AD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6F4D640-C06A-7E21-00D5-44964ADC6B8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FFEB36-D0A3-DD5E-C201-B27A716936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30747D-E2B9-0645-9126-214ED2EB266F}" type="datetime1">
              <a:rPr lang="en-US" smtClean="0"/>
              <a:t>11/19/25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06C4C8-11C3-310B-0494-5A9A39C6AB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73FB9E-F285-F7AE-0E8F-94E4439161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77317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F9591E1-25BE-1B7D-2747-B206B76901E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A0C95D2-79AD-B457-5041-AF0BC72AD48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3D9B71-7EFC-DD71-1559-F745192F9E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1EB08E-9945-494E-8140-072E164898FC}" type="datetime1">
              <a:rPr lang="en-US" smtClean="0"/>
              <a:t>11/19/25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4FD8D1-6C57-FE1E-C640-C760ABFFAB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979F31-ACBF-4495-3650-1BBE0598FA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63172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ECE12EA-8A8E-06EC-6E57-8E5E96C512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_tradnl" noProof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1340FE1-91A8-46C3-32E1-30AAA21A93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_tradnl" noProof="0"/>
              <a:t>Click to edit Master text styles</a:t>
            </a:r>
          </a:p>
          <a:p>
            <a:pPr lvl="1"/>
            <a:r>
              <a:rPr lang="es-ES_tradnl" noProof="0"/>
              <a:t>Second level</a:t>
            </a:r>
          </a:p>
          <a:p>
            <a:pPr lvl="2"/>
            <a:r>
              <a:rPr lang="es-ES_tradnl" noProof="0"/>
              <a:t>Third level</a:t>
            </a:r>
          </a:p>
          <a:p>
            <a:pPr lvl="3"/>
            <a:r>
              <a:rPr lang="es-ES_tradnl" noProof="0"/>
              <a:t>Fourth level</a:t>
            </a:r>
          </a:p>
          <a:p>
            <a:pPr lvl="4"/>
            <a:r>
              <a:rPr lang="es-ES_tradnl" noProof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569DB0-88CE-6331-AB80-0CB309875BE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Gill Sans Nova Light" panose="020F0302020204030204" pitchFamily="34" charset="0"/>
                <a:cs typeface="Gill Sans Nova Light" panose="020F0302020204030204" pitchFamily="34" charset="0"/>
              </a:defRPr>
            </a:lvl1pPr>
          </a:lstStyle>
          <a:p>
            <a:fld id="{203A4A31-8716-1243-A06A-E7884CD293D7}" type="datetime1">
              <a:rPr lang="en-US" noProof="0" smtClean="0"/>
              <a:t>11/19/25</a:t>
            </a:fld>
            <a:endParaRPr lang="es-ES_tradnl" noProof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25CBFB-E83F-ED57-BB3C-53CCB666244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Gill Sans Nova Light" panose="020F0302020204030204" pitchFamily="34" charset="0"/>
                <a:cs typeface="Gill Sans Nova Light" panose="020F0302020204030204" pitchFamily="34" charset="0"/>
              </a:defRPr>
            </a:lvl1pPr>
          </a:lstStyle>
          <a:p>
            <a:endParaRPr lang="es-ES_tradnl" noProof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FDCCDE-D195-0527-335D-0AECD8803A6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800">
                <a:solidFill>
                  <a:schemeClr val="tx1">
                    <a:tint val="75000"/>
                  </a:schemeClr>
                </a:solidFill>
                <a:latin typeface="Gill Sans Nova Light" panose="020F0302020204030204" pitchFamily="34" charset="0"/>
                <a:cs typeface="Gill Sans Nova Light" panose="020F0302020204030204" pitchFamily="34" charset="0"/>
              </a:defRPr>
            </a:lvl1pPr>
          </a:lstStyle>
          <a:p>
            <a:fld id="{278C1CC4-2077-434E-BCF1-5D01C08A9B17}" type="slidenum">
              <a:rPr lang="es-ES_tradnl" smtClean="0"/>
              <a:pPr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248092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rgbClr val="002060"/>
          </a:solidFill>
          <a:latin typeface="Goudy Old Style" panose="02020502050305020303" pitchFamily="18" charset="77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Gill Sans Nova Light" panose="020F0302020204030204" pitchFamily="34" charset="0"/>
          <a:ea typeface="+mn-ea"/>
          <a:cs typeface="Gill Sans Nova Light" panose="020F030202020403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Gill Sans Nova Light" panose="020F0302020204030204" pitchFamily="34" charset="0"/>
          <a:ea typeface="+mn-ea"/>
          <a:cs typeface="Gill Sans Nova Light" panose="020F030202020403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Gill Sans Nova Light" panose="020F0302020204030204" pitchFamily="34" charset="0"/>
          <a:ea typeface="+mn-ea"/>
          <a:cs typeface="Gill Sans Nova Light" panose="020F030202020403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Gill Sans Nova Light" panose="020F0302020204030204" pitchFamily="34" charset="0"/>
          <a:ea typeface="+mn-ea"/>
          <a:cs typeface="Gill Sans Nova Light" panose="020F030202020403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Gill Sans Nova Light" panose="020F0302020204030204" pitchFamily="34" charset="0"/>
          <a:ea typeface="+mn-ea"/>
          <a:cs typeface="Gill Sans Nova Light" panose="020F030202020403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calendly.com/m-n-romero91/30min-office-hours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sv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13" Type="http://schemas.openxmlformats.org/officeDocument/2006/relationships/image" Target="../media/image16.png"/><Relationship Id="rId3" Type="http://schemas.openxmlformats.org/officeDocument/2006/relationships/image" Target="../media/image60.png"/><Relationship Id="rId7" Type="http://schemas.openxmlformats.org/officeDocument/2006/relationships/image" Target="../media/image10.png"/><Relationship Id="rId12" Type="http://schemas.openxmlformats.org/officeDocument/2006/relationships/image" Target="../media/image1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11" Type="http://schemas.openxmlformats.org/officeDocument/2006/relationships/image" Target="../media/image14.png"/><Relationship Id="rId5" Type="http://schemas.openxmlformats.org/officeDocument/2006/relationships/image" Target="../media/image8.png"/><Relationship Id="rId10" Type="http://schemas.openxmlformats.org/officeDocument/2006/relationships/image" Target="../media/image13.png"/><Relationship Id="rId4" Type="http://schemas.openxmlformats.org/officeDocument/2006/relationships/image" Target="../media/image70.png"/><Relationship Id="rId9" Type="http://schemas.openxmlformats.org/officeDocument/2006/relationships/image" Target="../media/image12.png"/><Relationship Id="rId14" Type="http://schemas.openxmlformats.org/officeDocument/2006/relationships/image" Target="../media/image1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9.png"/><Relationship Id="rId4" Type="http://schemas.openxmlformats.org/officeDocument/2006/relationships/image" Target="../media/image180.png"/></Relationships>
</file>

<file path=ppt/slides/_rels/slide13.xml.rels><?xml version="1.0" encoding="UTF-8" standalone="yes"?>
<Relationships xmlns="http://schemas.openxmlformats.org/package/2006/relationships"><Relationship Id="rId13" Type="http://schemas.openxmlformats.org/officeDocument/2006/relationships/image" Target="../media/image21.png"/><Relationship Id="rId3" Type="http://schemas.openxmlformats.org/officeDocument/2006/relationships/image" Target="../media/image190.png"/><Relationship Id="rId12" Type="http://schemas.openxmlformats.org/officeDocument/2006/relationships/image" Target="../media/image1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Relationship Id="rId11" Type="http://schemas.openxmlformats.org/officeDocument/2006/relationships/image" Target="../media/image20.png"/><Relationship Id="rId10" Type="http://schemas.openxmlformats.org/officeDocument/2006/relationships/image" Target="../media/image13.png"/><Relationship Id="rId14" Type="http://schemas.openxmlformats.org/officeDocument/2006/relationships/image" Target="../media/image22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0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0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0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231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33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260.png"/><Relationship Id="rId1" Type="http://schemas.openxmlformats.org/officeDocument/2006/relationships/slideLayout" Target="../slideLayouts/slideLayout5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4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4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sv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3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hyperlink" Target="mailto:25RO35480961@campus.economicas.uba.ar" TargetMode="Externa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52C8F4-54CC-EED9-C31F-8F80FFB62EE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946910"/>
            <a:ext cx="9144000" cy="2387600"/>
          </a:xfrm>
        </p:spPr>
        <p:txBody>
          <a:bodyPr>
            <a:normAutofit/>
          </a:bodyPr>
          <a:lstStyle/>
          <a:p>
            <a:r>
              <a:rPr lang="es-ES" sz="4400" b="1" kern="1400" dirty="0">
                <a:solidFill>
                  <a:srgbClr val="002060"/>
                </a:solidFill>
                <a:effectLst/>
                <a:latin typeface="Goudy Old Style" panose="02020502050305020303" pitchFamily="18" charset="77"/>
                <a:ea typeface="Times New Roman" panose="02020603050405020304" pitchFamily="18" charset="0"/>
                <a:cs typeface="Times New Roman" panose="02020603050405020304" pitchFamily="18" charset="0"/>
              </a:rPr>
              <a:t>CART: </a:t>
            </a:r>
            <a:br>
              <a:rPr lang="es-ES" sz="4400" b="1" kern="1400" dirty="0">
                <a:solidFill>
                  <a:srgbClr val="002060"/>
                </a:solidFill>
                <a:effectLst/>
                <a:latin typeface="Goudy Old Style" panose="02020502050305020303" pitchFamily="18" charset="77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s-ES" sz="4400" b="1" kern="1400" dirty="0">
                <a:solidFill>
                  <a:srgbClr val="002060"/>
                </a:solidFill>
                <a:effectLst/>
                <a:latin typeface="Goudy Old Style" panose="02020502050305020303" pitchFamily="18" charset="77"/>
                <a:ea typeface="Times New Roman" panose="02020603050405020304" pitchFamily="18" charset="0"/>
                <a:cs typeface="Times New Roman" panose="02020603050405020304" pitchFamily="18" charset="0"/>
              </a:rPr>
              <a:t>Árboles de decisión de </a:t>
            </a:r>
            <a:br>
              <a:rPr lang="es-ES" sz="4400" b="1" kern="1400" dirty="0">
                <a:solidFill>
                  <a:srgbClr val="002060"/>
                </a:solidFill>
                <a:effectLst/>
                <a:latin typeface="Goudy Old Style" panose="02020502050305020303" pitchFamily="18" charset="77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s-ES" sz="4400" b="1" kern="1400" dirty="0">
                <a:solidFill>
                  <a:srgbClr val="002060"/>
                </a:solidFill>
                <a:effectLst/>
                <a:latin typeface="Goudy Old Style" panose="02020502050305020303" pitchFamily="18" charset="77"/>
                <a:ea typeface="Times New Roman" panose="02020603050405020304" pitchFamily="18" charset="0"/>
                <a:cs typeface="Times New Roman" panose="02020603050405020304" pitchFamily="18" charset="0"/>
              </a:rPr>
              <a:t>Clasificación y Regresión</a:t>
            </a:r>
            <a:endParaRPr lang="en-US" sz="149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1F55BDD-1493-5FB8-8EDB-106F9B36291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349115"/>
            <a:ext cx="9144000" cy="1655762"/>
          </a:xfrm>
        </p:spPr>
        <p:txBody>
          <a:bodyPr>
            <a:normAutofit/>
          </a:bodyPr>
          <a:lstStyle/>
          <a:p>
            <a:r>
              <a:rPr lang="es-ES" sz="3200" dirty="0">
                <a:solidFill>
                  <a:srgbClr val="000000"/>
                </a:solidFill>
                <a:effectLst/>
                <a:latin typeface="Gill Sans Nova Light" panose="020F03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María Noelia Romero</a:t>
            </a:r>
            <a:r>
              <a:rPr lang="en-US" sz="4000" dirty="0">
                <a:effectLst/>
              </a:rPr>
              <a:t> </a:t>
            </a:r>
            <a:endParaRPr lang="en-US" sz="4000" dirty="0"/>
          </a:p>
          <a:p>
            <a:r>
              <a:rPr lang="es-ES" sz="2800" dirty="0">
                <a:solidFill>
                  <a:srgbClr val="000000"/>
                </a:solidFill>
                <a:latin typeface="Gill Sans Nova Light" panose="020F0302020204030204" pitchFamily="34" charset="0"/>
                <a:cs typeface="Times New Roman" panose="02020603050405020304" pitchFamily="18" charset="0"/>
              </a:rPr>
              <a:t>Clase </a:t>
            </a:r>
            <a:r>
              <a:rPr lang="es-ES" sz="2800" dirty="0">
                <a:solidFill>
                  <a:srgbClr val="000000"/>
                </a:solidFill>
                <a:cs typeface="Times New Roman" panose="02020603050405020304" pitchFamily="18" charset="0"/>
              </a:rPr>
              <a:t>08 – Parte 1</a:t>
            </a:r>
            <a:endParaRPr lang="en-US" sz="360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EEADCD9-CEB1-5D1E-D7AC-167899E21C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1</a:t>
            </a:fld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C027F2D-CC52-462D-4A92-C7C4502C71F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1950" y="853123"/>
            <a:ext cx="1463040" cy="1463040"/>
          </a:xfrm>
          <a:prstGeom prst="rect">
            <a:avLst/>
          </a:prstGeom>
        </p:spPr>
      </p:pic>
      <p:pic>
        <p:nvPicPr>
          <p:cNvPr id="6" name="Picture 5" descr="A blue and yellow logo&#10;&#10;Description automatically generated">
            <a:extLst>
              <a:ext uri="{FF2B5EF4-FFF2-40B4-BE49-F238E27FC236}">
                <a16:creationId xmlns:a16="http://schemas.microsoft.com/office/drawing/2014/main" id="{939E0972-AB4F-C51D-7B38-9F10B613F9B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82007" y="849631"/>
            <a:ext cx="1271793" cy="1463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96535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956FC5-0E53-6D4C-09A5-4C5B8E1AD5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S_tradnl" sz="3600" dirty="0"/>
              <a:t>Cuestiones operativas del curso: </a:t>
            </a:r>
            <a:r>
              <a:rPr lang="es-ES_tradnl" sz="36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Próximos Deadlines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78FB43-7DE0-04F0-9AC5-E468E02B46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>
              <a:lnSpc>
                <a:spcPct val="200000"/>
              </a:lnSpc>
            </a:pPr>
            <a:r>
              <a:rPr lang="es-ES_tradnl" dirty="0">
                <a:solidFill>
                  <a:srgbClr val="002060"/>
                </a:solidFill>
              </a:rPr>
              <a:t>Clase 9: </a:t>
            </a:r>
            <a:r>
              <a:rPr lang="es-ES_tradnl" dirty="0"/>
              <a:t>Miércoles 3 de Diciembre</a:t>
            </a:r>
            <a:endParaRPr lang="es-ES_tradnl" dirty="0">
              <a:solidFill>
                <a:srgbClr val="002060"/>
              </a:solidFill>
            </a:endParaRPr>
          </a:p>
          <a:p>
            <a:pPr>
              <a:lnSpc>
                <a:spcPct val="200000"/>
              </a:lnSpc>
            </a:pPr>
            <a:r>
              <a:rPr lang="es-ES_tradnl" dirty="0">
                <a:solidFill>
                  <a:srgbClr val="002060"/>
                </a:solidFill>
              </a:rPr>
              <a:t>TP 4</a:t>
            </a:r>
            <a:r>
              <a:rPr lang="es-ES_tradnl" dirty="0"/>
              <a:t>: Disponible. EPH – Clasificación: </a:t>
            </a:r>
            <a:r>
              <a:rPr lang="es-ES_tradnl" dirty="0">
                <a:solidFill>
                  <a:srgbClr val="FF0000"/>
                </a:solidFill>
              </a:rPr>
              <a:t>Viernes 28 de Noviembre</a:t>
            </a:r>
          </a:p>
          <a:p>
            <a:pPr>
              <a:lnSpc>
                <a:spcPct val="200000"/>
              </a:lnSpc>
            </a:pPr>
            <a:r>
              <a:rPr lang="es-ES_tradnl" dirty="0">
                <a:solidFill>
                  <a:srgbClr val="002060"/>
                </a:solidFill>
              </a:rPr>
              <a:t>2da instancia de exposiciones</a:t>
            </a:r>
            <a:r>
              <a:rPr lang="es-ES_tradnl" dirty="0"/>
              <a:t>: </a:t>
            </a:r>
            <a:r>
              <a:rPr lang="es-ES_tradnl" dirty="0">
                <a:solidFill>
                  <a:schemeClr val="accent2"/>
                </a:solidFill>
              </a:rPr>
              <a:t>Miércoles 10 de Diciembre</a:t>
            </a:r>
          </a:p>
          <a:p>
            <a:pPr>
              <a:lnSpc>
                <a:spcPct val="200000"/>
              </a:lnSpc>
            </a:pPr>
            <a:r>
              <a:rPr lang="es-ES_tradnl" dirty="0">
                <a:solidFill>
                  <a:srgbClr val="002060"/>
                </a:solidFill>
              </a:rPr>
              <a:t>Consultas</a:t>
            </a:r>
            <a:r>
              <a:rPr lang="es-ES_tradnl" dirty="0"/>
              <a:t>: Email o </a:t>
            </a:r>
            <a:r>
              <a:rPr lang="es-ES_tradnl" dirty="0">
                <a:hlinkClick r:id="rId3"/>
              </a:rPr>
              <a:t>Calendly</a:t>
            </a:r>
            <a:endParaRPr lang="es-ES_tradnl" dirty="0">
              <a:solidFill>
                <a:srgbClr val="FF0000"/>
              </a:solidFill>
            </a:endParaRPr>
          </a:p>
          <a:p>
            <a:pPr marL="0" indent="0">
              <a:lnSpc>
                <a:spcPct val="200000"/>
              </a:lnSpc>
              <a:buNone/>
            </a:pPr>
            <a:endParaRPr lang="es-ES_tradnl" dirty="0">
              <a:solidFill>
                <a:srgbClr val="002060"/>
              </a:solidFill>
            </a:endParaRPr>
          </a:p>
          <a:p>
            <a:pPr marL="0" indent="0">
              <a:lnSpc>
                <a:spcPct val="200000"/>
              </a:lnSpc>
              <a:buNone/>
            </a:pPr>
            <a:endParaRPr lang="es-ES_tradnl" i="1" u="sng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DAD31DF-2AE7-1DEC-F2F5-AA77551068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35369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AE00F5-C7EE-2CC9-E9BA-CD7EB57AFC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839" y="1138265"/>
            <a:ext cx="6911169" cy="859869"/>
          </a:xfrm>
        </p:spPr>
        <p:txBody>
          <a:bodyPr anchor="t">
            <a:normAutofit/>
          </a:bodyPr>
          <a:lstStyle/>
          <a:p>
            <a:r>
              <a:rPr lang="es-ES_tradnl" sz="4000"/>
              <a:t>En la clase de hoy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A8327E-74B0-5F1D-D3E8-C9714B43F8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1840" y="1998134"/>
            <a:ext cx="6756560" cy="415597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ES_tradnl" dirty="0">
                <a:solidFill>
                  <a:srgbClr val="00B050"/>
                </a:solidFill>
              </a:rPr>
              <a:t>CART: Arboles de regresión y clasificación</a:t>
            </a:r>
          </a:p>
          <a:p>
            <a:pPr marL="0" indent="0">
              <a:buNone/>
            </a:pPr>
            <a:r>
              <a:rPr lang="es-ES_tradnl" dirty="0">
                <a:solidFill>
                  <a:srgbClr val="002060"/>
                </a:solidFill>
              </a:rPr>
              <a:t>Métodos basados en Arboles de Decisión</a:t>
            </a:r>
          </a:p>
          <a:p>
            <a:pPr marL="514350" indent="-514350">
              <a:buFont typeface="Arial" panose="020B0604020202020204" pitchFamily="34" charset="0"/>
              <a:buAutoNum type="arabicPeriod"/>
            </a:pPr>
            <a:r>
              <a:rPr lang="es-ES_tradnl" dirty="0"/>
              <a:t>Bagging ⭐︎ </a:t>
            </a:r>
          </a:p>
          <a:p>
            <a:pPr marL="514350" indent="-514350">
              <a:buAutoNum type="arabicPeriod"/>
            </a:pPr>
            <a:r>
              <a:rPr lang="es-ES_tradnl" dirty="0"/>
              <a:t>Random︎ Forest ⭐︎</a:t>
            </a:r>
          </a:p>
          <a:p>
            <a:pPr marL="514350" indent="-514350">
              <a:buAutoNum type="arabicPeriod"/>
            </a:pPr>
            <a:r>
              <a:rPr lang="es-ES_tradnl" dirty="0"/>
              <a:t>Boosting ⭐︎</a:t>
            </a:r>
          </a:p>
        </p:txBody>
      </p:sp>
      <p:pic>
        <p:nvPicPr>
          <p:cNvPr id="5" name="Graphic 1" descr="Brain in head outline">
            <a:extLst>
              <a:ext uri="{FF2B5EF4-FFF2-40B4-BE49-F238E27FC236}">
                <a16:creationId xmlns:a16="http://schemas.microsoft.com/office/drawing/2014/main" id="{161E704C-660A-51E5-F0B0-64F29A9312F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flipH="1">
            <a:off x="7274182" y="1566745"/>
            <a:ext cx="4155978" cy="4155978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B0393B2-27BD-5888-9D83-58D8D3F723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fld id="{278C1CC4-2077-434E-BCF1-5D01C08A9B17}" type="slidenum">
              <a:rPr lang="en-US" sz="1800" smtClean="0"/>
              <a:pPr>
                <a:lnSpc>
                  <a:spcPct val="90000"/>
                </a:lnSpc>
                <a:spcAft>
                  <a:spcPts val="600"/>
                </a:spcAft>
              </a:pPr>
              <a:t>3</a:t>
            </a:fld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14802642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C42471-9418-E3E3-C7E5-30087178FA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Introducción a Árboles: CART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A780597-6948-B78E-E6E3-6E4F9F1321E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US" sz="2400" dirty="0"/>
              <a:t>References</a:t>
            </a:r>
          </a:p>
          <a:p>
            <a:r>
              <a:rPr lang="es-AR" sz="2400" b="1" dirty="0">
                <a:solidFill>
                  <a:srgbClr val="00663D"/>
                </a:solidFill>
                <a:effectLst/>
                <a:latin typeface="Times" pitchFamily="2" charset="0"/>
                <a:ea typeface="Times" pitchFamily="2" charset="0"/>
                <a:cs typeface="Times" pitchFamily="2" charset="0"/>
              </a:rPr>
              <a:t>† </a:t>
            </a:r>
            <a:r>
              <a:rPr lang="en-US" sz="2400" dirty="0"/>
              <a:t>James, G., Witten, D., Hastie, T., Tibshirani, R., &amp; Taylor, J. (2023). </a:t>
            </a:r>
            <a:r>
              <a:rPr lang="en-US" sz="2400" i="1" dirty="0"/>
              <a:t>An introduction to statistical learning: With applications in Python. </a:t>
            </a:r>
            <a:r>
              <a:rPr lang="en-US" sz="2400" b="1" dirty="0"/>
              <a:t>Chap. 8.1</a:t>
            </a:r>
          </a:p>
          <a:p>
            <a:r>
              <a:rPr lang="en-US" sz="2400" b="1" cap="small" dirty="0">
                <a:solidFill>
                  <a:srgbClr val="002060"/>
                </a:solidFill>
                <a:effectLst/>
                <a:latin typeface="Times" pitchFamily="2" charset="0"/>
                <a:ea typeface="Times" pitchFamily="2" charset="0"/>
                <a:cs typeface="Times" pitchFamily="2" charset="0"/>
              </a:rPr>
              <a:t>* </a:t>
            </a:r>
            <a:r>
              <a:rPr lang="en-US" sz="240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Gill Sans Nova Light" panose="020B0302020104020203" pitchFamily="34" charset="0"/>
                <a:ea typeface="Gill Sans" panose="020B0502020104020203" pitchFamily="34" charset="-79"/>
                <a:cs typeface="Gill Sans" panose="020B0502020104020203" pitchFamily="34" charset="-79"/>
              </a:rPr>
              <a:t>Friedman, J., Hastie, T., &amp; Tibshirani, R. (2001). </a:t>
            </a:r>
            <a:r>
              <a:rPr lang="en-US" sz="2400" i="1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Gill Sans Nova Light" panose="020B0302020104020203" pitchFamily="34" charset="0"/>
                <a:ea typeface="Gill Sans" panose="020B0502020104020203" pitchFamily="34" charset="-79"/>
                <a:cs typeface="Gill Sans" panose="020B0502020104020203" pitchFamily="34" charset="-79"/>
              </a:rPr>
              <a:t>The elements of statistical learning </a:t>
            </a:r>
            <a:r>
              <a:rPr lang="en-US" sz="240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Gill Sans Nova Light" panose="020B0302020104020203" pitchFamily="34" charset="0"/>
                <a:ea typeface="Gill Sans" panose="020B0502020104020203" pitchFamily="34" charset="-79"/>
                <a:cs typeface="Gill Sans" panose="020B0502020104020203" pitchFamily="34" charset="-79"/>
              </a:rPr>
              <a:t>(Vol. 1). </a:t>
            </a:r>
            <a:r>
              <a:rPr lang="en-US" sz="2400" b="1" dirty="0"/>
              <a:t>Chap 9.2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18F5EC8-9CA8-BFFB-D2D0-21A5435315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86652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8F928D-A2F2-F5F0-0018-094C88CCAF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 Árboles: </a:t>
            </a:r>
            <a:r>
              <a:rPr lang="es-ES_tradnl" i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Motivación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2251C54-6391-40F9-DD28-4D35AA1D76B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77500" lnSpcReduction="20000"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s-ES_tradnl" dirty="0"/>
                  <a:t>Modelo de la relación entre </a:t>
                </a:r>
                <a14:m>
                  <m:oMath xmlns:m="http://schemas.openxmlformats.org/officeDocument/2006/math">
                    <m:r>
                      <a:rPr lang="es-ES_tradnl" b="0" i="1" smtClean="0"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lang="es-ES_tradnl" dirty="0"/>
                  <a:t> y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:</m:t>
                    </m:r>
                  </m:oMath>
                </a14:m>
                <a:endParaRPr lang="en-US" b="0" dirty="0"/>
              </a:p>
              <a:p>
                <a:pPr lvl="1">
                  <a:lnSpc>
                    <a:spcPct val="150000"/>
                  </a:lnSpc>
                  <a:buFont typeface="Wingdings" pitchFamily="2" charset="2"/>
                  <a:buChar char="ü"/>
                </a:pPr>
                <a:r>
                  <a:rPr lang="es-ES_tradnl" dirty="0"/>
                  <a:t>Modelo flexible</a:t>
                </a:r>
              </a:p>
              <a:p>
                <a:pPr lvl="1">
                  <a:lnSpc>
                    <a:spcPct val="150000"/>
                  </a:lnSpc>
                  <a:buFont typeface="Wingdings" pitchFamily="2" charset="2"/>
                  <a:buChar char="ü"/>
                </a:pPr>
                <a:r>
                  <a:rPr lang="es-ES_tradnl" dirty="0"/>
                  <a:t>Simple</a:t>
                </a:r>
              </a:p>
              <a:p>
                <a:pPr lvl="1">
                  <a:lnSpc>
                    <a:spcPct val="150000"/>
                  </a:lnSpc>
                  <a:buFont typeface="Wingdings" pitchFamily="2" charset="2"/>
                  <a:buChar char="ü"/>
                </a:pPr>
                <a:r>
                  <a:rPr lang="es-ES_tradnl" dirty="0"/>
                  <a:t>Interpretable</a:t>
                </a:r>
              </a:p>
              <a:p>
                <a:pPr>
                  <a:lnSpc>
                    <a:spcPct val="150000"/>
                  </a:lnSpc>
                </a:pPr>
                <a:r>
                  <a:rPr lang="es-ES_tradnl" dirty="0">
                    <a:solidFill>
                      <a:srgbClr val="002060"/>
                    </a:solidFill>
                  </a:rPr>
                  <a:t>Métodos basados en Árboles</a:t>
                </a:r>
                <a:r>
                  <a:rPr lang="es-ES_tradnl" dirty="0"/>
                  <a:t>: </a:t>
                </a:r>
                <a:r>
                  <a:rPr lang="es-ES_tradnl" dirty="0">
                    <a:solidFill>
                      <a:srgbClr val="7030A0"/>
                    </a:solidFill>
                  </a:rPr>
                  <a:t>partir</a:t>
                </a:r>
                <a:r>
                  <a:rPr lang="es-ES_tradnl" dirty="0"/>
                  <a:t> el espacio de atributos en ‘rectángulos’, y ajustar un modelo </a:t>
                </a:r>
                <a:r>
                  <a:rPr lang="es-ES_tradnl" dirty="0">
                    <a:solidFill>
                      <a:srgbClr val="00B050"/>
                    </a:solidFill>
                  </a:rPr>
                  <a:t>simple</a:t>
                </a:r>
                <a:r>
                  <a:rPr lang="es-ES_tradnl" dirty="0"/>
                  <a:t> para </a:t>
                </a:r>
                <a14:m>
                  <m:oMath xmlns:m="http://schemas.openxmlformats.org/officeDocument/2006/math">
                    <m:r>
                      <a:rPr lang="es-ES_tradnl" b="0" i="1" smtClean="0"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lang="es-ES_tradnl" dirty="0"/>
                  <a:t> dentro de región.</a:t>
                </a:r>
              </a:p>
              <a:p>
                <a:pPr lvl="1">
                  <a:lnSpc>
                    <a:spcPct val="150000"/>
                  </a:lnSpc>
                </a:pPr>
                <a:r>
                  <a:rPr lang="es-ES_tradnl" dirty="0">
                    <a:solidFill>
                      <a:srgbClr val="002060"/>
                    </a:solidFill>
                  </a:rPr>
                  <a:t>Idea</a:t>
                </a:r>
                <a:r>
                  <a:rPr lang="es-ES_tradnl" dirty="0"/>
                  <a:t>: estratificar o segmentar el espacio de predictores en un numero de simple regiones</a:t>
                </a:r>
              </a:p>
              <a:p>
                <a:pPr marL="0" indent="0">
                  <a:lnSpc>
                    <a:spcPct val="150000"/>
                  </a:lnSpc>
                  <a:buNone/>
                </a:pPr>
                <a:endParaRPr lang="es-ES_tradnl" dirty="0"/>
              </a:p>
              <a:p>
                <a:pPr marL="0" indent="0">
                  <a:lnSpc>
                    <a:spcPct val="150000"/>
                  </a:lnSpc>
                  <a:buNone/>
                </a:pPr>
                <a:endParaRPr lang="es-ES_tradnl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2251C54-6391-40F9-DD28-4D35AA1D76B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844" r="-36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002FF52-2078-33AA-2581-B2D482047C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00350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8F928D-A2F2-F5F0-0018-094C88CCAF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 Árboles: </a:t>
            </a:r>
            <a:r>
              <a:rPr lang="es-ES_tradnl" i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Motivación I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251C54-6391-40F9-DD28-4D35AA1D76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>
              <a:lnSpc>
                <a:spcPct val="150000"/>
              </a:lnSpc>
            </a:pPr>
            <a:r>
              <a:rPr lang="es-ES_tradnl" dirty="0"/>
              <a:t>¿Para qué? </a:t>
            </a:r>
          </a:p>
          <a:p>
            <a:pPr lvl="1">
              <a:lnSpc>
                <a:spcPct val="150000"/>
              </a:lnSpc>
              <a:buFont typeface="Wingdings" pitchFamily="2" charset="2"/>
              <a:buChar char="ü"/>
            </a:pPr>
            <a:r>
              <a:rPr lang="es-ES_tradnl" dirty="0"/>
              <a:t>No-linealidades</a:t>
            </a:r>
          </a:p>
          <a:p>
            <a:pPr lvl="1">
              <a:lnSpc>
                <a:spcPct val="150000"/>
              </a:lnSpc>
              <a:buFont typeface="Wingdings" pitchFamily="2" charset="2"/>
              <a:buChar char="ü"/>
            </a:pPr>
            <a:r>
              <a:rPr lang="es-ES_tradnl" dirty="0"/>
              <a:t>Clasificación</a:t>
            </a:r>
          </a:p>
          <a:p>
            <a:pPr lvl="1">
              <a:lnSpc>
                <a:spcPct val="150000"/>
              </a:lnSpc>
              <a:buFont typeface="Wingdings" pitchFamily="2" charset="2"/>
              <a:buChar char="ü"/>
            </a:pPr>
            <a:r>
              <a:rPr lang="es-ES_tradnl" dirty="0"/>
              <a:t>Interacciones</a:t>
            </a:r>
          </a:p>
          <a:p>
            <a:pPr lvl="1">
              <a:lnSpc>
                <a:spcPct val="150000"/>
              </a:lnSpc>
              <a:buFont typeface="Wingdings" pitchFamily="2" charset="2"/>
              <a:buChar char="ü"/>
            </a:pPr>
            <a:r>
              <a:rPr lang="es-ES_tradnl" dirty="0"/>
              <a:t>Reducción de la dimensionalidad</a:t>
            </a:r>
          </a:p>
          <a:p>
            <a:pPr lvl="1">
              <a:lnSpc>
                <a:spcPct val="150000"/>
              </a:lnSpc>
              <a:buFont typeface="Wingdings" pitchFamily="2" charset="2"/>
              <a:buChar char="ü"/>
            </a:pPr>
            <a:r>
              <a:rPr lang="es-ES_tradnl" dirty="0"/>
              <a:t>Predicción.</a:t>
            </a:r>
            <a:endParaRPr lang="es-ES_tradnl" dirty="0">
              <a:solidFill>
                <a:srgbClr val="FF0000"/>
              </a:solidFill>
            </a:endParaRPr>
          </a:p>
          <a:p>
            <a:pPr>
              <a:lnSpc>
                <a:spcPct val="150000"/>
              </a:lnSpc>
            </a:pPr>
            <a:r>
              <a:rPr lang="es-ES_tradnl" dirty="0">
                <a:solidFill>
                  <a:srgbClr val="FF0000"/>
                </a:solidFill>
              </a:rPr>
              <a:t>CART</a:t>
            </a:r>
            <a:r>
              <a:rPr lang="es-ES_tradnl" dirty="0"/>
              <a:t>: </a:t>
            </a:r>
            <a:r>
              <a:rPr lang="es-ES_tradnl" i="1" dirty="0" err="1"/>
              <a:t>Classification</a:t>
            </a:r>
            <a:r>
              <a:rPr lang="es-ES_tradnl" i="1" dirty="0"/>
              <a:t> and </a:t>
            </a:r>
            <a:r>
              <a:rPr lang="es-ES_tradnl" i="1" dirty="0" err="1"/>
              <a:t>Regression</a:t>
            </a:r>
            <a:r>
              <a:rPr lang="es-ES_tradnl" i="1" dirty="0"/>
              <a:t> </a:t>
            </a:r>
            <a:r>
              <a:rPr lang="es-ES_tradnl" i="1" dirty="0" err="1"/>
              <a:t>Tree</a:t>
            </a:r>
            <a:endParaRPr lang="es-ES_tradnl" i="1" dirty="0"/>
          </a:p>
          <a:p>
            <a:pPr>
              <a:lnSpc>
                <a:spcPct val="150000"/>
              </a:lnSpc>
            </a:pPr>
            <a:endParaRPr lang="es-ES_tradnl" dirty="0"/>
          </a:p>
          <a:p>
            <a:pPr marL="0" indent="0">
              <a:lnSpc>
                <a:spcPct val="150000"/>
              </a:lnSpc>
              <a:buNone/>
            </a:pPr>
            <a:endParaRPr lang="es-ES_tradn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002FF52-2078-33AA-2581-B2D482047C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9066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1047C5-1CF1-5BD7-8E22-5FD0B175D3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Tipo de árboles 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EDEC7B7-FFAA-1B1E-300A-35BAE8E1B19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 anchor="t"/>
              <a:lstStyle/>
              <a:p>
                <a:pPr>
                  <a:lnSpc>
                    <a:spcPct val="200000"/>
                  </a:lnSpc>
                </a:pPr>
                <a:r>
                  <a:rPr lang="es-ES_tradnl" dirty="0">
                    <a:solidFill>
                      <a:srgbClr val="002060"/>
                    </a:solidFill>
                  </a:rPr>
                  <a:t>Árboles de Regresión </a:t>
                </a:r>
                <a:r>
                  <a:rPr lang="es-ES_tradnl" i="1" dirty="0"/>
                  <a:t>(</a:t>
                </a:r>
                <a:r>
                  <a:rPr lang="es-ES_tradnl" i="1" dirty="0" err="1"/>
                  <a:t>Regression</a:t>
                </a:r>
                <a:r>
                  <a:rPr lang="es-ES_tradnl" i="1" dirty="0"/>
                  <a:t> </a:t>
                </a:r>
                <a:r>
                  <a:rPr lang="es-ES_tradnl" i="1" dirty="0" err="1"/>
                  <a:t>Tree</a:t>
                </a:r>
                <a:r>
                  <a:rPr lang="es-ES_tradnl" i="1" dirty="0"/>
                  <a:t>)</a:t>
                </a:r>
                <a:r>
                  <a:rPr lang="es-ES_tradnl" dirty="0"/>
                  <a:t>: </a:t>
                </a:r>
                <a14:m>
                  <m:oMath xmlns:m="http://schemas.openxmlformats.org/officeDocument/2006/math">
                    <m:r>
                      <a:rPr lang="es-ES_tradnl" b="0" i="1" smtClean="0"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lang="es-ES_tradnl" dirty="0"/>
                  <a:t> variable numérica </a:t>
                </a:r>
              </a:p>
              <a:p>
                <a:pPr>
                  <a:lnSpc>
                    <a:spcPct val="200000"/>
                  </a:lnSpc>
                </a:pPr>
                <a:r>
                  <a:rPr lang="es-ES_tradnl" dirty="0">
                    <a:solidFill>
                      <a:srgbClr val="002060"/>
                    </a:solidFill>
                  </a:rPr>
                  <a:t>Árboles de Clasificación (</a:t>
                </a:r>
                <a:r>
                  <a:rPr lang="es-ES_tradnl" i="1" dirty="0" err="1"/>
                  <a:t>Classification</a:t>
                </a:r>
                <a:r>
                  <a:rPr lang="es-ES_tradnl" i="1" dirty="0"/>
                  <a:t> </a:t>
                </a:r>
                <a:r>
                  <a:rPr lang="es-ES_tradnl" i="1" dirty="0" err="1"/>
                  <a:t>Tree</a:t>
                </a:r>
                <a:r>
                  <a:rPr lang="es-ES_tradnl" i="1" dirty="0"/>
                  <a:t>)</a:t>
                </a:r>
                <a:r>
                  <a:rPr lang="es-ES_tradnl" dirty="0"/>
                  <a:t>: </a:t>
                </a:r>
                <a14:m>
                  <m:oMath xmlns:m="http://schemas.openxmlformats.org/officeDocument/2006/math">
                    <m:r>
                      <a:rPr lang="es-ES_tradnl" b="0" i="1" smtClean="0"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lang="es-ES_tradnl" dirty="0"/>
                  <a:t> variable binaria o categórica. 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EDEC7B7-FFAA-1B1E-300A-35BAE8E1B19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327" r="-724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73B9DDB-730D-C95C-29F9-8B2241E16F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460110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8F928D-A2F2-F5F0-0018-094C88CCAF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 Árboles: </a:t>
            </a:r>
            <a:r>
              <a:rPr lang="es-ES_tradnl" i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Ilustración I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251C54-6391-40F9-DD28-4D35AA1D76B8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92500"/>
          </a:bodyPr>
          <a:lstStyle/>
          <a:p>
            <a:pPr>
              <a:lnSpc>
                <a:spcPct val="150000"/>
              </a:lnSpc>
            </a:pPr>
            <a:r>
              <a:rPr lang="es-ES_tradnl" dirty="0"/>
              <a:t>Partición de Ejemplo 1. ¿Problema?</a:t>
            </a:r>
          </a:p>
          <a:p>
            <a:pPr>
              <a:lnSpc>
                <a:spcPct val="150000"/>
              </a:lnSpc>
            </a:pPr>
            <a:r>
              <a:rPr lang="es-ES_tradnl" dirty="0">
                <a:solidFill>
                  <a:srgbClr val="002060"/>
                </a:solidFill>
              </a:rPr>
              <a:t>Idea</a:t>
            </a:r>
            <a:r>
              <a:rPr lang="es-ES_tradnl" dirty="0"/>
              <a:t>: Elegir la variable y el punto de partición de manera </a:t>
            </a:r>
            <a:r>
              <a:rPr lang="es-ES_tradnl" dirty="0">
                <a:solidFill>
                  <a:srgbClr val="002060"/>
                </a:solidFill>
              </a:rPr>
              <a:t>optima</a:t>
            </a:r>
          </a:p>
          <a:p>
            <a:pPr lvl="1">
              <a:lnSpc>
                <a:spcPct val="150000"/>
              </a:lnSpc>
            </a:pPr>
            <a:r>
              <a:rPr lang="es-ES_tradnl" dirty="0">
                <a:solidFill>
                  <a:srgbClr val="00B050"/>
                </a:solidFill>
              </a:rPr>
              <a:t>Mejor</a:t>
            </a:r>
            <a:r>
              <a:rPr lang="es-ES_tradnl" dirty="0"/>
              <a:t> ajuste global, </a:t>
            </a:r>
            <a:r>
              <a:rPr lang="es-ES_tradnl" dirty="0">
                <a:solidFill>
                  <a:srgbClr val="FF0000"/>
                </a:solidFill>
              </a:rPr>
              <a:t>menor</a:t>
            </a:r>
            <a:r>
              <a:rPr lang="es-ES_tradnl" dirty="0"/>
              <a:t> error de predicción </a:t>
            </a:r>
          </a:p>
          <a:p>
            <a:pPr lvl="1">
              <a:lnSpc>
                <a:spcPct val="150000"/>
              </a:lnSpc>
            </a:pPr>
            <a:endParaRPr lang="es-ES_tradnl" dirty="0"/>
          </a:p>
          <a:p>
            <a:pPr>
              <a:lnSpc>
                <a:spcPct val="150000"/>
              </a:lnSpc>
            </a:pPr>
            <a:endParaRPr lang="es-ES_tradnl" dirty="0"/>
          </a:p>
          <a:p>
            <a:pPr marL="0" indent="0">
              <a:lnSpc>
                <a:spcPct val="150000"/>
              </a:lnSpc>
              <a:buNone/>
            </a:pPr>
            <a:endParaRPr lang="es-ES_tradnl" dirty="0"/>
          </a:p>
        </p:txBody>
      </p:sp>
      <p:pic>
        <p:nvPicPr>
          <p:cNvPr id="8" name="Content Placeholder 7" descr="A black and white square with a rectangular pattern&#10;&#10;Description automatically generated with medium confidence">
            <a:extLst>
              <a:ext uri="{FF2B5EF4-FFF2-40B4-BE49-F238E27FC236}">
                <a16:creationId xmlns:a16="http://schemas.microsoft.com/office/drawing/2014/main" id="{982C79D9-2D6A-2EA0-AD77-C271F6DF1DF3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617633" y="1479176"/>
            <a:ext cx="4632358" cy="4697787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002FF52-2078-33AA-2581-B2D482047C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8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6948483-B51A-5EF5-1F96-3E27AD36109A}"/>
              </a:ext>
            </a:extLst>
          </p:cNvPr>
          <p:cNvSpPr txBox="1"/>
          <p:nvPr/>
        </p:nvSpPr>
        <p:spPr>
          <a:xfrm>
            <a:off x="6617633" y="6007686"/>
            <a:ext cx="482803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effectLst/>
                <a:latin typeface="Gill Sans Nova Light" panose="020B0302020104020203" pitchFamily="34" charset="0"/>
              </a:rPr>
              <a:t>James, Witten, Hastie, Tibshirani</a:t>
            </a:r>
            <a:r>
              <a:rPr lang="en-US" sz="1600" dirty="0">
                <a:latin typeface="Gill Sans Nova Light" panose="020B0302020104020203" pitchFamily="34" charset="0"/>
              </a:rPr>
              <a:t> &amp; Taylor (</a:t>
            </a:r>
            <a:r>
              <a:rPr lang="en-US" sz="1600" dirty="0">
                <a:effectLst/>
                <a:latin typeface="Gill Sans Nova Light" panose="020B0302020104020203" pitchFamily="34" charset="0"/>
              </a:rPr>
              <a:t>2023). p.335</a:t>
            </a:r>
            <a:endParaRPr lang="en-US" sz="4400" dirty="0">
              <a:effectLst/>
              <a:latin typeface="Gill Sans Nova Light" panose="020B03020201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548873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C42471-9418-E3E3-C7E5-30087178FA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CART: Ilustración &amp; Formalización del algoritmo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A780597-6948-B78E-E6E3-6E4F9F1321E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US" sz="2400" dirty="0"/>
              <a:t>References</a:t>
            </a:r>
          </a:p>
          <a:p>
            <a:r>
              <a:rPr lang="es-AR" sz="2400" b="1" dirty="0">
                <a:solidFill>
                  <a:srgbClr val="00663D"/>
                </a:solidFill>
                <a:effectLst/>
                <a:latin typeface="Times" pitchFamily="2" charset="0"/>
                <a:ea typeface="Times" pitchFamily="2" charset="0"/>
                <a:cs typeface="Times" pitchFamily="2" charset="0"/>
              </a:rPr>
              <a:t>† </a:t>
            </a:r>
            <a:r>
              <a:rPr lang="en-US" sz="2400" dirty="0"/>
              <a:t>James, G., Witten, D., Hastie, T., Tibshirani, R., &amp; Taylor, J. (2023). </a:t>
            </a:r>
            <a:r>
              <a:rPr lang="en-US" sz="2400" i="1" dirty="0"/>
              <a:t>An introduction to statistical learning: With applications in Python. </a:t>
            </a:r>
            <a:r>
              <a:rPr lang="en-US" sz="2400" b="1" dirty="0"/>
              <a:t>Chap. 8.1</a:t>
            </a:r>
          </a:p>
          <a:p>
            <a:r>
              <a:rPr lang="en-US" sz="2400" b="1" cap="small" dirty="0">
                <a:solidFill>
                  <a:srgbClr val="002060"/>
                </a:solidFill>
                <a:effectLst/>
                <a:latin typeface="Times" pitchFamily="2" charset="0"/>
                <a:ea typeface="Times" pitchFamily="2" charset="0"/>
                <a:cs typeface="Times" pitchFamily="2" charset="0"/>
              </a:rPr>
              <a:t>* </a:t>
            </a:r>
            <a:r>
              <a:rPr lang="en-US" sz="240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Gill Sans Nova Light" panose="020B0302020104020203" pitchFamily="34" charset="0"/>
                <a:ea typeface="Gill Sans" panose="020B0502020104020203" pitchFamily="34" charset="-79"/>
                <a:cs typeface="Gill Sans" panose="020B0502020104020203" pitchFamily="34" charset="-79"/>
              </a:rPr>
              <a:t>Friedman, J., Hastie, T., &amp; Tibshirani, R. (2001). </a:t>
            </a:r>
            <a:r>
              <a:rPr lang="en-US" sz="2400" i="1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Gill Sans Nova Light" panose="020B0302020104020203" pitchFamily="34" charset="0"/>
                <a:ea typeface="Gill Sans" panose="020B0502020104020203" pitchFamily="34" charset="-79"/>
                <a:cs typeface="Gill Sans" panose="020B0502020104020203" pitchFamily="34" charset="-79"/>
              </a:rPr>
              <a:t>The elements of statistical learning </a:t>
            </a:r>
            <a:r>
              <a:rPr lang="en-US" sz="240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Gill Sans Nova Light" panose="020B0302020104020203" pitchFamily="34" charset="0"/>
                <a:ea typeface="Gill Sans" panose="020B0502020104020203" pitchFamily="34" charset="-79"/>
                <a:cs typeface="Gill Sans" panose="020B0502020104020203" pitchFamily="34" charset="-79"/>
              </a:rPr>
              <a:t>(Vol. 1). </a:t>
            </a:r>
            <a:r>
              <a:rPr lang="en-US" sz="2400" b="1" dirty="0"/>
              <a:t>Chap 9.2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18F5EC8-9CA8-BFFB-D2D0-21A5435315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840620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8F928D-A2F2-F5F0-0018-094C88CCAF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 Árboles: </a:t>
            </a:r>
            <a:r>
              <a:rPr lang="es-ES_tradnl" i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Algoritmo, versión simple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2251C54-6391-40F9-DD28-4D35AA1D76B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70000" lnSpcReduction="20000"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s-ES_tradnl" dirty="0"/>
                  <a:t>Supongamos</a:t>
                </a:r>
                <a:endParaRPr lang="es-ES_tradnl" b="0" i="1" dirty="0">
                  <a:latin typeface="Cambria Math" panose="02040503050406030204" pitchFamily="18" charset="0"/>
                </a:endParaRPr>
              </a:p>
              <a:p>
                <a:pPr lvl="1"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s-ES_tradnl" b="0" i="1" smtClean="0"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lang="es-ES_tradnl" dirty="0"/>
                  <a:t> Variable de respuesta continua</a:t>
                </a:r>
              </a:p>
              <a:p>
                <a:pPr lvl="1">
                  <a:lnSpc>
                    <a:spcPct val="1500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s-ES_tradnl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_tradnl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s-ES_tradnl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s-ES_tradnl" b="0" i="1" smtClean="0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s-ES_tradnl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_tradnl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s-ES_tradnl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s-ES_tradnl" dirty="0"/>
                  <a:t> Predictores con valores entre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s-ES_tradnl" dirty="0"/>
                  <a:t> y </a:t>
                </a:r>
                <a14:m>
                  <m:oMath xmlns:m="http://schemas.openxmlformats.org/officeDocument/2006/math">
                    <m:r>
                      <a:rPr lang="es-ES_tradnl" i="1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endParaRPr lang="es-ES_tradnl" dirty="0"/>
              </a:p>
              <a:p>
                <a:pPr>
                  <a:lnSpc>
                    <a:spcPct val="150000"/>
                  </a:lnSpc>
                </a:pPr>
                <a:r>
                  <a:rPr lang="es-ES_tradnl" dirty="0">
                    <a:solidFill>
                      <a:srgbClr val="002060"/>
                    </a:solidFill>
                  </a:rPr>
                  <a:t>Algoritmo de Árboles</a:t>
                </a:r>
                <a:r>
                  <a:rPr lang="es-ES_tradnl" dirty="0"/>
                  <a:t>: </a:t>
                </a:r>
              </a:p>
              <a:p>
                <a:pPr marL="971550" lvl="1" indent="-514350">
                  <a:lnSpc>
                    <a:spcPct val="150000"/>
                  </a:lnSpc>
                  <a:buFont typeface="+mj-lt"/>
                  <a:buAutoNum type="arabicPeriod"/>
                </a:pPr>
                <a:r>
                  <a:rPr lang="es-ES_tradnl" dirty="0"/>
                  <a:t>Partimos el espacio de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s-ES_tradnl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s-ES_tradnl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ES_tradnl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s-ES_tradnl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s-ES_tradnl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s-ES_tradnl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ES_tradnl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s-ES_tradnl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</m:oMath>
                </a14:m>
                <a:r>
                  <a:rPr lang="es-ES_tradnl" dirty="0"/>
                  <a:t> en dos regiones:</a:t>
                </a:r>
              </a:p>
              <a:p>
                <a:pPr lvl="2">
                  <a:lnSpc>
                    <a:spcPct val="150000"/>
                  </a:lnSpc>
                </a:pPr>
                <a:r>
                  <a:rPr lang="es-ES_tradnl" dirty="0"/>
                  <a:t>Usando 1 variable</a:t>
                </a:r>
              </a:p>
              <a:p>
                <a:pPr lvl="2">
                  <a:lnSpc>
                    <a:spcPct val="150000"/>
                  </a:lnSpc>
                </a:pPr>
                <a:r>
                  <a:rPr lang="es-ES_tradnl" dirty="0"/>
                  <a:t>Partición vertical u horizontal</a:t>
                </a:r>
              </a:p>
              <a:p>
                <a:pPr marL="971550" lvl="1" indent="-514350">
                  <a:lnSpc>
                    <a:spcPct val="150000"/>
                  </a:lnSpc>
                  <a:buFont typeface="+mj-lt"/>
                  <a:buAutoNum type="arabicPeriod"/>
                </a:pPr>
                <a:r>
                  <a:rPr lang="es-ES_tradnl" dirty="0"/>
                  <a:t>Dentro de cada partición: usamos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s-ES_tradnl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s-ES_tradnl" i="1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</m:acc>
                  </m:oMath>
                </a14:m>
                <a:r>
                  <a:rPr lang="es-ES_tradnl" dirty="0"/>
                  <a:t> como predicción de la respuesta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s-ES_tradnl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s-ES_tradnl" i="1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</m:acc>
                  </m:oMath>
                </a14:m>
                <a:endParaRPr lang="es-ES_tradnl" dirty="0"/>
              </a:p>
              <a:p>
                <a:pPr>
                  <a:lnSpc>
                    <a:spcPct val="150000"/>
                  </a:lnSpc>
                </a:pPr>
                <a:r>
                  <a:rPr lang="es-ES_tradnl" i="1" dirty="0"/>
                  <a:t>Partición recursiva binaria</a:t>
                </a:r>
                <a:r>
                  <a:rPr lang="es-ES_tradnl" dirty="0"/>
                  <a:t> en el espacio de atributos </a:t>
                </a:r>
                <a14:m>
                  <m:oMath xmlns:m="http://schemas.openxmlformats.org/officeDocument/2006/math">
                    <m:r>
                      <a:rPr lang="es-ES_tradnl" i="1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endParaRPr lang="es-ES_tradnl" i="1" dirty="0"/>
              </a:p>
              <a:p>
                <a:pPr lvl="1">
                  <a:lnSpc>
                    <a:spcPct val="150000"/>
                  </a:lnSpc>
                </a:pPr>
                <a:endParaRPr lang="es-ES_tradnl" dirty="0"/>
              </a:p>
              <a:p>
                <a:pPr>
                  <a:lnSpc>
                    <a:spcPct val="150000"/>
                  </a:lnSpc>
                </a:pPr>
                <a:endParaRPr lang="es-ES_tradnl" dirty="0"/>
              </a:p>
              <a:p>
                <a:pPr marL="0" indent="0">
                  <a:lnSpc>
                    <a:spcPct val="150000"/>
                  </a:lnSpc>
                  <a:buNone/>
                </a:pPr>
                <a:endParaRPr lang="es-ES_tradnl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2251C54-6391-40F9-DD28-4D35AA1D76B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724" b="-87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002FF52-2078-33AA-2581-B2D482047C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71513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8F928D-A2F2-F5F0-0018-094C88CCAF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 Árboles: </a:t>
            </a:r>
            <a:r>
              <a:rPr lang="es-ES_tradnl" i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Ilustración del Algoritmo I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002FF52-2078-33AA-2581-B2D482047C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11</a:t>
            </a:fld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8FC8E0A-BA8E-4E6C-2CA6-F2934D92ECDC}"/>
              </a:ext>
            </a:extLst>
          </p:cNvPr>
          <p:cNvSpPr/>
          <p:nvPr/>
        </p:nvSpPr>
        <p:spPr>
          <a:xfrm>
            <a:off x="1201271" y="1924423"/>
            <a:ext cx="4894729" cy="3644153"/>
          </a:xfrm>
          <a:prstGeom prst="rect">
            <a:avLst/>
          </a:prstGeom>
          <a:noFill/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06BA81F2-E2FF-0D83-73AB-C6A61904D074}"/>
                  </a:ext>
                </a:extLst>
              </p:cNvPr>
              <p:cNvSpPr txBox="1"/>
              <p:nvPr/>
            </p:nvSpPr>
            <p:spPr>
              <a:xfrm>
                <a:off x="3277160" y="5660949"/>
                <a:ext cx="742949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ES_tradnl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S_tradnl" sz="2400" i="1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s-ES_tradnl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06BA81F2-E2FF-0D83-73AB-C6A61904D07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77160" y="5660949"/>
                <a:ext cx="742949" cy="461665"/>
              </a:xfrm>
              <a:prstGeom prst="rect">
                <a:avLst/>
              </a:prstGeom>
              <a:blipFill>
                <a:blip r:embed="rId3"/>
                <a:stretch>
                  <a:fillRect b="-270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8B0A2DB5-0C7D-08B3-6401-35FE17D8E121}"/>
                  </a:ext>
                </a:extLst>
              </p:cNvPr>
              <p:cNvSpPr txBox="1"/>
              <p:nvPr/>
            </p:nvSpPr>
            <p:spPr>
              <a:xfrm>
                <a:off x="458322" y="3284834"/>
                <a:ext cx="742949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ES_tradnl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S_tradnl" sz="2400" i="1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8B0A2DB5-0C7D-08B3-6401-35FE17D8E12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8322" y="3284834"/>
                <a:ext cx="742949" cy="46166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891FE679-9293-35F1-A9CE-CA4E04B1D1C1}"/>
              </a:ext>
            </a:extLst>
          </p:cNvPr>
          <p:cNvCxnSpPr/>
          <p:nvPr/>
        </p:nvCxnSpPr>
        <p:spPr>
          <a:xfrm>
            <a:off x="2586318" y="1924423"/>
            <a:ext cx="0" cy="3644153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426F6794-5161-749E-F357-E6A3E811B368}"/>
                  </a:ext>
                </a:extLst>
              </p:cNvPr>
              <p:cNvSpPr txBox="1"/>
              <p:nvPr/>
            </p:nvSpPr>
            <p:spPr>
              <a:xfrm>
                <a:off x="2214843" y="5660948"/>
                <a:ext cx="742949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ES_tradnl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s-ES_tradnl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426F6794-5161-749E-F357-E6A3E811B36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14843" y="5660948"/>
                <a:ext cx="742949" cy="461665"/>
              </a:xfrm>
              <a:prstGeom prst="rect">
                <a:avLst/>
              </a:prstGeom>
              <a:blipFill>
                <a:blip r:embed="rId5"/>
                <a:stretch>
                  <a:fillRect b="-270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C1DEA1A8-9072-9598-726C-7CAB92158F76}"/>
                  </a:ext>
                </a:extLst>
              </p:cNvPr>
              <p:cNvSpPr txBox="1"/>
              <p:nvPr/>
            </p:nvSpPr>
            <p:spPr>
              <a:xfrm>
                <a:off x="458322" y="4259071"/>
                <a:ext cx="742949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ES_tradnl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C1DEA1A8-9072-9598-726C-7CAB92158F7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8322" y="4259071"/>
                <a:ext cx="742949" cy="461665"/>
              </a:xfrm>
              <a:prstGeom prst="rect">
                <a:avLst/>
              </a:prstGeom>
              <a:blipFill>
                <a:blip r:embed="rId6"/>
                <a:stretch>
                  <a:fillRect b="-270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8A68686C-AAC6-0BD5-95F0-46118F98334F}"/>
              </a:ext>
            </a:extLst>
          </p:cNvPr>
          <p:cNvCxnSpPr>
            <a:cxnSpLocks/>
          </p:cNvCxnSpPr>
          <p:nvPr/>
        </p:nvCxnSpPr>
        <p:spPr>
          <a:xfrm>
            <a:off x="2615864" y="4470571"/>
            <a:ext cx="3480136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BCA54F50-90FA-DDA6-CEAF-DA96465C1882}"/>
                  </a:ext>
                </a:extLst>
              </p:cNvPr>
              <p:cNvSpPr txBox="1"/>
              <p:nvPr/>
            </p:nvSpPr>
            <p:spPr>
              <a:xfrm>
                <a:off x="1572745" y="3515666"/>
                <a:ext cx="742949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ES_tradnl" sz="24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s-ES_tradnl" sz="24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240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BCA54F50-90FA-DDA6-CEAF-DA96465C188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72745" y="3515666"/>
                <a:ext cx="742949" cy="461665"/>
              </a:xfrm>
              <a:prstGeom prst="rect">
                <a:avLst/>
              </a:prstGeom>
              <a:blipFill>
                <a:blip r:embed="rId7"/>
                <a:stretch>
                  <a:fillRect b="-270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69684C53-CEB2-83F2-FCFD-69450DC495F1}"/>
                  </a:ext>
                </a:extLst>
              </p:cNvPr>
              <p:cNvSpPr txBox="1"/>
              <p:nvPr/>
            </p:nvSpPr>
            <p:spPr>
              <a:xfrm>
                <a:off x="4020109" y="4788741"/>
                <a:ext cx="742949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ES_tradnl" sz="24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sz="24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240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69684C53-CEB2-83F2-FCFD-69450DC495F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20109" y="4788741"/>
                <a:ext cx="742949" cy="461665"/>
              </a:xfrm>
              <a:prstGeom prst="rect">
                <a:avLst/>
              </a:prstGeom>
              <a:blipFill>
                <a:blip r:embed="rId8"/>
                <a:stretch>
                  <a:fillRect b="-270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134431B4-E723-950E-1D55-EED8C0524722}"/>
                  </a:ext>
                </a:extLst>
              </p:cNvPr>
              <p:cNvSpPr txBox="1"/>
              <p:nvPr/>
            </p:nvSpPr>
            <p:spPr>
              <a:xfrm>
                <a:off x="4020108" y="2697729"/>
                <a:ext cx="742949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ES_tradnl" sz="24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sz="24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sz="240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134431B4-E723-950E-1D55-EED8C052472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20108" y="2697729"/>
                <a:ext cx="742949" cy="461665"/>
              </a:xfrm>
              <a:prstGeom prst="rect">
                <a:avLst/>
              </a:prstGeom>
              <a:blipFill>
                <a:blip r:embed="rId9"/>
                <a:stretch>
                  <a:fillRect b="-270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6" name="TextBox 25">
            <a:extLst>
              <a:ext uri="{FF2B5EF4-FFF2-40B4-BE49-F238E27FC236}">
                <a16:creationId xmlns:a16="http://schemas.microsoft.com/office/drawing/2014/main" id="{9D66E315-CEF8-418B-DD9F-CD6A33493C37}"/>
              </a:ext>
            </a:extLst>
          </p:cNvPr>
          <p:cNvSpPr txBox="1"/>
          <p:nvPr/>
        </p:nvSpPr>
        <p:spPr>
          <a:xfrm>
            <a:off x="7777112" y="5030949"/>
            <a:ext cx="17907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_tradnl" dirty="0">
                <a:solidFill>
                  <a:srgbClr val="FF0000"/>
                </a:solidFill>
                <a:latin typeface="Gill Sans Nova Light" panose="020B0302020104020203" pitchFamily="34" charset="0"/>
              </a:rPr>
              <a:t>Nodos terminales</a:t>
            </a:r>
            <a:endParaRPr lang="en-US" dirty="0">
              <a:solidFill>
                <a:srgbClr val="FF0000"/>
              </a:solidFill>
              <a:latin typeface="Gill Sans Nova Light" panose="020B0302020104020203" pitchFamily="34" charset="0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E407CFDB-EBF2-200F-0AC0-75F231EFACC9}"/>
              </a:ext>
            </a:extLst>
          </p:cNvPr>
          <p:cNvSpPr txBox="1"/>
          <p:nvPr/>
        </p:nvSpPr>
        <p:spPr>
          <a:xfrm>
            <a:off x="10390279" y="3566931"/>
            <a:ext cx="154696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_tradnl" dirty="0">
                <a:solidFill>
                  <a:schemeClr val="accent1"/>
                </a:solidFill>
                <a:latin typeface="Gill Sans Nova Light" panose="020B0302020104020203" pitchFamily="34" charset="0"/>
              </a:rPr>
              <a:t>Nodo interno</a:t>
            </a:r>
            <a:endParaRPr lang="en-US" dirty="0">
              <a:solidFill>
                <a:schemeClr val="accent1"/>
              </a:solidFill>
              <a:latin typeface="Gill Sans Nova Light" panose="020B0302020104020203" pitchFamily="34" charset="0"/>
            </a:endParaRPr>
          </a:p>
        </p:txBody>
      </p:sp>
      <p:grpSp>
        <p:nvGrpSpPr>
          <p:cNvPr id="51" name="Group 50">
            <a:extLst>
              <a:ext uri="{FF2B5EF4-FFF2-40B4-BE49-F238E27FC236}">
                <a16:creationId xmlns:a16="http://schemas.microsoft.com/office/drawing/2014/main" id="{3FCEA9C4-0D0C-F8B6-333C-76375CFF561A}"/>
              </a:ext>
            </a:extLst>
          </p:cNvPr>
          <p:cNvGrpSpPr/>
          <p:nvPr/>
        </p:nvGrpSpPr>
        <p:grpSpPr>
          <a:xfrm>
            <a:off x="7013748" y="2337369"/>
            <a:ext cx="2741571" cy="1206494"/>
            <a:chOff x="7013748" y="2337369"/>
            <a:chExt cx="2741571" cy="1206494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Rounded Rectangle 16">
                  <a:extLst>
                    <a:ext uri="{FF2B5EF4-FFF2-40B4-BE49-F238E27FC236}">
                      <a16:creationId xmlns:a16="http://schemas.microsoft.com/office/drawing/2014/main" id="{5C4256FD-7D90-452B-84DD-50687DC4293C}"/>
                    </a:ext>
                  </a:extLst>
                </p:cNvPr>
                <p:cNvSpPr/>
                <p:nvPr/>
              </p:nvSpPr>
              <p:spPr>
                <a:xfrm>
                  <a:off x="8345227" y="2337369"/>
                  <a:ext cx="985979" cy="765345"/>
                </a:xfrm>
                <a:prstGeom prst="roundRect">
                  <a:avLst/>
                </a:prstGeom>
                <a:ln>
                  <a:solidFill>
                    <a:schemeClr val="accent2"/>
                  </a:solidFill>
                </a:ln>
              </p:spPr>
              <p:style>
                <a:lnRef idx="2">
                  <a:schemeClr val="accent2"/>
                </a:lnRef>
                <a:fillRef idx="1">
                  <a:schemeClr val="lt1"/>
                </a:fillRef>
                <a:effectRef idx="0">
                  <a:schemeClr val="accent2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lvl="0" algn="ctr"/>
                  <a14:m>
                    <m:oMath xmlns:m="http://schemas.openxmlformats.org/officeDocument/2006/math">
                      <m:sSub>
                        <m:sSubPr>
                          <m:ctrlPr>
                            <a:rPr lang="es-ES_tradnl" sz="1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S_tradnl" sz="1800" i="1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s-ES_tradnl" sz="18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a14:m>
                  <a:r>
                    <a:rPr lang="en-US" sz="1800" dirty="0"/>
                    <a:t>&lt;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s-ES_tradnl" sz="1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s-ES_tradnl" sz="18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a14:m>
                  <a:endParaRPr lang="en-US" sz="1800" dirty="0"/>
                </a:p>
              </p:txBody>
            </p:sp>
          </mc:Choice>
          <mc:Fallback xmlns="">
            <p:sp>
              <p:nvSpPr>
                <p:cNvPr id="17" name="Rounded Rectangle 16">
                  <a:extLst>
                    <a:ext uri="{FF2B5EF4-FFF2-40B4-BE49-F238E27FC236}">
                      <a16:creationId xmlns:a16="http://schemas.microsoft.com/office/drawing/2014/main" id="{5C4256FD-7D90-452B-84DD-50687DC4293C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345227" y="2337369"/>
                  <a:ext cx="985979" cy="765345"/>
                </a:xfrm>
                <a:prstGeom prst="roundRect">
                  <a:avLst/>
                </a:prstGeom>
                <a:blipFill>
                  <a:blip r:embed="rId10"/>
                  <a:stretch>
                    <a:fillRect/>
                  </a:stretch>
                </a:blipFill>
                <a:ln>
                  <a:solidFill>
                    <a:schemeClr val="accent2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AB0676D5-D328-EA5A-68D9-A31B4D1ED7C1}"/>
                </a:ext>
              </a:extLst>
            </p:cNvPr>
            <p:cNvSpPr txBox="1"/>
            <p:nvPr/>
          </p:nvSpPr>
          <p:spPr>
            <a:xfrm>
              <a:off x="7013748" y="2499821"/>
              <a:ext cx="139316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s-ES_tradnl" dirty="0">
                  <a:solidFill>
                    <a:schemeClr val="accent2"/>
                  </a:solidFill>
                  <a:latin typeface="Gill Sans Nova Light" panose="020B0302020104020203" pitchFamily="34" charset="0"/>
                </a:rPr>
                <a:t>Nodo inicial</a:t>
              </a:r>
              <a:endParaRPr lang="en-US" dirty="0">
                <a:solidFill>
                  <a:schemeClr val="accent2"/>
                </a:solidFill>
                <a:latin typeface="Gill Sans Nova Light" panose="020B0302020104020203" pitchFamily="34" charset="0"/>
              </a:endParaRPr>
            </a:p>
          </p:txBody>
        </p: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969A2A92-B17D-B26D-6137-01AF271F9AA2}"/>
                </a:ext>
              </a:extLst>
            </p:cNvPr>
            <p:cNvCxnSpPr>
              <a:stCxn id="17" idx="2"/>
            </p:cNvCxnSpPr>
            <p:nvPr/>
          </p:nvCxnSpPr>
          <p:spPr>
            <a:xfrm flipH="1">
              <a:off x="7975600" y="3102714"/>
              <a:ext cx="862617" cy="441149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23693FCE-8394-1A47-2E98-F2D82BCD4270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848389" y="3115264"/>
              <a:ext cx="906930" cy="388305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42" name="Rounded Rectangle 41">
                <a:extLst>
                  <a:ext uri="{FF2B5EF4-FFF2-40B4-BE49-F238E27FC236}">
                    <a16:creationId xmlns:a16="http://schemas.microsoft.com/office/drawing/2014/main" id="{D417D993-8938-B517-5C15-81E396E226FF}"/>
                  </a:ext>
                </a:extLst>
              </p:cNvPr>
              <p:cNvSpPr/>
              <p:nvPr/>
            </p:nvSpPr>
            <p:spPr>
              <a:xfrm>
                <a:off x="7381010" y="3531743"/>
                <a:ext cx="964217" cy="493318"/>
              </a:xfrm>
              <a:prstGeom prst="roundRect">
                <a:avLst/>
              </a:prstGeom>
              <a:ln>
                <a:solidFill>
                  <a:srgbClr val="FF0000"/>
                </a:solidFill>
              </a:ln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ES_tradnl" sz="1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̅"/>
                              <m:ctrlPr>
                                <a:rPr lang="es-ES_tradnl" sz="1800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</m:e>
                          </m:acc>
                        </m:e>
                        <m:sub>
                          <m:r>
                            <a:rPr lang="es-ES_tradnl" sz="18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1800" dirty="0"/>
              </a:p>
            </p:txBody>
          </p:sp>
        </mc:Choice>
        <mc:Fallback xmlns="">
          <p:sp>
            <p:nvSpPr>
              <p:cNvPr id="42" name="Rounded Rectangle 41">
                <a:extLst>
                  <a:ext uri="{FF2B5EF4-FFF2-40B4-BE49-F238E27FC236}">
                    <a16:creationId xmlns:a16="http://schemas.microsoft.com/office/drawing/2014/main" id="{D417D993-8938-B517-5C15-81E396E226F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81010" y="3531743"/>
                <a:ext cx="964217" cy="493318"/>
              </a:xfrm>
              <a:prstGeom prst="roundRect">
                <a:avLst/>
              </a:prstGeom>
              <a:blipFill>
                <a:blip r:embed="rId11"/>
                <a:stretch>
                  <a:fillRect/>
                </a:stretch>
              </a:blipFill>
              <a:ln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52" name="Group 51">
            <a:extLst>
              <a:ext uri="{FF2B5EF4-FFF2-40B4-BE49-F238E27FC236}">
                <a16:creationId xmlns:a16="http://schemas.microsoft.com/office/drawing/2014/main" id="{C6212269-89E3-EAC4-8F22-A557D764E5B4}"/>
              </a:ext>
            </a:extLst>
          </p:cNvPr>
          <p:cNvGrpSpPr/>
          <p:nvPr/>
        </p:nvGrpSpPr>
        <p:grpSpPr>
          <a:xfrm>
            <a:off x="8953907" y="3522689"/>
            <a:ext cx="1779719" cy="929272"/>
            <a:chOff x="8953907" y="3522689"/>
            <a:chExt cx="1779719" cy="929272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4" name="Rounded Rectangle 43">
                  <a:extLst>
                    <a:ext uri="{FF2B5EF4-FFF2-40B4-BE49-F238E27FC236}">
                      <a16:creationId xmlns:a16="http://schemas.microsoft.com/office/drawing/2014/main" id="{50919C21-BEB8-C7EE-872B-670322FE48BD}"/>
                    </a:ext>
                  </a:extLst>
                </p:cNvPr>
                <p:cNvSpPr/>
                <p:nvPr/>
              </p:nvSpPr>
              <p:spPr>
                <a:xfrm>
                  <a:off x="9261505" y="3522689"/>
                  <a:ext cx="985979" cy="493776"/>
                </a:xfrm>
                <a:prstGeom prst="roundRect">
                  <a:avLst/>
                </a:prstGeom>
              </p:spPr>
              <p:style>
                <a:lnRef idx="2">
                  <a:schemeClr val="accent1"/>
                </a:lnRef>
                <a:fillRef idx="1">
                  <a:schemeClr val="lt1"/>
                </a:fillRef>
                <a:effectRef idx="0">
                  <a:schemeClr val="accent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lvl="0" algn="ctr"/>
                  <a14:m>
                    <m:oMath xmlns:m="http://schemas.openxmlformats.org/officeDocument/2006/math">
                      <m:sSub>
                        <m:sSubPr>
                          <m:ctrlPr>
                            <a:rPr lang="es-ES_tradnl" sz="1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S_tradnl" sz="1800" i="1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a14:m>
                  <a:r>
                    <a:rPr lang="en-US" sz="1800" dirty="0"/>
                    <a:t>&lt;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s-ES_tradnl" sz="1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a14:m>
                  <a:endParaRPr lang="en-US" sz="1800" dirty="0"/>
                </a:p>
              </p:txBody>
            </p:sp>
          </mc:Choice>
          <mc:Fallback xmlns="">
            <p:sp>
              <p:nvSpPr>
                <p:cNvPr id="44" name="Rounded Rectangle 43">
                  <a:extLst>
                    <a:ext uri="{FF2B5EF4-FFF2-40B4-BE49-F238E27FC236}">
                      <a16:creationId xmlns:a16="http://schemas.microsoft.com/office/drawing/2014/main" id="{50919C21-BEB8-C7EE-872B-670322FE48BD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261505" y="3522689"/>
                  <a:ext cx="985979" cy="493776"/>
                </a:xfrm>
                <a:prstGeom prst="roundRect">
                  <a:avLst/>
                </a:prstGeom>
                <a:blipFill>
                  <a:blip r:embed="rId12"/>
                  <a:stretch>
                    <a:fillRect b="-731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C430C5D4-D699-1F4A-8FB4-C6B11AC3336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953907" y="4010812"/>
              <a:ext cx="862617" cy="441149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Connector 45">
              <a:extLst>
                <a:ext uri="{FF2B5EF4-FFF2-40B4-BE49-F238E27FC236}">
                  <a16:creationId xmlns:a16="http://schemas.microsoft.com/office/drawing/2014/main" id="{2B40FD20-4FB8-379A-71CD-153E956E487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826696" y="4023362"/>
              <a:ext cx="906930" cy="388305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47" name="Rounded Rectangle 46">
                <a:extLst>
                  <a:ext uri="{FF2B5EF4-FFF2-40B4-BE49-F238E27FC236}">
                    <a16:creationId xmlns:a16="http://schemas.microsoft.com/office/drawing/2014/main" id="{A9092230-6D5B-3982-B882-01AA0A54630C}"/>
                  </a:ext>
                </a:extLst>
              </p:cNvPr>
              <p:cNvSpPr/>
              <p:nvPr/>
            </p:nvSpPr>
            <p:spPr>
              <a:xfrm>
                <a:off x="8359317" y="4439841"/>
                <a:ext cx="964217" cy="493318"/>
              </a:xfrm>
              <a:prstGeom prst="roundRect">
                <a:avLst/>
              </a:prstGeom>
              <a:ln>
                <a:solidFill>
                  <a:srgbClr val="FF0000"/>
                </a:solidFill>
              </a:ln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ES_tradnl" sz="1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̅"/>
                              <m:ctrlPr>
                                <a:rPr lang="es-ES_tradnl" sz="1800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</m:e>
                          </m:acc>
                        </m:e>
                        <m:sub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1800" dirty="0"/>
              </a:p>
            </p:txBody>
          </p:sp>
        </mc:Choice>
        <mc:Fallback xmlns="">
          <p:sp>
            <p:nvSpPr>
              <p:cNvPr id="47" name="Rounded Rectangle 46">
                <a:extLst>
                  <a:ext uri="{FF2B5EF4-FFF2-40B4-BE49-F238E27FC236}">
                    <a16:creationId xmlns:a16="http://schemas.microsoft.com/office/drawing/2014/main" id="{A9092230-6D5B-3982-B882-01AA0A54630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59317" y="4439841"/>
                <a:ext cx="964217" cy="493318"/>
              </a:xfrm>
              <a:prstGeom prst="roundRect">
                <a:avLst/>
              </a:prstGeom>
              <a:blipFill>
                <a:blip r:embed="rId13"/>
                <a:stretch>
                  <a:fillRect/>
                </a:stretch>
              </a:blipFill>
              <a:ln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8" name="Rounded Rectangle 47">
                <a:extLst>
                  <a:ext uri="{FF2B5EF4-FFF2-40B4-BE49-F238E27FC236}">
                    <a16:creationId xmlns:a16="http://schemas.microsoft.com/office/drawing/2014/main" id="{80658C4E-CEB1-7DE4-D08D-5ABC8779FA7E}"/>
                  </a:ext>
                </a:extLst>
              </p:cNvPr>
              <p:cNvSpPr/>
              <p:nvPr/>
            </p:nvSpPr>
            <p:spPr>
              <a:xfrm>
                <a:off x="10239812" y="4430787"/>
                <a:ext cx="985979" cy="493776"/>
              </a:xfrm>
              <a:prstGeom prst="roundRect">
                <a:avLst/>
              </a:prstGeom>
              <a:ln>
                <a:solidFill>
                  <a:srgbClr val="FF0000"/>
                </a:solidFill>
              </a:ln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lvl="0"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ES_tradnl" sz="1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̅"/>
                              <m:ctrlPr>
                                <a:rPr lang="es-ES_tradnl" sz="1800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</m:e>
                          </m:acc>
                        </m:e>
                        <m:sub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sz="1800" dirty="0"/>
              </a:p>
            </p:txBody>
          </p:sp>
        </mc:Choice>
        <mc:Fallback xmlns="">
          <p:sp>
            <p:nvSpPr>
              <p:cNvPr id="48" name="Rounded Rectangle 47">
                <a:extLst>
                  <a:ext uri="{FF2B5EF4-FFF2-40B4-BE49-F238E27FC236}">
                    <a16:creationId xmlns:a16="http://schemas.microsoft.com/office/drawing/2014/main" id="{80658C4E-CEB1-7DE4-D08D-5ABC8779FA7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39812" y="4430787"/>
                <a:ext cx="985979" cy="493776"/>
              </a:xfrm>
              <a:prstGeom prst="roundRect">
                <a:avLst/>
              </a:prstGeom>
              <a:blipFill>
                <a:blip r:embed="rId14"/>
                <a:stretch>
                  <a:fillRect/>
                </a:stretch>
              </a:blipFill>
              <a:ln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077435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4" grpId="0"/>
      <p:bldP spid="19" grpId="0"/>
      <p:bldP spid="20" grpId="0"/>
      <p:bldP spid="22" grpId="0"/>
      <p:bldP spid="26" grpId="1"/>
      <p:bldP spid="35" grpId="0"/>
      <p:bldP spid="42" grpId="0" animBg="1"/>
      <p:bldP spid="47" grpId="0" animBg="1"/>
      <p:bldP spid="48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8F928D-A2F2-F5F0-0018-094C88CCAF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 Árboles: </a:t>
            </a:r>
            <a:r>
              <a:rPr lang="es-ES_tradnl" i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Ilustración del Algoritmo II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002FF52-2078-33AA-2581-B2D482047C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12</a:t>
            </a:fld>
            <a:endParaRPr lang="en-US"/>
          </a:p>
        </p:txBody>
      </p:sp>
      <p:pic>
        <p:nvPicPr>
          <p:cNvPr id="8" name="Content Placeholder 7" descr="A diagram of a cube with lines and a graph&#10;&#10;Description automatically generated with medium confidence">
            <a:extLst>
              <a:ext uri="{FF2B5EF4-FFF2-40B4-BE49-F238E27FC236}">
                <a16:creationId xmlns:a16="http://schemas.microsoft.com/office/drawing/2014/main" id="{56F8C53B-22D3-B599-0A29-05C2EF5E1039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 rotWithShape="1">
          <a:blip r:embed="rId3"/>
          <a:srcRect l="12529" t="3305"/>
          <a:stretch/>
        </p:blipFill>
        <p:spPr>
          <a:xfrm>
            <a:off x="3882349" y="1421382"/>
            <a:ext cx="4728251" cy="4601052"/>
          </a:xfr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76109DD2-9E8B-8344-DBC9-CD1F3C1C1F18}"/>
              </a:ext>
            </a:extLst>
          </p:cNvPr>
          <p:cNvSpPr txBox="1"/>
          <p:nvPr/>
        </p:nvSpPr>
        <p:spPr>
          <a:xfrm>
            <a:off x="4003793" y="6017796"/>
            <a:ext cx="482803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effectLst/>
                <a:latin typeface="Gill Sans Nova Light" panose="020B0302020104020203" pitchFamily="34" charset="0"/>
              </a:rPr>
              <a:t>James, Witten, Hastie, Tibshirani</a:t>
            </a:r>
            <a:r>
              <a:rPr lang="en-US" sz="1600" dirty="0">
                <a:latin typeface="Gill Sans Nova Light" panose="020B0302020104020203" pitchFamily="34" charset="0"/>
              </a:rPr>
              <a:t> &amp; Taylor (</a:t>
            </a:r>
            <a:r>
              <a:rPr lang="en-US" sz="1600" dirty="0">
                <a:effectLst/>
                <a:latin typeface="Gill Sans Nova Light" panose="020B0302020104020203" pitchFamily="34" charset="0"/>
              </a:rPr>
              <a:t>2023). p.335</a:t>
            </a:r>
            <a:endParaRPr lang="en-US" sz="4400" dirty="0">
              <a:effectLst/>
              <a:latin typeface="Gill Sans Nova Light" panose="020B0302020104020203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84862411-AF99-63D9-976E-57D24DCF6C18}"/>
                  </a:ext>
                </a:extLst>
              </p:cNvPr>
              <p:cNvSpPr txBox="1"/>
              <p:nvPr/>
            </p:nvSpPr>
            <p:spPr>
              <a:xfrm>
                <a:off x="3661123" y="3179574"/>
                <a:ext cx="410687" cy="53476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s-ES_tradnl" sz="280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s-ES_tradnl" sz="2800" i="1"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</m:acc>
                    </m:oMath>
                  </m:oMathPara>
                </a14:m>
                <a:endParaRPr lang="es-ES_tradnl" sz="2800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84862411-AF99-63D9-976E-57D24DCF6C1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61123" y="3179574"/>
                <a:ext cx="410687" cy="534762"/>
              </a:xfrm>
              <a:prstGeom prst="rect">
                <a:avLst/>
              </a:prstGeom>
              <a:blipFill>
                <a:blip r:embed="rId4"/>
                <a:stretch>
                  <a:fillRect l="-6061" t="-9302" r="-6061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4941230D-18BD-3D78-91E3-B523F0DDA796}"/>
                  </a:ext>
                </a:extLst>
              </p:cNvPr>
              <p:cNvSpPr txBox="1"/>
              <p:nvPr/>
            </p:nvSpPr>
            <p:spPr>
              <a:xfrm>
                <a:off x="1090545" y="3428776"/>
                <a:ext cx="2539459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𝑌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|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s-ES_tradnl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4941230D-18BD-3D78-91E3-B523F0DDA79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90545" y="3428776"/>
                <a:ext cx="2539459" cy="369332"/>
              </a:xfrm>
              <a:prstGeom prst="rect">
                <a:avLst/>
              </a:prstGeom>
              <a:blipFill>
                <a:blip r:embed="rId5"/>
                <a:stretch>
                  <a:fillRect b="-12903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5181861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8F928D-A2F2-F5F0-0018-094C88CCAF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 Árboles: </a:t>
            </a:r>
            <a:r>
              <a:rPr lang="es-ES_tradnl" i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Interpretación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DA487A1-6AAE-1363-DC37-BE1D7CDB7252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>
              <a:xfrm>
                <a:off x="838200" y="1825624"/>
                <a:ext cx="5626532" cy="4530725"/>
              </a:xfrm>
            </p:spPr>
            <p:txBody>
              <a:bodyPr>
                <a:normAutofit fontScale="77500" lnSpcReduction="20000"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s-ES_tradnl" dirty="0"/>
                  <a:t>Variable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ES_tradnl" sz="32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_tradnl" sz="3200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s-ES_tradnl" sz="32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s-ES_tradnl" dirty="0"/>
                  <a:t>es la más importante para predecir </a:t>
                </a:r>
                <a14:m>
                  <m:oMath xmlns:m="http://schemas.openxmlformats.org/officeDocument/2006/math">
                    <m:r>
                      <a:rPr lang="es-ES_tradnl" i="1"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endParaRPr lang="es-ES_tradnl" dirty="0"/>
              </a:p>
              <a:p>
                <a:pPr lvl="1">
                  <a:lnSpc>
                    <a:spcPct val="150000"/>
                  </a:lnSpc>
                </a:pPr>
                <a:r>
                  <a:rPr lang="es-ES_tradnl" dirty="0"/>
                  <a:t>Para valores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ES_tradnl" sz="2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_tradnl" sz="2800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s-ES_tradnl" sz="28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s-ES_tradnl" sz="2800" dirty="0"/>
                  <a:t>&lt;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ES_tradnl" sz="2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_tradnl" sz="28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s-ES_tradnl" sz="28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s-ES_tradnl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ES_tradnl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_tradnl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s-ES_tradnl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s-ES_tradnl" dirty="0"/>
                  <a:t> no es relevante</a:t>
                </a:r>
              </a:p>
              <a:p>
                <a:pPr lvl="1">
                  <a:lnSpc>
                    <a:spcPct val="150000"/>
                  </a:lnSpc>
                </a:pPr>
                <a:r>
                  <a:rPr lang="es-ES_tradnl" dirty="0"/>
                  <a:t>Para valores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ES_tradnl" sz="2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_tradnl" sz="2800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s-ES_tradnl" sz="28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s-ES_tradnl" sz="2800" b="0" i="0" smtClean="0">
                        <a:latin typeface="Cambria Math" panose="02040503050406030204" pitchFamily="18" charset="0"/>
                      </a:rPr>
                      <m:t>&gt;</m:t>
                    </m:r>
                    <m:sSub>
                      <m:sSubPr>
                        <m:ctrlPr>
                          <a:rPr lang="es-ES_tradnl" sz="2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_tradnl" sz="28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s-ES_tradnl" sz="28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s-ES_tradnl" dirty="0"/>
                  <a:t>, entonces importa si:</a:t>
                </a:r>
              </a:p>
              <a:p>
                <a:pPr lvl="2">
                  <a:lnSpc>
                    <a:spcPct val="1500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s-ES_tradnl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_tradnl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s-ES_tradnl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s-ES_tradnl" dirty="0"/>
                  <a:t> &lt;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ES_tradnl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_tradnl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s-ES_tradnl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s-ES_tradnl" dirty="0"/>
                  <a:t>, o</a:t>
                </a:r>
              </a:p>
              <a:p>
                <a:pPr lvl="2">
                  <a:lnSpc>
                    <a:spcPct val="1500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s-ES_tradnl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_tradnl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s-ES_tradnl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s-ES_tradnl" dirty="0"/>
                  <a:t> &gt;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ES_tradnl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_tradnl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s-ES_tradnl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endParaRPr lang="es-ES_tradnl" dirty="0"/>
              </a:p>
              <a:p>
                <a:pPr>
                  <a:lnSpc>
                    <a:spcPct val="150000"/>
                  </a:lnSpc>
                </a:pPr>
                <a:r>
                  <a:rPr lang="es-ES_tradnl" dirty="0"/>
                  <a:t>Fácil de interpretar</a:t>
                </a:r>
              </a:p>
              <a:p>
                <a:pPr>
                  <a:lnSpc>
                    <a:spcPct val="150000"/>
                  </a:lnSpc>
                </a:pPr>
                <a:r>
                  <a:rPr lang="es-ES_tradnl" dirty="0"/>
                  <a:t>Bonita representación</a:t>
                </a:r>
              </a:p>
              <a:p>
                <a:pPr lvl="1">
                  <a:lnSpc>
                    <a:spcPct val="150000"/>
                  </a:lnSpc>
                </a:pPr>
                <a:endParaRPr lang="es-ES_tradnl" dirty="0"/>
              </a:p>
              <a:p>
                <a:pPr lvl="1">
                  <a:lnSpc>
                    <a:spcPct val="150000"/>
                  </a:lnSpc>
                </a:pPr>
                <a:endParaRPr lang="es-ES_tradnl" dirty="0"/>
              </a:p>
              <a:p>
                <a:pPr>
                  <a:lnSpc>
                    <a:spcPct val="150000"/>
                  </a:lnSpc>
                </a:pPr>
                <a:endParaRPr lang="es-ES_tradnl" dirty="0"/>
              </a:p>
              <a:p>
                <a:pPr>
                  <a:lnSpc>
                    <a:spcPct val="150000"/>
                  </a:lnSpc>
                </a:pPr>
                <a:endParaRPr lang="es-ES_tradnl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DA487A1-6AAE-1363-DC37-BE1D7CDB725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xfrm>
                <a:off x="838200" y="1825624"/>
                <a:ext cx="5626532" cy="4530725"/>
              </a:xfrm>
              <a:blipFill>
                <a:blip r:embed="rId3"/>
                <a:stretch>
                  <a:fillRect l="-158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002FF52-2078-33AA-2581-B2D482047C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13</a:t>
            </a:fld>
            <a:endParaRPr lang="en-US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67CD31F0-FBBB-18E8-F016-5376864D62EC}"/>
              </a:ext>
            </a:extLst>
          </p:cNvPr>
          <p:cNvGrpSpPr/>
          <p:nvPr/>
        </p:nvGrpSpPr>
        <p:grpSpPr>
          <a:xfrm>
            <a:off x="7975600" y="2337369"/>
            <a:ext cx="1779719" cy="1206494"/>
            <a:chOff x="7975600" y="2337369"/>
            <a:chExt cx="1779719" cy="1206494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" name="Rounded Rectangle 9">
                  <a:extLst>
                    <a:ext uri="{FF2B5EF4-FFF2-40B4-BE49-F238E27FC236}">
                      <a16:creationId xmlns:a16="http://schemas.microsoft.com/office/drawing/2014/main" id="{366B95FA-18D6-D9E2-BD53-096DE4AEF7FA}"/>
                    </a:ext>
                  </a:extLst>
                </p:cNvPr>
                <p:cNvSpPr/>
                <p:nvPr/>
              </p:nvSpPr>
              <p:spPr>
                <a:xfrm>
                  <a:off x="8345227" y="2337369"/>
                  <a:ext cx="985979" cy="765345"/>
                </a:xfrm>
                <a:prstGeom prst="roundRect">
                  <a:avLst/>
                </a:prstGeom>
                <a:ln>
                  <a:solidFill>
                    <a:schemeClr val="accent2"/>
                  </a:solidFill>
                </a:ln>
              </p:spPr>
              <p:style>
                <a:lnRef idx="2">
                  <a:schemeClr val="accent2"/>
                </a:lnRef>
                <a:fillRef idx="1">
                  <a:schemeClr val="lt1"/>
                </a:fillRef>
                <a:effectRef idx="0">
                  <a:schemeClr val="accent2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lvl="0" algn="ctr"/>
                  <a14:m>
                    <m:oMath xmlns:m="http://schemas.openxmlformats.org/officeDocument/2006/math">
                      <m:sSub>
                        <m:sSubPr>
                          <m:ctrlPr>
                            <a:rPr lang="es-ES_tradnl" sz="1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S_tradnl" sz="1800" i="1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s-ES_tradnl" sz="18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a14:m>
                  <a:r>
                    <a:rPr lang="en-US" sz="1800" dirty="0"/>
                    <a:t>&lt;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s-ES_tradnl" sz="1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s-ES_tradnl" sz="18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a14:m>
                  <a:endParaRPr lang="en-US" sz="1800" dirty="0"/>
                </a:p>
              </p:txBody>
            </p:sp>
          </mc:Choice>
          <mc:Fallback xmlns="">
            <p:sp>
              <p:nvSpPr>
                <p:cNvPr id="17" name="Rounded Rectangle 16">
                  <a:extLst>
                    <a:ext uri="{FF2B5EF4-FFF2-40B4-BE49-F238E27FC236}">
                      <a16:creationId xmlns:a16="http://schemas.microsoft.com/office/drawing/2014/main" id="{5C4256FD-7D90-452B-84DD-50687DC4293C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345227" y="2337369"/>
                  <a:ext cx="985979" cy="765345"/>
                </a:xfrm>
                <a:prstGeom prst="roundRect">
                  <a:avLst/>
                </a:prstGeom>
                <a:blipFill>
                  <a:blip r:embed="rId10"/>
                  <a:stretch>
                    <a:fillRect/>
                  </a:stretch>
                </a:blipFill>
                <a:ln>
                  <a:solidFill>
                    <a:schemeClr val="accent2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AFAA2C32-85A2-4E13-7583-6FB29880840C}"/>
                </a:ext>
              </a:extLst>
            </p:cNvPr>
            <p:cNvCxnSpPr>
              <a:stCxn id="10" idx="2"/>
            </p:cNvCxnSpPr>
            <p:nvPr/>
          </p:nvCxnSpPr>
          <p:spPr>
            <a:xfrm flipH="1">
              <a:off x="7975600" y="3102714"/>
              <a:ext cx="862617" cy="441149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859ECFC2-D323-72FB-EC82-E731E4C95DD8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848389" y="3115264"/>
              <a:ext cx="906930" cy="388305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Rounded Rectangle 13">
                <a:extLst>
                  <a:ext uri="{FF2B5EF4-FFF2-40B4-BE49-F238E27FC236}">
                    <a16:creationId xmlns:a16="http://schemas.microsoft.com/office/drawing/2014/main" id="{74F44975-6396-632D-304A-8EE71BBF1D5B}"/>
                  </a:ext>
                </a:extLst>
              </p:cNvPr>
              <p:cNvSpPr/>
              <p:nvPr/>
            </p:nvSpPr>
            <p:spPr>
              <a:xfrm>
                <a:off x="7381010" y="3531743"/>
                <a:ext cx="964217" cy="493318"/>
              </a:xfrm>
              <a:prstGeom prst="roundRect">
                <a:avLst/>
              </a:prstGeom>
              <a:ln>
                <a:solidFill>
                  <a:srgbClr val="FF0000"/>
                </a:solidFill>
              </a:ln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ES_tradnl" sz="1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̅"/>
                              <m:ctrlPr>
                                <a:rPr lang="es-ES_tradnl" sz="1800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</m:e>
                          </m:acc>
                        </m:e>
                        <m:sub>
                          <m:r>
                            <a:rPr lang="es-ES_tradnl" sz="18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1800" dirty="0"/>
              </a:p>
            </p:txBody>
          </p:sp>
        </mc:Choice>
        <mc:Fallback xmlns="">
          <p:sp>
            <p:nvSpPr>
              <p:cNvPr id="14" name="Rounded Rectangle 13">
                <a:extLst>
                  <a:ext uri="{FF2B5EF4-FFF2-40B4-BE49-F238E27FC236}">
                    <a16:creationId xmlns:a16="http://schemas.microsoft.com/office/drawing/2014/main" id="{74F44975-6396-632D-304A-8EE71BBF1D5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81010" y="3531743"/>
                <a:ext cx="964217" cy="493318"/>
              </a:xfrm>
              <a:prstGeom prst="roundRect">
                <a:avLst/>
              </a:prstGeom>
              <a:blipFill>
                <a:blip r:embed="rId11"/>
                <a:stretch>
                  <a:fillRect/>
                </a:stretch>
              </a:blipFill>
              <a:ln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5" name="Group 14">
            <a:extLst>
              <a:ext uri="{FF2B5EF4-FFF2-40B4-BE49-F238E27FC236}">
                <a16:creationId xmlns:a16="http://schemas.microsoft.com/office/drawing/2014/main" id="{26502504-604B-FD52-F351-77C76D3553BA}"/>
              </a:ext>
            </a:extLst>
          </p:cNvPr>
          <p:cNvGrpSpPr/>
          <p:nvPr/>
        </p:nvGrpSpPr>
        <p:grpSpPr>
          <a:xfrm>
            <a:off x="8953907" y="3522689"/>
            <a:ext cx="1779719" cy="929272"/>
            <a:chOff x="8953907" y="3522689"/>
            <a:chExt cx="1779719" cy="929272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" name="Rounded Rectangle 15">
                  <a:extLst>
                    <a:ext uri="{FF2B5EF4-FFF2-40B4-BE49-F238E27FC236}">
                      <a16:creationId xmlns:a16="http://schemas.microsoft.com/office/drawing/2014/main" id="{D75D39EC-383D-1523-213C-CA866483CB3C}"/>
                    </a:ext>
                  </a:extLst>
                </p:cNvPr>
                <p:cNvSpPr/>
                <p:nvPr/>
              </p:nvSpPr>
              <p:spPr>
                <a:xfrm>
                  <a:off x="9261505" y="3522689"/>
                  <a:ext cx="985979" cy="493776"/>
                </a:xfrm>
                <a:prstGeom prst="roundRect">
                  <a:avLst/>
                </a:prstGeom>
              </p:spPr>
              <p:style>
                <a:lnRef idx="2">
                  <a:schemeClr val="accent1"/>
                </a:lnRef>
                <a:fillRef idx="1">
                  <a:schemeClr val="lt1"/>
                </a:fillRef>
                <a:effectRef idx="0">
                  <a:schemeClr val="accent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lvl="0" algn="ctr"/>
                  <a14:m>
                    <m:oMath xmlns:m="http://schemas.openxmlformats.org/officeDocument/2006/math">
                      <m:sSub>
                        <m:sSubPr>
                          <m:ctrlPr>
                            <a:rPr lang="es-ES_tradnl" sz="1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S_tradnl" sz="1800" i="1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a14:m>
                  <a:r>
                    <a:rPr lang="en-US" sz="1800" dirty="0"/>
                    <a:t>&lt;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s-ES_tradnl" sz="1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a14:m>
                  <a:endParaRPr lang="en-US" sz="1800" dirty="0"/>
                </a:p>
              </p:txBody>
            </p:sp>
          </mc:Choice>
          <mc:Fallback xmlns="">
            <p:sp>
              <p:nvSpPr>
                <p:cNvPr id="44" name="Rounded Rectangle 43">
                  <a:extLst>
                    <a:ext uri="{FF2B5EF4-FFF2-40B4-BE49-F238E27FC236}">
                      <a16:creationId xmlns:a16="http://schemas.microsoft.com/office/drawing/2014/main" id="{50919C21-BEB8-C7EE-872B-670322FE48BD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261505" y="3522689"/>
                  <a:ext cx="985979" cy="493776"/>
                </a:xfrm>
                <a:prstGeom prst="roundRect">
                  <a:avLst/>
                </a:prstGeom>
                <a:blipFill>
                  <a:blip r:embed="rId12"/>
                  <a:stretch>
                    <a:fillRect b="-731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C7A33785-5885-68C4-1347-3E84EC7CFA3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953907" y="4010812"/>
              <a:ext cx="862617" cy="441149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D0350F82-1C42-F056-1983-1C80878ACB1B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826696" y="4023362"/>
              <a:ext cx="906930" cy="388305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Rounded Rectangle 18">
                <a:extLst>
                  <a:ext uri="{FF2B5EF4-FFF2-40B4-BE49-F238E27FC236}">
                    <a16:creationId xmlns:a16="http://schemas.microsoft.com/office/drawing/2014/main" id="{D2C975BC-F093-B235-C41F-5772E9A3860D}"/>
                  </a:ext>
                </a:extLst>
              </p:cNvPr>
              <p:cNvSpPr/>
              <p:nvPr/>
            </p:nvSpPr>
            <p:spPr>
              <a:xfrm>
                <a:off x="8359317" y="4439841"/>
                <a:ext cx="964217" cy="493318"/>
              </a:xfrm>
              <a:prstGeom prst="roundRect">
                <a:avLst/>
              </a:prstGeom>
              <a:ln>
                <a:solidFill>
                  <a:srgbClr val="FF0000"/>
                </a:solidFill>
              </a:ln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ES_tradnl" sz="1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̅"/>
                              <m:ctrlPr>
                                <a:rPr lang="es-ES_tradnl" sz="1800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</m:e>
                          </m:acc>
                        </m:e>
                        <m:sub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1800" dirty="0"/>
              </a:p>
            </p:txBody>
          </p:sp>
        </mc:Choice>
        <mc:Fallback xmlns="">
          <p:sp>
            <p:nvSpPr>
              <p:cNvPr id="19" name="Rounded Rectangle 18">
                <a:extLst>
                  <a:ext uri="{FF2B5EF4-FFF2-40B4-BE49-F238E27FC236}">
                    <a16:creationId xmlns:a16="http://schemas.microsoft.com/office/drawing/2014/main" id="{D2C975BC-F093-B235-C41F-5772E9A3860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59317" y="4439841"/>
                <a:ext cx="964217" cy="493318"/>
              </a:xfrm>
              <a:prstGeom prst="roundRect">
                <a:avLst/>
              </a:prstGeom>
              <a:blipFill>
                <a:blip r:embed="rId13"/>
                <a:stretch>
                  <a:fillRect/>
                </a:stretch>
              </a:blipFill>
              <a:ln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Rounded Rectangle 19">
                <a:extLst>
                  <a:ext uri="{FF2B5EF4-FFF2-40B4-BE49-F238E27FC236}">
                    <a16:creationId xmlns:a16="http://schemas.microsoft.com/office/drawing/2014/main" id="{D522D26F-C02C-4853-5D38-86079A6B5CAB}"/>
                  </a:ext>
                </a:extLst>
              </p:cNvPr>
              <p:cNvSpPr/>
              <p:nvPr/>
            </p:nvSpPr>
            <p:spPr>
              <a:xfrm>
                <a:off x="10239812" y="4430787"/>
                <a:ext cx="985979" cy="493776"/>
              </a:xfrm>
              <a:prstGeom prst="roundRect">
                <a:avLst/>
              </a:prstGeom>
              <a:ln>
                <a:solidFill>
                  <a:srgbClr val="FF0000"/>
                </a:solidFill>
              </a:ln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lvl="0"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ES_tradnl" sz="1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̅"/>
                              <m:ctrlPr>
                                <a:rPr lang="es-ES_tradnl" sz="1800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</m:e>
                          </m:acc>
                        </m:e>
                        <m:sub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sz="1800" dirty="0"/>
              </a:p>
            </p:txBody>
          </p:sp>
        </mc:Choice>
        <mc:Fallback xmlns="">
          <p:sp>
            <p:nvSpPr>
              <p:cNvPr id="20" name="Rounded Rectangle 19">
                <a:extLst>
                  <a:ext uri="{FF2B5EF4-FFF2-40B4-BE49-F238E27FC236}">
                    <a16:creationId xmlns:a16="http://schemas.microsoft.com/office/drawing/2014/main" id="{D522D26F-C02C-4853-5D38-86079A6B5CA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39812" y="4430787"/>
                <a:ext cx="985979" cy="493776"/>
              </a:xfrm>
              <a:prstGeom prst="roundRect">
                <a:avLst/>
              </a:prstGeom>
              <a:blipFill>
                <a:blip r:embed="rId14"/>
                <a:stretch>
                  <a:fillRect/>
                </a:stretch>
              </a:blipFill>
              <a:ln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263790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9" grpId="0" animBg="1"/>
      <p:bldP spid="20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CC853B-6479-25D1-C4D5-B26B2DBF1C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Partición recursiva binaria: </a:t>
            </a:r>
            <a:r>
              <a:rPr lang="es-ES_tradnl" i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Introducción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ACBF57C-D0B0-1063-4119-B2419F109DE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62500" lnSpcReduction="20000"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s-ES_tradnl" dirty="0">
                    <a:solidFill>
                      <a:srgbClr val="002060"/>
                    </a:solidFill>
                  </a:rPr>
                  <a:t>PASO 1</a:t>
                </a:r>
                <a:r>
                  <a:rPr lang="es-ES_tradnl" dirty="0"/>
                  <a:t>: Dividir el espacio de predictores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ES_tradnl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_tradnl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s-ES_tradnl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s-ES_tradnl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s-ES_tradnl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_tradnl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s-ES_tradnl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s-ES_tradnl" b="0" i="1" smtClean="0">
                        <a:latin typeface="Cambria Math" panose="02040503050406030204" pitchFamily="18" charset="0"/>
                      </a:rPr>
                      <m:t>, …,</m:t>
                    </m:r>
                    <m:sSub>
                      <m:sSubPr>
                        <m:ctrlPr>
                          <a:rPr lang="es-ES_tradnl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_tradnl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s-ES_tradnl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</m:sSub>
                  </m:oMath>
                </a14:m>
                <a:r>
                  <a:rPr lang="es-ES_tradnl" dirty="0"/>
                  <a:t> en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𝐽</m:t>
                    </m:r>
                  </m:oMath>
                </a14:m>
                <a:r>
                  <a:rPr lang="es-ES_tradnl" dirty="0"/>
                  <a:t> regiones disyuntas sin superponerse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ES_tradnl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s-ES_tradnl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s-ES_tradnl" i="1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s-ES_tradnl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s-ES_tradnl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s-ES_tradnl" i="1">
                        <a:latin typeface="Cambria Math" panose="02040503050406030204" pitchFamily="18" charset="0"/>
                      </a:rPr>
                      <m:t>, …,</m:t>
                    </m:r>
                    <m:sSub>
                      <m:sSubPr>
                        <m:ctrlPr>
                          <a:rPr lang="es-ES_tradnl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𝐽</m:t>
                        </m:r>
                      </m:sub>
                    </m:sSub>
                  </m:oMath>
                </a14:m>
                <a:r>
                  <a:rPr lang="es-ES_tradnl" dirty="0"/>
                  <a:t> </a:t>
                </a:r>
              </a:p>
              <a:p>
                <a:pPr>
                  <a:lnSpc>
                    <a:spcPct val="150000"/>
                  </a:lnSpc>
                </a:pPr>
                <a:r>
                  <a:rPr lang="es-ES_tradnl" dirty="0">
                    <a:solidFill>
                      <a:srgbClr val="002060"/>
                    </a:solidFill>
                  </a:rPr>
                  <a:t>PASO 2</a:t>
                </a:r>
                <a:r>
                  <a:rPr lang="es-ES_tradnl" dirty="0"/>
                  <a:t>: Dentro de cada partición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ES_tradnl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s-ES_tradnl" dirty="0"/>
                  <a:t>, usamos el promedio como predicción de la respuesta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s-ES_tradnl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acc>
                      </m:e>
                      <m:sub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sub>
                    </m:sSub>
                  </m:oMath>
                </a14:m>
                <a:r>
                  <a:rPr lang="es-ES_tradnl" dirty="0"/>
                  <a:t> </a:t>
                </a:r>
              </a:p>
              <a:p>
                <a:pPr>
                  <a:lnSpc>
                    <a:spcPct val="150000"/>
                  </a:lnSpc>
                </a:pPr>
                <a:r>
                  <a:rPr lang="es-ES_tradnl" dirty="0">
                    <a:solidFill>
                      <a:srgbClr val="002060"/>
                    </a:solidFill>
                  </a:rPr>
                  <a:t>Pregunta</a:t>
                </a:r>
                <a:r>
                  <a:rPr lang="es-ES_tradnl" dirty="0"/>
                  <a:t>: cómo construimos las regiones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ES_tradnl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s-ES_tradnl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s-ES_tradnl" i="1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s-ES_tradnl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s-ES_tradnl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s-ES_tradnl" i="1">
                        <a:latin typeface="Cambria Math" panose="02040503050406030204" pitchFamily="18" charset="0"/>
                      </a:rPr>
                      <m:t>, …,</m:t>
                    </m:r>
                    <m:sSub>
                      <m:sSubPr>
                        <m:ctrlPr>
                          <a:rPr lang="es-ES_tradnl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𝐽</m:t>
                        </m:r>
                      </m:sub>
                    </m:sSub>
                  </m:oMath>
                </a14:m>
                <a:r>
                  <a:rPr lang="es-ES_tradnl" dirty="0"/>
                  <a:t>?</a:t>
                </a:r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min</m:t>
                              </m:r>
                            </m:e>
                            <m:lim>
                              <m:sSub>
                                <m:sSubPr>
                                  <m:ctrlPr>
                                    <a:rPr lang="es-ES_tradnl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𝑅</m:t>
                                  </m:r>
                                </m:e>
                                <m:sub>
                                  <m:r>
                                    <a:rPr lang="es-ES_tradnl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s-ES_tradnl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s-ES_tradnl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𝑅</m:t>
                                  </m:r>
                                </m:e>
                                <m:sub>
                                  <m:r>
                                    <a:rPr lang="es-ES_tradnl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s-ES_tradnl" i="1">
                                  <a:latin typeface="Cambria Math" panose="02040503050406030204" pitchFamily="18" charset="0"/>
                                </a:rPr>
                                <m:t>, …,</m:t>
                              </m:r>
                              <m:sSub>
                                <m:sSubPr>
                                  <m:ctrlPr>
                                    <a:rPr lang="es-ES_tradnl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𝑅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𝐽</m:t>
                                  </m:r>
                                </m:sub>
                              </m:sSub>
                            </m:lim>
                          </m:limLow>
                        </m:fName>
                        <m:e>
                          <m:nary>
                            <m:naryPr>
                              <m:chr m:val="∑"/>
                              <m:limLoc m:val="subSup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5"/>
                                </m:r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𝐽</m:t>
                              </m:r>
                            </m:sup>
                            <m:e>
                              <m:nary>
                                <m:naryPr>
                                  <m:chr m:val="∑"/>
                                  <m:supHide m:val="on"/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m:rPr>
                                      <m:brk m:alnAt="7"/>
                                    </m:r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∈</m:t>
                                  </m:r>
                                  <m:sSub>
                                    <m:sSub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US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𝑅</m:t>
                                      </m:r>
                                    </m:e>
                                    <m:sub>
                                      <m:r>
                                        <m:rPr>
                                          <m:brk m:alnAt="7"/>
                                        </m:rPr>
                                        <a:rPr lang="en-US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𝑗</m:t>
                                      </m:r>
                                    </m:sub>
                                  </m:sSub>
                                </m:sub>
                                <m:sup/>
                                <m:e>
                                  <m:sSup>
                                    <m:sSup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d>
                                        <m:dPr>
                                          <m:ctrlP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b>
                                            <m:sSubPr>
                                              <m:ctrlPr>
                                                <a:rPr lang="en-US" b="0" i="1" smtClean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𝑦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𝑖</m:t>
                                              </m:r>
                                            </m:sub>
                                          </m:sSub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−</m:t>
                                          </m:r>
                                          <m:sSub>
                                            <m:sSubPr>
                                              <m:ctrlPr>
                                                <a:rPr lang="en-US" b="0" i="1" smtClean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acc>
                                                <m:accPr>
                                                  <m:chr m:val="̂"/>
                                                  <m:ctrlPr>
                                                    <a:rPr lang="en-US" b="0" i="1" smtClean="0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accPr>
                                                <m:e>
                                                  <m:r>
                                                    <a:rPr lang="en-US" b="0" i="1" smtClean="0">
                                                      <a:latin typeface="Cambria Math" panose="02040503050406030204" pitchFamily="18" charset="0"/>
                                                    </a:rPr>
                                                    <m:t>𝑦</m:t>
                                                  </m:r>
                                                </m:e>
                                              </m:acc>
                                            </m:e>
                                            <m:sub>
                                              <m:sSub>
                                                <m:sSubPr>
                                                  <m:ctrlPr>
                                                    <a:rPr lang="en-US" b="0" i="1" smtClean="0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sSubPr>
                                                <m:e>
                                                  <m:r>
                                                    <a:rPr lang="en-US" b="0" i="1" smtClean="0">
                                                      <a:latin typeface="Cambria Math" panose="02040503050406030204" pitchFamily="18" charset="0"/>
                                                    </a:rPr>
                                                    <m:t>𝑅</m:t>
                                                  </m:r>
                                                </m:e>
                                                <m:sub>
                                                  <m:r>
                                                    <a:rPr lang="en-US" b="0" i="1" smtClean="0">
                                                      <a:latin typeface="Cambria Math" panose="02040503050406030204" pitchFamily="18" charset="0"/>
                                                    </a:rPr>
                                                    <m:t>𝑗</m:t>
                                                  </m:r>
                                                </m:sub>
                                              </m:sSub>
                                            </m:sub>
                                          </m:sSub>
                                        </m:e>
                                      </m:d>
                                    </m:e>
                                    <m:sup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</m:e>
                              </m:nary>
                            </m:e>
                          </m:nary>
                        </m:e>
                      </m:func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d>
                    </m:oMath>
                  </m:oMathPara>
                </a14:m>
                <a:endParaRPr lang="es-ES_tradnl" dirty="0"/>
              </a:p>
              <a:p>
                <a:pPr>
                  <a:lnSpc>
                    <a:spcPct val="150000"/>
                  </a:lnSpc>
                </a:pPr>
                <a:r>
                  <a:rPr lang="es-ES_tradnl" dirty="0">
                    <a:solidFill>
                      <a:srgbClr val="FF0000"/>
                    </a:solidFill>
                  </a:rPr>
                  <a:t>Problema</a:t>
                </a:r>
                <a:r>
                  <a:rPr lang="es-ES_tradnl" dirty="0"/>
                  <a:t>: Imposible computacionalmente probar con cada posible partición del espacio de predictores </a:t>
                </a:r>
                <a14:m>
                  <m:oMath xmlns:m="http://schemas.openxmlformats.org/officeDocument/2006/math">
                    <m:r>
                      <a:rPr lang="es-ES_tradnl" i="1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s-ES_tradnl" dirty="0"/>
                  <a:t> en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𝐽</m:t>
                    </m:r>
                  </m:oMath>
                </a14:m>
                <a:r>
                  <a:rPr lang="es-ES_tradnl" dirty="0"/>
                  <a:t> regiones </a:t>
                </a:r>
              </a:p>
              <a:p>
                <a:pPr>
                  <a:lnSpc>
                    <a:spcPct val="150000"/>
                  </a:lnSpc>
                </a:pPr>
                <a:endParaRPr lang="es-ES_tradnl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ACBF57C-D0B0-1063-4119-B2419F109DE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603" b="-8430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8731E53-1E56-415B-FFB0-D679CFDF58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70466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CC853B-6479-25D1-C4D5-B26B2DBF1C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Partición recursiva binaria: </a:t>
            </a:r>
            <a:r>
              <a:rPr lang="es-ES_tradnl" i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Formalmente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ACBF57C-D0B0-1063-4119-B2419F109DE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>
                  <a:lnSpc>
                    <a:spcPct val="200000"/>
                  </a:lnSpc>
                </a:pPr>
                <a:r>
                  <a:rPr lang="es-ES_tradnl" dirty="0">
                    <a:solidFill>
                      <a:srgbClr val="00B050"/>
                    </a:solidFill>
                  </a:rPr>
                  <a:t>Solución</a:t>
                </a:r>
                <a:r>
                  <a:rPr lang="es-ES_tradnl" i="1" dirty="0"/>
                  <a:t>: </a:t>
                </a:r>
                <a:r>
                  <a:rPr lang="es-ES_tradnl" dirty="0">
                    <a:solidFill>
                      <a:srgbClr val="002060"/>
                    </a:solidFill>
                  </a:rPr>
                  <a:t>Partición recursiva binaria </a:t>
                </a:r>
                <a:r>
                  <a:rPr lang="es-ES_tradnl" dirty="0"/>
                  <a:t>en el espacio de atributos </a:t>
                </a:r>
                <a14:m>
                  <m:oMath xmlns:m="http://schemas.openxmlformats.org/officeDocument/2006/math">
                    <m:r>
                      <a:rPr lang="es-ES_tradnl" i="1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s-ES_tradnl" i="1" dirty="0"/>
                  <a:t> </a:t>
                </a:r>
                <a:r>
                  <a:rPr lang="es-ES_tradnl" dirty="0"/>
                  <a:t>que haga la </a:t>
                </a:r>
                <a:r>
                  <a:rPr lang="es-ES_tradnl" dirty="0">
                    <a:solidFill>
                      <a:srgbClr val="002060"/>
                    </a:solidFill>
                  </a:rPr>
                  <a:t>mejor</a:t>
                </a:r>
                <a:r>
                  <a:rPr lang="es-ES_tradnl" dirty="0"/>
                  <a:t> partición en </a:t>
                </a:r>
                <a:r>
                  <a:rPr lang="es-ES_tradnl" dirty="0">
                    <a:solidFill>
                      <a:srgbClr val="002060"/>
                    </a:solidFill>
                  </a:rPr>
                  <a:t>cada nodo </a:t>
                </a:r>
                <a:r>
                  <a:rPr lang="es-ES_tradnl" dirty="0"/>
                  <a:t>sin considerar los posibles nodos subsiguientes.</a:t>
                </a:r>
              </a:p>
              <a:p>
                <a:pPr lvl="1">
                  <a:lnSpc>
                    <a:spcPct val="200000"/>
                  </a:lnSpc>
                </a:pPr>
                <a:r>
                  <a:rPr lang="es-ES_tradnl" dirty="0">
                    <a:solidFill>
                      <a:srgbClr val="002060"/>
                    </a:solidFill>
                  </a:rPr>
                  <a:t>Intuición</a:t>
                </a:r>
                <a:r>
                  <a:rPr lang="es-ES_tradnl" i="1" dirty="0"/>
                  <a:t>: </a:t>
                </a:r>
                <a:r>
                  <a:rPr lang="es-ES_tradnl" dirty="0">
                    <a:solidFill>
                      <a:srgbClr val="0070C0"/>
                    </a:solidFill>
                  </a:rPr>
                  <a:t>mejor</a:t>
                </a:r>
                <a:r>
                  <a:rPr lang="es-ES_tradnl" dirty="0"/>
                  <a:t> división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_tradnl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s-ES_tradnl" i="1" dirty="0"/>
                  <a:t> </a:t>
                </a:r>
                <a:r>
                  <a:rPr lang="es-ES_tradnl" dirty="0"/>
                  <a:t>de</a:t>
                </a:r>
                <a:r>
                  <a:rPr lang="es-ES_tradnl" i="1" dirty="0"/>
                  <a:t> </a:t>
                </a:r>
                <a:r>
                  <a:rPr lang="es-ES_tradnl" dirty="0"/>
                  <a:t>en dos regiones</a:t>
                </a:r>
              </a:p>
              <a:p>
                <a:pPr>
                  <a:lnSpc>
                    <a:spcPct val="200000"/>
                  </a:lnSpc>
                </a:pPr>
                <a:endParaRPr lang="es-ES_tradnl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ACBF57C-D0B0-1063-4119-B2419F109DE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327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8731E53-1E56-415B-FFB0-D679CFDF58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932502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19CDA2-FBFD-4435-09C4-88FAECC458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1. Árboles de Regresión (</a:t>
            </a:r>
            <a:r>
              <a:rPr lang="es-ES_tradnl" dirty="0" err="1"/>
              <a:t>Regression</a:t>
            </a:r>
            <a:r>
              <a:rPr lang="es-ES_tradnl" dirty="0"/>
              <a:t> </a:t>
            </a:r>
            <a:r>
              <a:rPr lang="es-ES_tradnl" dirty="0" err="1"/>
              <a:t>Tree</a:t>
            </a:r>
            <a:r>
              <a:rPr lang="es-ES_tradnl" dirty="0"/>
              <a:t>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2DE2FE6-2D21-0373-E669-031C93ACF98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70000" lnSpcReduction="20000"/>
              </a:bodyPr>
              <a:lstStyle/>
              <a:p>
                <a:pPr>
                  <a:lnSpc>
                    <a:spcPct val="200000"/>
                  </a:lnSpc>
                </a:pPr>
                <a14:m>
                  <m:oMath xmlns:m="http://schemas.openxmlformats.org/officeDocument/2006/math">
                    <m:r>
                      <a:rPr lang="es-ES_tradnl" b="0" i="1" smtClean="0"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lang="es-ES_tradnl" dirty="0"/>
                  <a:t> Variable continua</a:t>
                </a:r>
              </a:p>
              <a:p>
                <a:pPr>
                  <a:lnSpc>
                    <a:spcPct val="200000"/>
                  </a:lnSpc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s-ES_tradnl" dirty="0"/>
                  <a:t> un vector de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s-ES_tradnl" dirty="0"/>
                  <a:t> variables de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s-ES_tradnl" dirty="0"/>
                  <a:t> observaciones.</a:t>
                </a:r>
              </a:p>
              <a:p>
                <a:pPr>
                  <a:lnSpc>
                    <a:spcPct val="200000"/>
                  </a:lnSpc>
                </a:pPr>
                <a:r>
                  <a:rPr lang="es-ES_tradnl" dirty="0"/>
                  <a:t>Partición de la variable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s-ES_tradnl" dirty="0"/>
                  <a:t> en dos regiones:</a:t>
                </a:r>
              </a:p>
              <a:p>
                <a:pPr marL="0" indent="0">
                  <a:lnSpc>
                    <a:spcPct val="2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|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≤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   &amp;    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|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&gt;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</m:oMath>
                  </m:oMathPara>
                </a14:m>
                <a:endParaRPr lang="es-ES_tradnl" dirty="0"/>
              </a:p>
              <a:p>
                <a:pPr marL="0" indent="0">
                  <a:lnSpc>
                    <a:spcPct val="200000"/>
                  </a:lnSpc>
                  <a:buNone/>
                </a:pPr>
                <a:r>
                  <a:rPr lang="en-US" dirty="0">
                    <a:solidFill>
                      <a:srgbClr val="002060"/>
                    </a:solidFill>
                  </a:rPr>
                  <a:t>Interpretacion</a:t>
                </a:r>
                <a:r>
                  <a:rPr lang="en-US" b="0" dirty="0">
                    <a:solidFill>
                      <a:srgbClr val="002060"/>
                    </a:solidFill>
                  </a:rPr>
                  <a:t>: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en-US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en-US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sSub>
                          <m:sSubPr>
                            <m:ctrlPr>
                              <a:rPr lang="en-US" b="0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  <m:r>
                          <a:rPr lang="en-US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≤</m:t>
                        </m:r>
                        <m:r>
                          <a:rPr lang="en-US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d>
                    <m:r>
                      <a:rPr lang="en-US" b="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s-ES_tradnl" dirty="0"/>
                  <a:t> es la región del</a:t>
                </a:r>
                <a:r>
                  <a:rPr lang="es-ES_tradnl" baseline="0" dirty="0"/>
                  <a:t> espacio del predictor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s-ES_tradnl" dirty="0"/>
                  <a:t> que toma valores menores</a:t>
                </a:r>
                <a:r>
                  <a:rPr lang="es-ES_tradnl" baseline="0" dirty="0"/>
                  <a:t> que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endParaRPr lang="es-ES_tradnl" dirty="0"/>
              </a:p>
              <a:p>
                <a:pPr marL="0" indent="0">
                  <a:lnSpc>
                    <a:spcPct val="200000"/>
                  </a:lnSpc>
                  <a:buNone/>
                </a:pPr>
                <a:endParaRPr lang="es-ES_tradnl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2DE2FE6-2D21-0373-E669-031C93ACF98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724" r="-603" b="-116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A24C9DF-C909-6AEF-F737-502315EAE6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21031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19CDA2-FBFD-4435-09C4-88FAECC458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1. Árboles de Regresión: </a:t>
            </a:r>
            <a:r>
              <a:rPr lang="es-ES_tradnl" i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Mejor Partición </a:t>
            </a:r>
            <a:endParaRPr lang="es-ES_tradnl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2DE2FE6-2D21-0373-E669-031C93ACF98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85000" lnSpcReduction="10000"/>
              </a:bodyPr>
              <a:lstStyle/>
              <a:p>
                <a:pPr marL="0" indent="0">
                  <a:lnSpc>
                    <a:spcPct val="17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|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≤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   &amp;    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|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&gt;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</m:oMath>
                  </m:oMathPara>
                </a14:m>
                <a:endParaRPr lang="es-ES_tradnl" dirty="0"/>
              </a:p>
              <a:p>
                <a:pPr>
                  <a:lnSpc>
                    <a:spcPct val="170000"/>
                  </a:lnSpc>
                </a:pPr>
                <a:r>
                  <a:rPr lang="es-ES_tradnl" dirty="0"/>
                  <a:t>En el primer paso, buscamos los valores de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s-ES_tradnl" dirty="0"/>
                  <a:t> y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es-ES_tradnl" dirty="0"/>
                  <a:t> que minimicen:</a:t>
                </a:r>
              </a:p>
              <a:p>
                <a:pPr marL="0" indent="0">
                  <a:lnSpc>
                    <a:spcPct val="17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𝑅𝑆𝑆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: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brk m:alnAt="7"/>
                                </m:r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m:rPr>
                                  <m:brk m:alnAt="7"/>
                                </m:r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∈</m:t>
                          </m:r>
                          <m:sSub>
                            <m:sSubPr>
                              <m:ctrlPr>
                                <a:rPr lang="en-US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brk m:alnAt="7"/>
                                </m:rPr>
                                <a:rPr lang="en-US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𝑹</m:t>
                              </m:r>
                            </m:e>
                            <m:sub>
                              <m:r>
                                <a:rPr lang="en-US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𝑠</m:t>
                              </m:r>
                            </m:e>
                          </m:d>
                        </m:sub>
                        <m:sup/>
                        <m:e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acc>
                                        <m:accPr>
                                          <m:chr m:val="̂"/>
                                          <m:ctrlP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𝑦</m:t>
                                          </m:r>
                                        </m:e>
                                      </m:acc>
                                    </m:e>
                                    <m:sub>
                                      <m:sSub>
                                        <m:sSubPr>
                                          <m:ctrlPr>
                                            <a:rPr lang="en-US" b="1" i="1" smtClean="0">
                                              <a:solidFill>
                                                <a:srgbClr val="FF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b="1" i="1" smtClean="0">
                                              <a:solidFill>
                                                <a:srgbClr val="FF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𝑹</m:t>
                                          </m:r>
                                        </m:e>
                                        <m:sub>
                                          <m:r>
                                            <a:rPr lang="en-US" b="1" i="1" smtClean="0">
                                              <a:solidFill>
                                                <a:srgbClr val="FF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𝟏</m:t>
                                          </m:r>
                                        </m:sub>
                                      </m:sSub>
                                    </m:sub>
                                  </m:sSub>
                                </m:e>
                              </m:d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nary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en-US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: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brk m:alnAt="7"/>
                                </m:rPr>
                                <a:rPr lang="en-US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m:rPr>
                                  <m:brk m:alnAt="7"/>
                                </m:rPr>
                                <a:rPr lang="en-US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∈</m:t>
                          </m:r>
                          <m:sSub>
                            <m:sSubPr>
                              <m:ctrlPr>
                                <a:rPr lang="en-US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brk m:alnAt="7"/>
                                </m:rPr>
                                <a:rPr lang="en-US" b="1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𝑹</m:t>
                              </m:r>
                            </m:e>
                            <m:sub>
                              <m:r>
                                <a:rPr lang="en-US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𝟐</m:t>
                              </m:r>
                            </m:sub>
                          </m:sSub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𝑠</m:t>
                              </m:r>
                            </m:e>
                          </m:d>
                        </m:sub>
                        <m:sup/>
                        <m:e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acc>
                                        <m:accPr>
                                          <m:chr m:val="̂"/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𝑦</m:t>
                                          </m:r>
                                        </m:e>
                                      </m:acc>
                                    </m:e>
                                    <m:sub>
                                      <m:sSub>
                                        <m:sSubPr>
                                          <m:ctrlPr>
                                            <a:rPr lang="en-US" b="1" i="1" smtClean="0">
                                              <a:solidFill>
                                                <a:srgbClr val="FF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b="1" i="1">
                                              <a:solidFill>
                                                <a:srgbClr val="FF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𝑹</m:t>
                                          </m:r>
                                        </m:e>
                                        <m:sub>
                                          <m:r>
                                            <a:rPr lang="en-US" b="1" i="1" smtClean="0">
                                              <a:solidFill>
                                                <a:srgbClr val="FF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𝟐</m:t>
                                          </m:r>
                                        </m:sub>
                                      </m:sSub>
                                    </m:sub>
                                  </m:sSub>
                                </m:e>
                              </m:d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nary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 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</m:d>
                    </m:oMath>
                  </m:oMathPara>
                </a14:m>
                <a:endParaRPr lang="es-ES_tradnl" dirty="0"/>
              </a:p>
              <a:p>
                <a:pPr>
                  <a:lnSpc>
                    <a:spcPct val="170000"/>
                  </a:lnSpc>
                </a:pPr>
                <a:r>
                  <a:rPr lang="es-ES_tradnl" dirty="0">
                    <a:solidFill>
                      <a:srgbClr val="0070C0"/>
                    </a:solidFill>
                  </a:rPr>
                  <a:t>Mejor partición </a:t>
                </a:r>
                <a:r>
                  <a:rPr lang="es-ES_tradnl" dirty="0"/>
                  <a:t>= “mayor reducción de la RSS”</a:t>
                </a:r>
              </a:p>
              <a:p>
                <a:pPr marL="0" indent="0">
                  <a:lnSpc>
                    <a:spcPct val="170000"/>
                  </a:lnSpc>
                  <a:buNone/>
                </a:pPr>
                <a:endParaRPr lang="es-ES_tradnl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2DE2FE6-2D21-0373-E669-031C93ACF98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65" b="-25872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A24C9DF-C909-6AEF-F737-502315EAE6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17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847579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19CDA2-FBFD-4435-09C4-88FAECC458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1. Árboles de Regresión: </a:t>
            </a:r>
            <a:r>
              <a:rPr lang="es-ES_tradnl" i="1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Stopping</a:t>
            </a:r>
            <a:r>
              <a:rPr lang="es-ES_tradnl" i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s-ES_tradnl" i="1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criterion</a:t>
            </a:r>
            <a:endParaRPr lang="es-ES_tradnl" i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2DE2FE6-2D21-0373-E669-031C93ACF98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pPr>
                  <a:lnSpc>
                    <a:spcPct val="120000"/>
                  </a:lnSpc>
                </a:pPr>
                <a:r>
                  <a:rPr lang="es-ES_tradnl" dirty="0"/>
                  <a:t>Luego de encontrar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X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s-ES_tradnl" dirty="0"/>
                  <a:t> con la mejor partición que minimiza RSS</a:t>
                </a:r>
              </a:p>
              <a:p>
                <a:pPr>
                  <a:lnSpc>
                    <a:spcPct val="120000"/>
                  </a:lnSpc>
                </a:pPr>
                <a:r>
                  <a:rPr lang="es-ES_tradnl" dirty="0"/>
                  <a:t>Hacemos lo mismo dentro de las dos regiones región</a:t>
                </a:r>
              </a:p>
              <a:p>
                <a:pPr>
                  <a:lnSpc>
                    <a:spcPct val="120000"/>
                  </a:lnSpc>
                </a:pPr>
                <a:r>
                  <a:rPr lang="es-ES_tradnl" dirty="0">
                    <a:solidFill>
                      <a:srgbClr val="002060"/>
                    </a:solidFill>
                  </a:rPr>
                  <a:t>¿Cuándo paramos? </a:t>
                </a:r>
                <a:r>
                  <a:rPr lang="es-ES_tradnl" dirty="0"/>
                  <a:t>Criterio de parar depende del </a:t>
                </a:r>
                <a:r>
                  <a:rPr lang="es-ES_tradnl" dirty="0">
                    <a:solidFill>
                      <a:srgbClr val="FF0000"/>
                    </a:solidFill>
                  </a:rPr>
                  <a:t>tamaño del árbol </a:t>
                </a:r>
                <a:r>
                  <a:rPr lang="es-ES_tradnl" dirty="0"/>
                  <a:t>(</a:t>
                </a:r>
                <a:r>
                  <a:rPr lang="es-ES_tradnl" dirty="0" err="1">
                    <a:solidFill>
                      <a:srgbClr val="002060"/>
                    </a:solidFill>
                  </a:rPr>
                  <a:t>tunning</a:t>
                </a:r>
                <a:r>
                  <a:rPr lang="es-ES_tradnl" dirty="0">
                    <a:solidFill>
                      <a:srgbClr val="002060"/>
                    </a:solidFill>
                  </a:rPr>
                  <a:t> </a:t>
                </a:r>
                <a:r>
                  <a:rPr lang="es-ES_tradnl" dirty="0" err="1">
                    <a:solidFill>
                      <a:srgbClr val="002060"/>
                    </a:solidFill>
                  </a:rPr>
                  <a:t>parameter</a:t>
                </a:r>
                <a:r>
                  <a:rPr lang="es-ES_tradnl" i="1" dirty="0"/>
                  <a:t>)</a:t>
                </a:r>
              </a:p>
              <a:p>
                <a:pPr lvl="1">
                  <a:lnSpc>
                    <a:spcPct val="120000"/>
                  </a:lnSpc>
                </a:pPr>
                <a:r>
                  <a:rPr lang="es-ES_tradnl" dirty="0"/>
                  <a:t>5 observaciones en los nodos terminales</a:t>
                </a:r>
              </a:p>
              <a:p>
                <a:pPr>
                  <a:lnSpc>
                    <a:spcPct val="120000"/>
                  </a:lnSpc>
                </a:pPr>
                <a:r>
                  <a:rPr lang="es-ES_tradnl" dirty="0"/>
                  <a:t>¿Cómo es el </a:t>
                </a:r>
                <a:r>
                  <a:rPr lang="es-ES_tradnl" dirty="0">
                    <a:solidFill>
                      <a:srgbClr val="0070C0"/>
                    </a:solidFill>
                  </a:rPr>
                  <a:t>trade-off de Sesgo-Varianza </a:t>
                </a:r>
                <a:r>
                  <a:rPr lang="es-ES_tradnl" dirty="0"/>
                  <a:t>en árboles?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2DE2FE6-2D21-0373-E669-031C93ACF98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327" t="-581" b="-2035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A24C9DF-C909-6AEF-F737-502315EAE6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18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763364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19CDA2-FBFD-4435-09C4-88FAECC458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2. Arboles de Clasificación: 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2DE2FE6-2D21-0373-E669-031C93ACF98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85000" lnSpcReduction="10000"/>
              </a:bodyPr>
              <a:lstStyle/>
              <a:p>
                <a:pPr>
                  <a:lnSpc>
                    <a:spcPct val="120000"/>
                  </a:lnSpc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lang="es-ES_tradnl" dirty="0"/>
                  <a:t> toma valores fijos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1,2,…,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𝐾</m:t>
                    </m:r>
                  </m:oMath>
                </a14:m>
                <a:endParaRPr lang="es-ES_tradnl" dirty="0"/>
              </a:p>
              <a:p>
                <a:pPr lvl="1">
                  <a:lnSpc>
                    <a:spcPct val="120000"/>
                  </a:lnSpc>
                </a:pPr>
                <a:r>
                  <a:rPr lang="es-ES_tradnl" dirty="0">
                    <a:solidFill>
                      <a:srgbClr val="002060"/>
                    </a:solidFill>
                  </a:rPr>
                  <a:t>Binaria</a:t>
                </a:r>
                <a:r>
                  <a:rPr lang="es-ES_tradnl" dirty="0"/>
                  <a:t>: 0-1</a:t>
                </a:r>
              </a:p>
              <a:p>
                <a:pPr lvl="1">
                  <a:lnSpc>
                    <a:spcPct val="120000"/>
                  </a:lnSpc>
                </a:pPr>
                <a:r>
                  <a:rPr lang="es-ES_tradnl" dirty="0">
                    <a:solidFill>
                      <a:srgbClr val="002060"/>
                    </a:solidFill>
                  </a:rPr>
                  <a:t>Categórica</a:t>
                </a:r>
                <a:r>
                  <a:rPr lang="es-ES_tradnl" dirty="0"/>
                  <a:t>, no necesariamente ordinal</a:t>
                </a:r>
              </a:p>
              <a:p>
                <a:pPr>
                  <a:lnSpc>
                    <a:spcPct val="120000"/>
                  </a:lnSpc>
                </a:pPr>
                <a:r>
                  <a:rPr lang="es-ES_tradnl" dirty="0"/>
                  <a:t>Proporción de observaciones en la categoría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s-ES_tradnl" dirty="0"/>
                  <a:t> en la región </a:t>
                </a:r>
                <a14:m>
                  <m:oMath xmlns:m="http://schemas.openxmlformats.org/officeDocument/2006/math">
                    <m:r>
                      <m:rPr>
                        <m:brk m:alnAt="7"/>
                      </m:rP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es-ES_tradnl" dirty="0"/>
                  <a:t> </a:t>
                </a:r>
              </a:p>
              <a:p>
                <a:pPr marL="0" indent="0" algn="ctr">
                  <a:lnSpc>
                    <a:spcPct val="12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𝑝</m:t>
                              </m:r>
                            </m:e>
                          </m:acc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𝑚𝑘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≡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𝑁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𝑚</m:t>
                              </m:r>
                            </m:sub>
                          </m:sSub>
                        </m:den>
                      </m:f>
                      <m:nary>
                        <m:naryPr>
                          <m:chr m:val="∑"/>
                          <m:supHide m:val="on"/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naryPr>
                        <m:sub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brk m:alnAt="7"/>
                                </m:r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m:rPr>
                                  <m:brk m:alnAt="7"/>
                                </m:r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m:rPr>
                              <m:brk m:alnAt="7"/>
                            </m:r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∈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brk m:alnAt="7"/>
                                </m:r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m:rPr>
                                  <m:brk m:alnAt="7"/>
                                </m:r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𝑚</m:t>
                              </m:r>
                            </m:sub>
                          </m:sSub>
                        </m:sub>
                        <m:sup/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𝐼</m:t>
                          </m:r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𝑘</m:t>
                              </m:r>
                            </m:e>
                          </m:d>
                        </m:e>
                      </m:nary>
                    </m:oMath>
                  </m:oMathPara>
                </a14:m>
                <a:endParaRPr lang="es-ES_tradnl" dirty="0"/>
              </a:p>
              <a:p>
                <a:pPr>
                  <a:lnSpc>
                    <a:spcPct val="120000"/>
                  </a:lnSpc>
                </a:pPr>
                <a:r>
                  <a:rPr lang="es-ES_tradnl" dirty="0">
                    <a:solidFill>
                      <a:srgbClr val="002060"/>
                    </a:solidFill>
                  </a:rPr>
                  <a:t>Idea</a:t>
                </a:r>
                <a:r>
                  <a:rPr lang="es-ES_tradnl" dirty="0"/>
                  <a:t>: clasificar todas las observaciones de la región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brk m:alnAt="7"/>
                          </m:r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m:rPr>
                            <m:brk m:alnAt="7"/>
                          </m:r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𝑚</m:t>
                        </m:r>
                      </m:sub>
                    </m:sSub>
                  </m:oMath>
                </a14:m>
                <a:r>
                  <a:rPr lang="es-ES_tradnl" dirty="0"/>
                  <a:t>a una clase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𝑘</m:t>
                    </m:r>
                  </m:oMath>
                </a14:m>
                <a:endParaRPr lang="es-ES_tradnl" dirty="0"/>
              </a:p>
              <a:p>
                <a:pPr lvl="1">
                  <a:lnSpc>
                    <a:spcPct val="120000"/>
                  </a:lnSpc>
                </a:pPr>
                <a:r>
                  <a:rPr lang="es-ES_tradnl" dirty="0">
                    <a:solidFill>
                      <a:srgbClr val="0070C0"/>
                    </a:solidFill>
                  </a:rPr>
                  <a:t>Asignamos la clase mayoritaria </a:t>
                </a:r>
                <a:r>
                  <a:rPr lang="es-ES_tradnl" dirty="0"/>
                  <a:t>en la región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brk m:alnAt="7"/>
                          </m:r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m:rPr>
                            <m:brk m:alnAt="7"/>
                          </m:r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𝑚</m:t>
                        </m:r>
                      </m:sub>
                    </m:sSub>
                  </m:oMath>
                </a14:m>
                <a:endParaRPr lang="es-ES_tradnl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2DE2FE6-2D21-0373-E669-031C93ACF98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65" t="-581" b="-22384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D9D369A-C8B0-650C-2AB6-8320FB0A3E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545236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19CDA2-FBFD-4435-09C4-88FAECC458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2. Arboles de Clasificación: 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DE2FE6-2D21-0373-E669-031C93ACF9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70000"/>
              </a:lnSpc>
            </a:pPr>
            <a:r>
              <a:rPr lang="es-ES_tradnl"/>
              <a:t>Alternativas de la definición de impureza en los nodos terminales:</a:t>
            </a:r>
          </a:p>
          <a:p>
            <a:pPr marL="0" indent="0">
              <a:lnSpc>
                <a:spcPct val="170000"/>
              </a:lnSpc>
              <a:buNone/>
            </a:pPr>
            <a:endParaRPr lang="es-ES_tradn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D9D369A-C8B0-650C-2AB6-8320FB0A3E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20</a:t>
            </a:fld>
            <a:endParaRPr lang="en-US"/>
          </a:p>
        </p:txBody>
      </p:sp>
      <p:pic>
        <p:nvPicPr>
          <p:cNvPr id="6" name="Picture 5" descr="A group of mathematical symbols&#10;&#10;Description automatically generated">
            <a:extLst>
              <a:ext uri="{FF2B5EF4-FFF2-40B4-BE49-F238E27FC236}">
                <a16:creationId xmlns:a16="http://schemas.microsoft.com/office/drawing/2014/main" id="{B8F95612-26CE-08F0-1B30-7FCB7C4FE2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6844" y="3718025"/>
            <a:ext cx="10426956" cy="1843791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3F15F165-AA02-1908-22D2-91BD5B283DB0}"/>
              </a:ext>
            </a:extLst>
          </p:cNvPr>
          <p:cNvSpPr txBox="1"/>
          <p:nvPr/>
        </p:nvSpPr>
        <p:spPr>
          <a:xfrm>
            <a:off x="3681983" y="5758826"/>
            <a:ext cx="482803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effectLst/>
                <a:latin typeface="Gill Sans Nova Light" panose="020B0302020104020203" pitchFamily="34" charset="0"/>
              </a:rPr>
              <a:t>James, Witten, Hastie, Tibshirani</a:t>
            </a:r>
            <a:r>
              <a:rPr lang="en-US" sz="1600" dirty="0">
                <a:latin typeface="Gill Sans Nova Light" panose="020B0302020104020203" pitchFamily="34" charset="0"/>
              </a:rPr>
              <a:t> &amp; Taylor (</a:t>
            </a:r>
            <a:r>
              <a:rPr lang="en-US" sz="1600" dirty="0">
                <a:effectLst/>
                <a:latin typeface="Gill Sans Nova Light" panose="020B0302020104020203" pitchFamily="34" charset="0"/>
              </a:rPr>
              <a:t>2023). p.335</a:t>
            </a:r>
            <a:endParaRPr lang="en-US" sz="4400" dirty="0">
              <a:effectLst/>
              <a:latin typeface="Gill Sans Nova Light" panose="020B03020201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4761322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AB9552-79C2-B29B-B627-8ECEA851E5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2. Arboles de Clasificación: </a:t>
            </a:r>
            <a:r>
              <a:rPr lang="es-ES_tradnl" dirty="0">
                <a:solidFill>
                  <a:schemeClr val="tx1">
                    <a:lumMod val="50000"/>
                    <a:lumOff val="50000"/>
                  </a:schemeClr>
                </a:solidFill>
              </a:rPr>
              <a:t>en la práctica</a:t>
            </a:r>
            <a:endParaRPr lang="en-US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260BD02-ACB7-331B-7899-1C014C364B6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85000" lnSpcReduction="20000"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s-ES_tradnl" dirty="0"/>
                  <a:t>Clasificar a los sobrevivientes del </a:t>
                </a:r>
                <a:r>
                  <a:rPr lang="es-ES_tradnl" i="1" dirty="0"/>
                  <a:t>Titanic</a:t>
                </a:r>
                <a:r>
                  <a:rPr lang="es-ES_tradnl" dirty="0"/>
                  <a:t> (como en libro)</a:t>
                </a:r>
              </a:p>
              <a:p>
                <a:pPr>
                  <a:lnSpc>
                    <a:spcPct val="150000"/>
                  </a:lnSpc>
                </a:pPr>
                <a:r>
                  <a:rPr lang="es-ES_tradnl" dirty="0"/>
                  <a:t>Usar el </a:t>
                </a:r>
                <a:r>
                  <a:rPr lang="es-ES_tradnl" dirty="0">
                    <a:solidFill>
                      <a:srgbClr val="002060"/>
                    </a:solidFill>
                  </a:rPr>
                  <a:t>Índice de Gini</a:t>
                </a:r>
                <a:r>
                  <a:rPr lang="es-ES_tradnl" dirty="0"/>
                  <a:t>:</a:t>
                </a:r>
              </a:p>
              <a:p>
                <a:pPr lvl="1">
                  <a:lnSpc>
                    <a:spcPct val="150000"/>
                  </a:lnSpc>
                </a:pPr>
                <a:r>
                  <a:rPr lang="es-ES_tradnl" dirty="0"/>
                  <a:t>Varianza total entre las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𝐾</m:t>
                    </m:r>
                  </m:oMath>
                </a14:m>
                <a:r>
                  <a:rPr lang="es-ES_tradnl" dirty="0"/>
                  <a:t> categorías de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𝑦</m:t>
                    </m:r>
                  </m:oMath>
                </a14:m>
                <a:endParaRPr lang="es-ES_tradnl" dirty="0"/>
              </a:p>
              <a:p>
                <a:pPr lvl="1">
                  <a:lnSpc>
                    <a:spcPct val="150000"/>
                  </a:lnSpc>
                </a:pPr>
                <a:r>
                  <a:rPr lang="es-ES_tradnl" dirty="0"/>
                  <a:t>Intuición</a:t>
                </a:r>
              </a:p>
              <a:p>
                <a:pPr lvl="2">
                  <a:lnSpc>
                    <a:spcPct val="150000"/>
                  </a:lnSpc>
                </a:pPr>
                <a:r>
                  <a:rPr lang="es-ES_tradnl" dirty="0">
                    <a:solidFill>
                      <a:srgbClr val="002060"/>
                    </a:solidFill>
                  </a:rPr>
                  <a:t>Cerca de 1</a:t>
                </a:r>
                <a:r>
                  <a:rPr lang="es-ES_tradnl" dirty="0"/>
                  <a:t>: observaciones con distintas categorías de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𝑦</m:t>
                    </m:r>
                  </m:oMath>
                </a14:m>
                <a:endParaRPr lang="es-ES_tradnl" dirty="0"/>
              </a:p>
              <a:p>
                <a:pPr lvl="2">
                  <a:lnSpc>
                    <a:spcPct val="150000"/>
                  </a:lnSpc>
                </a:pPr>
                <a:r>
                  <a:rPr lang="es-ES_tradnl" dirty="0">
                    <a:solidFill>
                      <a:srgbClr val="002060"/>
                    </a:solidFill>
                  </a:rPr>
                  <a:t>Cerca de 0</a:t>
                </a:r>
                <a:r>
                  <a:rPr lang="es-ES_tradnl" dirty="0"/>
                  <a:t>: observaciones con la misma categoría de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s-ES_tradnl" dirty="0"/>
                  <a:t> -&gt; “nodo más puro”</a:t>
                </a:r>
              </a:p>
              <a:p>
                <a:pPr lvl="1">
                  <a:lnSpc>
                    <a:spcPct val="150000"/>
                  </a:lnSpc>
                </a:pPr>
                <a:r>
                  <a:rPr lang="es-ES_tradnl" dirty="0">
                    <a:solidFill>
                      <a:schemeClr val="accent2"/>
                    </a:solidFill>
                  </a:rPr>
                  <a:t>Tarea para la tutorial</a:t>
                </a:r>
                <a:r>
                  <a:rPr lang="es-ES_tradnl" dirty="0"/>
                  <a:t>: comparar el índice del nodo inicial con la de los nodos terminales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260BD02-ACB7-331B-7899-1C014C364B6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965" b="-1453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D68A75D-E0CD-027D-D2B3-B1E10966FA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59531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C42471-9418-E3E3-C7E5-30087178FA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Podar un árbol (</a:t>
            </a:r>
            <a:r>
              <a:rPr lang="es-ES_tradnl" dirty="0" err="1"/>
              <a:t>Tree</a:t>
            </a:r>
            <a:r>
              <a:rPr lang="es-ES_tradnl" dirty="0"/>
              <a:t> </a:t>
            </a:r>
            <a:r>
              <a:rPr lang="es-ES_tradnl" dirty="0" err="1"/>
              <a:t>pruning</a:t>
            </a:r>
            <a:r>
              <a:rPr lang="es-ES_tradnl" dirty="0"/>
              <a:t>)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A780597-6948-B78E-E6E3-6E4F9F1321E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US" sz="2400" dirty="0"/>
              <a:t>References</a:t>
            </a:r>
          </a:p>
          <a:p>
            <a:r>
              <a:rPr lang="es-AR" sz="2400" b="1" dirty="0">
                <a:solidFill>
                  <a:srgbClr val="00663D"/>
                </a:solidFill>
                <a:effectLst/>
                <a:latin typeface="Times" pitchFamily="2" charset="0"/>
                <a:ea typeface="Times" pitchFamily="2" charset="0"/>
                <a:cs typeface="Times" pitchFamily="2" charset="0"/>
              </a:rPr>
              <a:t>† </a:t>
            </a:r>
            <a:r>
              <a:rPr lang="en-US" sz="2400" dirty="0"/>
              <a:t>James, G., Witten, D., Hastie, T., Tibshirani, R., &amp; Taylor, J. (2023). </a:t>
            </a:r>
            <a:r>
              <a:rPr lang="en-US" sz="2400" i="1" dirty="0"/>
              <a:t>An introduction to statistical learning: With applications in Python. </a:t>
            </a:r>
            <a:r>
              <a:rPr lang="en-US" sz="2400" b="1" dirty="0"/>
              <a:t>Chap. 8.1</a:t>
            </a:r>
          </a:p>
          <a:p>
            <a:r>
              <a:rPr lang="en-US" sz="2400" b="1" cap="small" dirty="0">
                <a:solidFill>
                  <a:srgbClr val="002060"/>
                </a:solidFill>
                <a:effectLst/>
                <a:latin typeface="Times" pitchFamily="2" charset="0"/>
                <a:ea typeface="Times" pitchFamily="2" charset="0"/>
                <a:cs typeface="Times" pitchFamily="2" charset="0"/>
              </a:rPr>
              <a:t>* </a:t>
            </a:r>
            <a:r>
              <a:rPr lang="en-US" sz="240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Gill Sans Nova Light" panose="020B0302020104020203" pitchFamily="34" charset="0"/>
                <a:ea typeface="Gill Sans" panose="020B0502020104020203" pitchFamily="34" charset="-79"/>
                <a:cs typeface="Gill Sans" panose="020B0502020104020203" pitchFamily="34" charset="-79"/>
              </a:rPr>
              <a:t>Friedman, J., Hastie, T., &amp; Tibshirani, R. (2001). </a:t>
            </a:r>
            <a:r>
              <a:rPr lang="en-US" sz="2400" i="1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Gill Sans Nova Light" panose="020B0302020104020203" pitchFamily="34" charset="0"/>
                <a:ea typeface="Gill Sans" panose="020B0502020104020203" pitchFamily="34" charset="-79"/>
                <a:cs typeface="Gill Sans" panose="020B0502020104020203" pitchFamily="34" charset="-79"/>
              </a:rPr>
              <a:t>The elements of statistical learning </a:t>
            </a:r>
            <a:r>
              <a:rPr lang="en-US" sz="240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Gill Sans Nova Light" panose="020B0302020104020203" pitchFamily="34" charset="0"/>
                <a:ea typeface="Gill Sans" panose="020B0502020104020203" pitchFamily="34" charset="-79"/>
                <a:cs typeface="Gill Sans" panose="020B0502020104020203" pitchFamily="34" charset="-79"/>
              </a:rPr>
              <a:t>(Vol. 1). </a:t>
            </a:r>
            <a:r>
              <a:rPr lang="en-US" sz="2400" b="1" dirty="0"/>
              <a:t>Chap 9.2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18F5EC8-9CA8-BFFB-D2D0-21A5435315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508282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19CDA2-FBFD-4435-09C4-88FAECC458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 err="1"/>
              <a:t>Tree</a:t>
            </a:r>
            <a:r>
              <a:rPr lang="es-ES_tradnl" dirty="0"/>
              <a:t> </a:t>
            </a:r>
            <a:r>
              <a:rPr lang="es-ES_tradnl" dirty="0" err="1"/>
              <a:t>Pruning</a:t>
            </a:r>
            <a:r>
              <a:rPr lang="es-ES_tradnl" dirty="0"/>
              <a:t>: </a:t>
            </a:r>
            <a:r>
              <a:rPr lang="es-ES_tradnl" i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Idea e Intuición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DE2FE6-2D21-0373-E669-031C93ACF9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>
              <a:lnSpc>
                <a:spcPct val="170000"/>
              </a:lnSpc>
            </a:pPr>
            <a:r>
              <a:rPr lang="es-ES_tradnl" dirty="0">
                <a:solidFill>
                  <a:srgbClr val="002060"/>
                </a:solidFill>
              </a:rPr>
              <a:t>Idea</a:t>
            </a:r>
            <a:r>
              <a:rPr lang="es-ES_tradnl" dirty="0"/>
              <a:t>: ajustar un árbol grande y luego podarlo (</a:t>
            </a:r>
            <a:r>
              <a:rPr lang="es-ES_tradnl" i="1" dirty="0" err="1"/>
              <a:t>prune</a:t>
            </a:r>
            <a:r>
              <a:rPr lang="es-ES_tradnl" dirty="0"/>
              <a:t>) usando un criterio de costo de complejidad.</a:t>
            </a:r>
          </a:p>
          <a:p>
            <a:pPr>
              <a:lnSpc>
                <a:spcPct val="170000"/>
              </a:lnSpc>
            </a:pPr>
            <a:r>
              <a:rPr lang="es-ES_tradnl" dirty="0">
                <a:solidFill>
                  <a:srgbClr val="002060"/>
                </a:solidFill>
              </a:rPr>
              <a:t>Objetivo</a:t>
            </a:r>
            <a:r>
              <a:rPr lang="es-ES_tradnl" dirty="0"/>
              <a:t>: </a:t>
            </a:r>
            <a:r>
              <a:rPr lang="es-ES_tradnl" dirty="0">
                <a:solidFill>
                  <a:srgbClr val="002060"/>
                </a:solidFill>
              </a:rPr>
              <a:t>subárbol</a:t>
            </a:r>
            <a:r>
              <a:rPr lang="es-ES_tradnl" dirty="0"/>
              <a:t> con mejor tasa de error afuera de la muestra de entrenamiento</a:t>
            </a:r>
          </a:p>
          <a:p>
            <a:pPr>
              <a:lnSpc>
                <a:spcPct val="170000"/>
              </a:lnSpc>
            </a:pPr>
            <a:endParaRPr lang="es-ES_tradnl" sz="2000" dirty="0"/>
          </a:p>
          <a:p>
            <a:pPr>
              <a:lnSpc>
                <a:spcPct val="170000"/>
              </a:lnSpc>
            </a:pPr>
            <a:r>
              <a:rPr lang="es-ES_tradnl" dirty="0">
                <a:solidFill>
                  <a:srgbClr val="FF0000"/>
                </a:solidFill>
              </a:rPr>
              <a:t>Problema</a:t>
            </a:r>
            <a:r>
              <a:rPr lang="es-ES_tradnl" dirty="0"/>
              <a:t>: estimar el error de CV para cada subárbol posible puede llevar mucho tiempo</a:t>
            </a:r>
          </a:p>
          <a:p>
            <a:pPr>
              <a:lnSpc>
                <a:spcPct val="170000"/>
              </a:lnSpc>
            </a:pPr>
            <a:r>
              <a:rPr lang="es-ES_tradnl" dirty="0">
                <a:solidFill>
                  <a:srgbClr val="00B050"/>
                </a:solidFill>
              </a:rPr>
              <a:t>Solución</a:t>
            </a:r>
            <a:r>
              <a:rPr lang="es-ES_tradnl" dirty="0"/>
              <a:t>: usar un criterio que para evaluar entre un pequeño conjunto de subárboles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D9D369A-C8B0-650C-2AB6-8320FB0A3E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44469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19CDA2-FBFD-4435-09C4-88FAECC458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Costo de Complejidad: </a:t>
            </a:r>
            <a:r>
              <a:rPr lang="es-ES_tradnl" i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Notación</a:t>
            </a:r>
            <a:r>
              <a:rPr lang="es-ES_tradnl" dirty="0"/>
              <a:t>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2DE2FE6-2D21-0373-E669-031C93ACF98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62500" lnSpcReduction="20000"/>
              </a:bodyPr>
              <a:lstStyle/>
              <a:p>
                <a:pPr>
                  <a:lnSpc>
                    <a:spcPct val="170000"/>
                  </a:lnSpc>
                </a:pPr>
                <a:r>
                  <a:rPr lang="es-ES_tradnl" dirty="0">
                    <a:latin typeface="Gill Sans Nova Light" panose="020B0302020104020203" pitchFamily="34" charset="0"/>
                  </a:rPr>
                  <a:t>Á</a:t>
                </a:r>
                <a:r>
                  <a:rPr lang="es-ES_tradnl" b="0" dirty="0">
                    <a:latin typeface="Gill Sans Nova Light" panose="020B0302020104020203" pitchFamily="34" charset="0"/>
                  </a:rPr>
                  <a:t>rbol inicial grande con muchos nodos terminales: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ES_tradnl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_tradnl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s-ES_tradnl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s-ES_tradnl" b="0" dirty="0">
                    <a:latin typeface="Gill Sans Nova Light" panose="020B0302020104020203" pitchFamily="34" charset="0"/>
                  </a:rPr>
                  <a:t> </a:t>
                </a:r>
              </a:p>
              <a:p>
                <a:pPr>
                  <a:lnSpc>
                    <a:spcPct val="170000"/>
                  </a:lnSpc>
                </a:pPr>
                <a:r>
                  <a:rPr lang="es-ES_tradnl" dirty="0">
                    <a:latin typeface="Gill Sans Nova Light" panose="020B0302020104020203" pitchFamily="34" charset="0"/>
                  </a:rPr>
                  <a:t>S</a:t>
                </a:r>
                <a:r>
                  <a:rPr lang="es-ES_tradnl" b="0" dirty="0">
                    <a:latin typeface="Gill Sans Nova Light" panose="020B0302020104020203" pitchFamily="34" charset="0"/>
                  </a:rPr>
                  <a:t>ubárbol </a:t>
                </a:r>
                <a14:m>
                  <m:oMath xmlns:m="http://schemas.openxmlformats.org/officeDocument/2006/math">
                    <m:r>
                      <a:rPr lang="es-ES_tradnl" b="0" i="1" smtClean="0">
                        <a:latin typeface="Cambria Math" panose="02040503050406030204" pitchFamily="18" charset="0"/>
                      </a:rPr>
                      <m:t>𝑇</m:t>
                    </m:r>
                    <m:r>
                      <a:rPr lang="es-ES_tradnl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⊂</m:t>
                    </m:r>
                    <m:sSub>
                      <m:sSubPr>
                        <m:ctrlPr>
                          <a:rPr lang="es-ES_tradnl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_tradnl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s-ES_tradnl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endParaRPr lang="es-ES_tradnl" b="0" dirty="0">
                  <a:latin typeface="Gill Sans Nova Light" panose="020B0302020104020203" pitchFamily="34" charset="0"/>
                </a:endParaRPr>
              </a:p>
              <a:p>
                <a:pPr>
                  <a:lnSpc>
                    <a:spcPct val="170000"/>
                  </a:lnSpc>
                </a:pPr>
                <a:r>
                  <a:rPr lang="es-ES_tradnl" dirty="0">
                    <a:latin typeface="Gill Sans Nova Light" panose="020B0302020104020203" pitchFamily="34" charset="0"/>
                  </a:rPr>
                  <a:t>Número total de nodos terminales del subárbol </a:t>
                </a:r>
                <a14:m>
                  <m:oMath xmlns:m="http://schemas.openxmlformats.org/officeDocument/2006/math">
                    <m:r>
                      <a:rPr lang="es-ES_tradnl" i="1"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lang="es-ES_tradnl" dirty="0">
                    <a:latin typeface="Gill Sans Nova Light" panose="020B0302020104020203" pitchFamily="34" charset="0"/>
                  </a:rPr>
                  <a:t>: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s-ES_tradnl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ES_tradnl" i="1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</m:d>
                  </m:oMath>
                </a14:m>
                <a:endParaRPr lang="es-ES_tradnl" b="0" dirty="0">
                  <a:latin typeface="Gill Sans Nova Light" panose="020B0302020104020203" pitchFamily="34" charset="0"/>
                </a:endParaRPr>
              </a:p>
              <a:p>
                <a:pPr>
                  <a:lnSpc>
                    <a:spcPct val="170000"/>
                  </a:lnSpc>
                </a:pPr>
                <a:r>
                  <a:rPr lang="es-ES_tradnl" dirty="0">
                    <a:latin typeface="Gill Sans Nova Light" panose="020B0302020104020203" pitchFamily="34" charset="0"/>
                  </a:rPr>
                  <a:t>Numero de observaciones en cada partición: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=#</m:t>
                    </m:r>
                    <m:d>
                      <m:dPr>
                        <m:begChr m:val="{"/>
                        <m:endChr m:val="}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∈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𝑚</m:t>
                            </m:r>
                          </m:sub>
                        </m:sSub>
                      </m:e>
                    </m:d>
                  </m:oMath>
                </a14:m>
                <a:endParaRPr lang="es-ES_tradnl" b="0" dirty="0">
                  <a:latin typeface="Gill Sans Nova Light" panose="020B0302020104020203" pitchFamily="34" charset="0"/>
                </a:endParaRPr>
              </a:p>
              <a:p>
                <a:pPr>
                  <a:lnSpc>
                    <a:spcPct val="170000"/>
                  </a:lnSpc>
                </a:pPr>
                <a:r>
                  <a:rPr lang="es-ES_tradnl" dirty="0">
                    <a:latin typeface="Gill Sans Nova Light" panose="020B0302020104020203" pitchFamily="34" charset="0"/>
                  </a:rPr>
                  <a:t>Predicción promedio en la región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𝑚</m:t>
                        </m:r>
                      </m:sub>
                    </m:sSub>
                  </m:oMath>
                </a14:m>
                <a:r>
                  <a:rPr lang="es-ES_tradnl" dirty="0">
                    <a:latin typeface="Gill Sans Nova Light" panose="020B0302020104020203" pitchFamily="34" charset="0"/>
                  </a:rPr>
                  <a:t>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s-ES_tradnl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acc>
                      </m:e>
                      <m:sub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𝑚</m:t>
                            </m:r>
                          </m:sub>
                        </m:sSub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=1/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  <m:nary>
                      <m:naryPr>
                        <m:chr m:val="∑"/>
                        <m:supHide m:val="on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∈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𝑚</m:t>
                            </m:r>
                          </m:sub>
                        </m:sSub>
                      </m:sub>
                      <m:sup/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nary>
                  </m:oMath>
                </a14:m>
                <a:endParaRPr lang="es-ES_tradnl" b="0" dirty="0">
                  <a:latin typeface="Gill Sans Nova Light" panose="020B0302020104020203" pitchFamily="34" charset="0"/>
                </a:endParaRPr>
              </a:p>
              <a:p>
                <a:pPr>
                  <a:lnSpc>
                    <a:spcPct val="170000"/>
                  </a:lnSpc>
                </a:pPr>
                <a:r>
                  <a:rPr lang="es-ES_tradnl" dirty="0">
                    <a:latin typeface="Gill Sans Nova Light" panose="020B0302020104020203" pitchFamily="34" charset="0"/>
                  </a:rPr>
                  <a:t>Promedio de la suma de los residuos al cuadrado de los nodos terminales: </a:t>
                </a:r>
              </a:p>
              <a:p>
                <a:pPr marL="0" indent="0" algn="ctr">
                  <a:lnSpc>
                    <a:spcPct val="170000"/>
                  </a:lnSpc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𝑄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𝑚</m:t>
                        </m:r>
                      </m:sub>
                    </m:sSub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𝑇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s-ES_tradnl" b="0" dirty="0">
                    <a:latin typeface="Gill Sans Nova Light" panose="020B0302020104020203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1/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  <m:nary>
                      <m:naryPr>
                        <m:chr m:val="∑"/>
                        <m:supHide m:val="on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∈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𝑚</m:t>
                            </m:r>
                          </m:sub>
                        </m:sSub>
                      </m:sub>
                      <m:sup/>
                      <m:e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acc>
                                      <m:accPr>
                                        <m:chr m:val="̂"/>
                                        <m:ctrlPr>
                                          <a:rPr lang="es-ES_tradnl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𝑦</m:t>
                                        </m:r>
                                      </m:e>
                                    </m:acc>
                                  </m:e>
                                  <m:sub>
                                    <m:sSub>
                                      <m:sSub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𝑅</m:t>
                                        </m:r>
                                      </m:e>
                                      <m:sub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𝑚</m:t>
                                        </m:r>
                                      </m:sub>
                                    </m:sSub>
                                  </m:sub>
                                </m:sSub>
                              </m:e>
                            </m:d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nary>
                  </m:oMath>
                </a14:m>
                <a:endParaRPr lang="es-ES_tradnl" b="0" dirty="0">
                  <a:latin typeface="Gill Sans Nova Light" panose="020B0302020104020203" pitchFamily="34" charset="0"/>
                </a:endParaRPr>
              </a:p>
              <a:p>
                <a:pPr>
                  <a:lnSpc>
                    <a:spcPct val="170000"/>
                  </a:lnSpc>
                </a:pPr>
                <a:endParaRPr lang="es-ES_tradnl" b="0" dirty="0">
                  <a:latin typeface="Gill Sans Nova Light" panose="020B0302020104020203" pitchFamily="34" charset="0"/>
                </a:endParaRPr>
              </a:p>
              <a:p>
                <a:pPr>
                  <a:lnSpc>
                    <a:spcPct val="170000"/>
                  </a:lnSpc>
                </a:pPr>
                <a:endParaRPr lang="es-ES_tradnl" b="0" dirty="0">
                  <a:latin typeface="Gill Sans Nova Light" panose="020B0302020104020203" pitchFamily="34" charset="0"/>
                </a:endParaRPr>
              </a:p>
              <a:p>
                <a:pPr>
                  <a:lnSpc>
                    <a:spcPct val="170000"/>
                  </a:lnSpc>
                </a:pPr>
                <a:endParaRPr lang="es-ES_tradnl" b="0" dirty="0">
                  <a:latin typeface="Gill Sans Nova Light" panose="020B0302020104020203" pitchFamily="34" charset="0"/>
                </a:endParaRPr>
              </a:p>
              <a:p>
                <a:pPr>
                  <a:lnSpc>
                    <a:spcPct val="170000"/>
                  </a:lnSpc>
                </a:pPr>
                <a:endParaRPr lang="es-ES_tradnl" b="0" dirty="0">
                  <a:latin typeface="Gill Sans Nova Light" panose="020B0302020104020203" pitchFamily="34" charset="0"/>
                </a:endParaRPr>
              </a:p>
              <a:p>
                <a:pPr marL="0" indent="0">
                  <a:lnSpc>
                    <a:spcPct val="170000"/>
                  </a:lnSpc>
                  <a:buNone/>
                </a:pPr>
                <a:endParaRPr lang="es-ES_tradnl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2DE2FE6-2D21-0373-E669-031C93ACF98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603" b="-1279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D9D369A-C8B0-650C-2AB6-8320FB0A3E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152448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19CDA2-FBFD-4435-09C4-88FAECC458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Costo de Complejidad: </a:t>
            </a:r>
            <a:r>
              <a:rPr lang="es-ES_tradnl" i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Formula e Intuición </a:t>
            </a:r>
            <a:r>
              <a:rPr lang="es-ES_tradnl" dirty="0"/>
              <a:t>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2DE2FE6-2D21-0373-E669-031C93ACF98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85000" lnSpcReduction="10000"/>
              </a:bodyPr>
              <a:lstStyle/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𝛼</m:t>
                          </m:r>
                        </m:sub>
                      </m:sSub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d>
                            <m:dPr>
                              <m:begChr m:val="|"/>
                              <m:endChr m:val="|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e>
                          </m:d>
                        </m:sup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𝑄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sub>
                          </m:sSub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e>
                          </m:d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nary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𝛼</m:t>
                      </m:r>
                      <m:d>
                        <m:dPr>
                          <m:begChr m:val="|"/>
                          <m:endChr m:val="|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</m:d>
                    </m:oMath>
                  </m:oMathPara>
                </a14:m>
                <a:endParaRPr lang="es-ES_tradnl" dirty="0"/>
              </a:p>
              <a:p>
                <a:pPr>
                  <a:lnSpc>
                    <a:spcPct val="150000"/>
                  </a:lnSpc>
                </a:pPr>
                <a:r>
                  <a:rPr lang="es-ES_tradnl" dirty="0">
                    <a:solidFill>
                      <a:srgbClr val="002060"/>
                    </a:solidFill>
                  </a:rPr>
                  <a:t>Intuición</a:t>
                </a:r>
                <a:r>
                  <a:rPr lang="es-ES_tradnl" dirty="0"/>
                  <a:t>: promedio ponderado de la suma de los residuos al cuadrado de cada partición, más el tamaño del árbol</a:t>
                </a:r>
              </a:p>
              <a:p>
                <a:pPr lvl="1">
                  <a:lnSpc>
                    <a:spcPct val="1500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</m:d>
                  </m:oMath>
                </a14:m>
                <a:r>
                  <a:rPr lang="es-ES_tradnl" dirty="0"/>
                  <a:t> penaliza la heterogenidad (impureza) dentro de cada región </a:t>
                </a:r>
              </a:p>
              <a:p>
                <a:pPr lvl="1"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𝛼</m:t>
                    </m:r>
                    <m:d>
                      <m:dPr>
                        <m:begChr m:val="|"/>
                        <m:endChr m:val="|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</m:d>
                  </m:oMath>
                </a14:m>
                <a:r>
                  <a:rPr lang="es-ES_tradnl" dirty="0"/>
                  <a:t> penaliza la cantidad de regiones/particiones finales</a:t>
                </a:r>
              </a:p>
              <a:p>
                <a:pPr>
                  <a:lnSpc>
                    <a:spcPct val="150000"/>
                  </a:lnSpc>
                </a:pPr>
                <a:endParaRPr lang="es-ES_tradnl" dirty="0"/>
              </a:p>
              <a:p>
                <a:pPr>
                  <a:lnSpc>
                    <a:spcPct val="150000"/>
                  </a:lnSpc>
                </a:pPr>
                <a:endParaRPr lang="es-ES_tradnl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2DE2FE6-2D21-0373-E669-031C93ACF98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65" t="-18895" b="-1163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D9D369A-C8B0-650C-2AB6-8320FB0A3E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88170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19CDA2-FBFD-4435-09C4-88FAECC458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Costo de Complejidad: </a:t>
            </a:r>
            <a:r>
              <a:rPr lang="es-ES_tradnl" i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Objetivo</a:t>
            </a:r>
            <a:r>
              <a:rPr lang="es-ES_tradnl" dirty="0"/>
              <a:t>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2DE2FE6-2D21-0373-E669-031C93ACF98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85000" lnSpcReduction="20000"/>
              </a:bodyPr>
              <a:lstStyle/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𝛼</m:t>
                          </m:r>
                        </m:sub>
                      </m:sSub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d>
                            <m:dPr>
                              <m:begChr m:val="|"/>
                              <m:endChr m:val="|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e>
                          </m:d>
                        </m:sup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𝑄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sub>
                          </m:sSub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e>
                          </m:d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nary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𝛼</m:t>
                      </m:r>
                      <m:d>
                        <m:dPr>
                          <m:begChr m:val="|"/>
                          <m:endChr m:val="|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</m:d>
                    </m:oMath>
                  </m:oMathPara>
                </a14:m>
                <a:endParaRPr lang="es-ES_tradnl" dirty="0"/>
              </a:p>
              <a:p>
                <a:pPr>
                  <a:lnSpc>
                    <a:spcPct val="150000"/>
                  </a:lnSpc>
                </a:pPr>
                <a:r>
                  <a:rPr lang="es-ES_tradnl" dirty="0">
                    <a:solidFill>
                      <a:srgbClr val="002060"/>
                    </a:solidFill>
                  </a:rPr>
                  <a:t>Objetivo</a:t>
                </a:r>
                <a:r>
                  <a:rPr lang="es-ES_tradnl" dirty="0">
                    <a:solidFill>
                      <a:schemeClr val="tx1">
                        <a:lumMod val="50000"/>
                        <a:lumOff val="50000"/>
                      </a:schemeClr>
                    </a:solidFill>
                  </a:rPr>
                  <a:t>:</a:t>
                </a:r>
                <a:r>
                  <a:rPr lang="es-ES_tradnl" dirty="0"/>
                  <a:t> para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es-ES_tradnl" dirty="0"/>
                  <a:t> obtener un subárbol que minimice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𝛼</m:t>
                        </m:r>
                      </m:sub>
                    </m:sSub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</m:d>
                  </m:oMath>
                </a14:m>
                <a:endParaRPr lang="es-ES_tradnl" dirty="0"/>
              </a:p>
              <a:p>
                <a:pPr>
                  <a:lnSpc>
                    <a:spcPct val="150000"/>
                  </a:lnSpc>
                </a:pPr>
                <a:r>
                  <a:rPr lang="es-ES_tradnl" dirty="0">
                    <a:solidFill>
                      <a:srgbClr val="00B050"/>
                    </a:solidFill>
                  </a:rPr>
                  <a:t>Resultado</a:t>
                </a:r>
                <a:r>
                  <a:rPr lang="es-ES_tradnl" dirty="0"/>
                  <a:t>: para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es-ES_tradnl" dirty="0"/>
                  <a:t> hay un único subárbol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𝛼</m:t>
                        </m:r>
                      </m:sub>
                    </m:sSub>
                  </m:oMath>
                </a14:m>
                <a:r>
                  <a:rPr lang="es-ES_tradnl" dirty="0"/>
                  <a:t> que minimiza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𝛼</m:t>
                        </m:r>
                      </m:sub>
                    </m:sSub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</m:d>
                  </m:oMath>
                </a14:m>
                <a:endParaRPr lang="es-ES_tradnl" dirty="0"/>
              </a:p>
              <a:p>
                <a:pPr lvl="1">
                  <a:lnSpc>
                    <a:spcPct val="150000"/>
                  </a:lnSpc>
                </a:pPr>
                <a:r>
                  <a:rPr lang="es-ES_tradnl" dirty="0">
                    <a:solidFill>
                      <a:schemeClr val="tx1"/>
                    </a:solidFill>
                  </a:rPr>
                  <a:t>Nos reduce la búsqueda entre todos los subárboles posibles al armar una sucesión de subárboles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𝛼</m:t>
                        </m:r>
                      </m:sub>
                    </m:sSub>
                  </m:oMath>
                </a14:m>
                <a:endParaRPr lang="es-ES_tradnl" dirty="0">
                  <a:solidFill>
                    <a:schemeClr val="tx1"/>
                  </a:solidFill>
                </a:endParaRPr>
              </a:p>
              <a:p>
                <a:pPr>
                  <a:lnSpc>
                    <a:spcPct val="150000"/>
                  </a:lnSpc>
                </a:pPr>
                <a:endParaRPr lang="es-ES_tradnl" dirty="0"/>
              </a:p>
              <a:p>
                <a:pPr>
                  <a:lnSpc>
                    <a:spcPct val="150000"/>
                  </a:lnSpc>
                </a:pPr>
                <a:endParaRPr lang="es-ES_tradnl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2DE2FE6-2D21-0373-E669-031C93ACF98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65" t="-1889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D9D369A-C8B0-650C-2AB6-8320FB0A3E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5722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19CDA2-FBFD-4435-09C4-88FAECC458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Costo de Complejidad: </a:t>
            </a:r>
            <a:r>
              <a:rPr lang="es-ES_tradnl" i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Mecanismo</a:t>
            </a:r>
            <a:r>
              <a:rPr lang="es-ES_tradnl" dirty="0"/>
              <a:t>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2DE2FE6-2D21-0373-E669-031C93ACF98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70000" lnSpcReduction="20000"/>
              </a:bodyPr>
              <a:lstStyle/>
              <a:p>
                <a:pPr marL="0" indent="0">
                  <a:lnSpc>
                    <a:spcPct val="12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𝛼</m:t>
                          </m:r>
                        </m:sub>
                      </m:sSub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d>
                            <m:dPr>
                              <m:begChr m:val="|"/>
                              <m:endChr m:val="|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e>
                          </m:d>
                        </m:sup>
                        <m:e>
                          <m:nary>
                            <m:naryPr>
                              <m:chr m:val="∑"/>
                              <m:supHide m:val="on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∈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𝑅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𝑚</m:t>
                                  </m:r>
                                </m:sub>
                              </m:sSub>
                            </m:sub>
                            <m:sup/>
                            <m:e>
                              <m:sSup>
                                <m:sSup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𝑦</m:t>
                                          </m:r>
                                        </m:e>
                                        <m: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−</m:t>
                                      </m:r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acc>
                                            <m:accPr>
                                              <m:chr m:val="̂"/>
                                              <m:ctrlPr>
                                                <a:rPr lang="es-ES_tradnl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accPr>
                                            <m:e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𝑦</m:t>
                                              </m:r>
                                            </m:e>
                                          </m:acc>
                                        </m:e>
                                        <m:sub>
                                          <m:sSub>
                                            <m:sSubPr>
                                              <m:ctrlP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𝑅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𝑚</m:t>
                                              </m:r>
                                            </m:sub>
                                          </m:sSub>
                                        </m:sub>
                                      </m:sSub>
                                    </m:e>
                                  </m:d>
                                </m:e>
                                <m:sup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nary>
                        </m:e>
                      </m:nary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𝛼</m:t>
                      </m:r>
                      <m:d>
                        <m:dPr>
                          <m:begChr m:val="|"/>
                          <m:endChr m:val="|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</m:d>
                    </m:oMath>
                  </m:oMathPara>
                </a14:m>
                <a:endParaRPr lang="es-ES_tradnl" dirty="0"/>
              </a:p>
              <a:p>
                <a:pPr>
                  <a:lnSpc>
                    <a:spcPct val="120000"/>
                  </a:lnSpc>
                </a:pPr>
                <a:r>
                  <a:rPr lang="en-US" dirty="0">
                    <a:solidFill>
                      <a:schemeClr val="tx1"/>
                    </a:solidFill>
                  </a:rPr>
                  <a:t>Si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𝛼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s-ES_tradnl" dirty="0">
                    <a:solidFill>
                      <a:schemeClr val="tx1"/>
                    </a:solidFill>
                  </a:rPr>
                  <a:t>, entonces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s-ES_tradnl" dirty="0">
                    <a:solidFill>
                      <a:schemeClr val="tx1"/>
                    </a:solidFill>
                  </a:rPr>
                  <a:t> </a:t>
                </a:r>
                <a:r>
                  <a:rPr lang="es-ES_tradnl" dirty="0"/>
                  <a:t>¿</a:t>
                </a:r>
                <a:r>
                  <a:rPr lang="es-ES_tradnl" dirty="0">
                    <a:solidFill>
                      <a:schemeClr val="tx1"/>
                    </a:solidFill>
                  </a:rPr>
                  <a:t>Por qué? </a:t>
                </a:r>
              </a:p>
              <a:p>
                <a:pPr>
                  <a:lnSpc>
                    <a:spcPct val="120000"/>
                  </a:lnSpc>
                </a:pPr>
                <a:r>
                  <a:rPr lang="es-ES_tradnl" dirty="0"/>
                  <a:t>Si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es-ES_tradnl" dirty="0">
                    <a:solidFill>
                      <a:schemeClr val="tx1"/>
                    </a:solidFill>
                  </a:rPr>
                  <a:t> aumenta, entonces el </a:t>
                </a:r>
                <a:r>
                  <a:rPr lang="es-ES_tradnl" dirty="0">
                    <a:solidFill>
                      <a:srgbClr val="FF0000"/>
                    </a:solidFill>
                  </a:rPr>
                  <a:t>costo</a:t>
                </a:r>
                <a:r>
                  <a:rPr lang="es-ES_tradnl" dirty="0">
                    <a:solidFill>
                      <a:schemeClr val="tx1"/>
                    </a:solidFill>
                  </a:rPr>
                  <a:t> de muchos nodos terminales </a:t>
                </a:r>
                <a:r>
                  <a:rPr lang="es-ES_tradnl" dirty="0">
                    <a:solidFill>
                      <a:srgbClr val="FF0000"/>
                    </a:solidFill>
                  </a:rPr>
                  <a:t>aumenta</a:t>
                </a:r>
                <a:r>
                  <a:rPr lang="es-ES_tradnl" dirty="0">
                    <a:solidFill>
                      <a:schemeClr val="tx1"/>
                    </a:solidFill>
                  </a:rPr>
                  <a:t>, el </a:t>
                </a:r>
                <a:r>
                  <a:rPr lang="es-ES_tradnl" dirty="0">
                    <a:solidFill>
                      <a:srgbClr val="00B050"/>
                    </a:solidFill>
                  </a:rPr>
                  <a:t>tamaño</a:t>
                </a:r>
                <a:r>
                  <a:rPr lang="es-ES_tradnl" dirty="0">
                    <a:solidFill>
                      <a:schemeClr val="tx1"/>
                    </a:solidFill>
                  </a:rPr>
                  <a:t> del árbol </a:t>
                </a:r>
                <a:r>
                  <a:rPr lang="es-ES_tradnl" dirty="0">
                    <a:solidFill>
                      <a:srgbClr val="00B050"/>
                    </a:solidFill>
                  </a:rPr>
                  <a:t>disminuye</a:t>
                </a:r>
                <a:r>
                  <a:rPr lang="es-ES_tradnl" dirty="0">
                    <a:solidFill>
                      <a:schemeClr val="tx1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s-ES_tradnl" i="1">
                        <a:latin typeface="Cambria Math" panose="02040503050406030204" pitchFamily="18" charset="0"/>
                      </a:rPr>
                      <m:t>𝑇</m:t>
                    </m:r>
                    <m:r>
                      <a:rPr lang="es-ES_tradnl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⊂</m:t>
                    </m:r>
                    <m:sSub>
                      <m:sSubPr>
                        <m:ctrlPr>
                          <a:rPr lang="es-ES_tradnl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_tradnl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s-ES_tradnl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s-ES_tradnl" dirty="0">
                    <a:solidFill>
                      <a:schemeClr val="tx1"/>
                    </a:solidFill>
                  </a:rPr>
                  <a:t>. </a:t>
                </a:r>
              </a:p>
              <a:p>
                <a:pPr lvl="1">
                  <a:lnSpc>
                    <a:spcPct val="120000"/>
                  </a:lnSpc>
                </a:pPr>
                <a:r>
                  <a:rPr lang="es-ES_tradnl" dirty="0"/>
                  <a:t>Colapsamos nodos = menos particiones del espacio de predictores = menos regiones = menor varianza de RSS</a:t>
                </a:r>
              </a:p>
              <a:p>
                <a:pPr lvl="1">
                  <a:lnSpc>
                    <a:spcPct val="120000"/>
                  </a:lnSpc>
                </a:pPr>
                <a:r>
                  <a:rPr lang="es-ES_tradnl" dirty="0"/>
                  <a:t>“podamos el árbol”: sacamos particiones innecesarias -&gt; </a:t>
                </a:r>
                <a:r>
                  <a:rPr lang="en-US" i="1" dirty="0"/>
                  <a:t>Weakest link pruning</a:t>
                </a:r>
                <a:endParaRPr lang="en-US" dirty="0"/>
              </a:p>
              <a:p>
                <a:pPr>
                  <a:lnSpc>
                    <a:spcPct val="120000"/>
                  </a:lnSpc>
                </a:pPr>
                <a:r>
                  <a:rPr lang="es-ES_tradnl" dirty="0"/>
                  <a:t>Elegimos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es-ES_tradnl" dirty="0"/>
                  <a:t> por </a:t>
                </a:r>
                <a:r>
                  <a:rPr lang="es-ES_tradnl" dirty="0" err="1"/>
                  <a:t>cross</a:t>
                </a:r>
                <a:r>
                  <a:rPr lang="es-ES_tradnl" dirty="0"/>
                  <a:t> </a:t>
                </a:r>
                <a:r>
                  <a:rPr lang="es-ES_tradnl" dirty="0" err="1"/>
                  <a:t>validation</a:t>
                </a:r>
                <a:endParaRPr lang="es-ES_tradnl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2DE2FE6-2D21-0373-E669-031C93ACF98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724" t="-18605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D9D369A-C8B0-650C-2AB6-8320FB0A3E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98834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19CDA2-FBFD-4435-09C4-88FAECC458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 err="1"/>
              <a:t>Tree</a:t>
            </a:r>
            <a:r>
              <a:rPr lang="es-ES_tradnl" dirty="0"/>
              <a:t> </a:t>
            </a:r>
            <a:r>
              <a:rPr lang="es-ES_tradnl" dirty="0" err="1"/>
              <a:t>Pruning</a:t>
            </a:r>
            <a:r>
              <a:rPr lang="es-ES_tradnl" dirty="0"/>
              <a:t>: </a:t>
            </a:r>
            <a:r>
              <a:rPr lang="es-ES_tradnl" i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Ilustración I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 Placeholder 5">
                <a:extLst>
                  <a:ext uri="{FF2B5EF4-FFF2-40B4-BE49-F238E27FC236}">
                    <a16:creationId xmlns:a16="http://schemas.microsoft.com/office/drawing/2014/main" id="{6BE96AF3-691C-EDAD-9096-73E686DDD382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>
              <a:xfrm>
                <a:off x="839788" y="1681163"/>
                <a:ext cx="5157787" cy="492411"/>
              </a:xfrm>
            </p:spPr>
            <p:txBody>
              <a:bodyPr/>
              <a:lstStyle/>
              <a:p>
                <a:pPr algn="ctr"/>
                <a:r>
                  <a:rPr lang="es-ES_tradnl" dirty="0"/>
                  <a:t>Árbol inicial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ES_tradnl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_tradnl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s-ES_tradnl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endParaRPr lang="es-ES_tradnl" dirty="0"/>
              </a:p>
            </p:txBody>
          </p:sp>
        </mc:Choice>
        <mc:Fallback xmlns="">
          <p:sp>
            <p:nvSpPr>
              <p:cNvPr id="6" name="Text Placeholder 5">
                <a:extLst>
                  <a:ext uri="{FF2B5EF4-FFF2-40B4-BE49-F238E27FC236}">
                    <a16:creationId xmlns:a16="http://schemas.microsoft.com/office/drawing/2014/main" id="{6BE96AF3-691C-EDAD-9096-73E686DDD38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839788" y="1681163"/>
                <a:ext cx="5157787" cy="492411"/>
              </a:xfrm>
              <a:blipFill>
                <a:blip r:embed="rId2"/>
                <a:stretch>
                  <a:fillRect t="-2500" b="-27500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6EF5744B-BAE3-1282-A137-64602461100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492411"/>
          </a:xfrm>
        </p:spPr>
        <p:txBody>
          <a:bodyPr anchor="ctr"/>
          <a:lstStyle/>
          <a:p>
            <a:r>
              <a:rPr lang="es-ES_tradnl" dirty="0"/>
              <a:t>MSE y tamaño del árbol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D9D369A-C8B0-650C-2AB6-8320FB0A3E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28</a:t>
            </a:fld>
            <a:endParaRPr lang="en-US"/>
          </a:p>
        </p:txBody>
      </p:sp>
      <p:pic>
        <p:nvPicPr>
          <p:cNvPr id="9" name="Content Placeholder 8" descr="A diagram of a structure&#10;&#10;Description automatically generated">
            <a:extLst>
              <a:ext uri="{FF2B5EF4-FFF2-40B4-BE49-F238E27FC236}">
                <a16:creationId xmlns:a16="http://schemas.microsoft.com/office/drawing/2014/main" id="{F02ABCCC-F284-8A9A-B1EF-8535B3520B70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555812" y="2631648"/>
            <a:ext cx="5884096" cy="3054417"/>
          </a:xfrm>
        </p:spPr>
      </p:pic>
      <p:pic>
        <p:nvPicPr>
          <p:cNvPr id="15" name="Content Placeholder 14" descr="A graph of a graph with numbers and lines&#10;&#10;Description automatically generated with medium confidence">
            <a:extLst>
              <a:ext uri="{FF2B5EF4-FFF2-40B4-BE49-F238E27FC236}">
                <a16:creationId xmlns:a16="http://schemas.microsoft.com/office/drawing/2014/main" id="{176725FB-AE60-8A6C-5A82-AD427F5C56B0}"/>
              </a:ext>
            </a:extLst>
          </p:cNvPr>
          <p:cNvPicPr>
            <a:picLocks noGrp="1" noChangeAspect="1"/>
          </p:cNvPicPr>
          <p:nvPr>
            <p:ph sz="quarter" idx="4"/>
          </p:nvPr>
        </p:nvPicPr>
        <p:blipFill>
          <a:blip r:embed="rId4"/>
          <a:stretch>
            <a:fillRect/>
          </a:stretch>
        </p:blipFill>
        <p:spPr>
          <a:xfrm>
            <a:off x="6472518" y="2168204"/>
            <a:ext cx="4446494" cy="4228929"/>
          </a:xfr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D24D3D7C-D8FE-DF24-3EC4-A2EC682E1DF2}"/>
              </a:ext>
            </a:extLst>
          </p:cNvPr>
          <p:cNvSpPr txBox="1"/>
          <p:nvPr/>
        </p:nvSpPr>
        <p:spPr>
          <a:xfrm>
            <a:off x="3418681" y="6229650"/>
            <a:ext cx="482803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effectLst/>
                <a:latin typeface="Gill Sans Nova Light" panose="020B0302020104020203" pitchFamily="34" charset="0"/>
              </a:rPr>
              <a:t>James, Witten, Hastie, Tibshirani</a:t>
            </a:r>
            <a:r>
              <a:rPr lang="en-US" sz="1600" dirty="0">
                <a:latin typeface="Gill Sans Nova Light" panose="020B0302020104020203" pitchFamily="34" charset="0"/>
              </a:rPr>
              <a:t> &amp; Taylor (</a:t>
            </a:r>
            <a:r>
              <a:rPr lang="en-US" sz="1600" dirty="0">
                <a:effectLst/>
                <a:latin typeface="Gill Sans Nova Light" panose="020B0302020104020203" pitchFamily="34" charset="0"/>
              </a:rPr>
              <a:t>2023). p.340</a:t>
            </a:r>
            <a:endParaRPr lang="en-US" sz="4400" dirty="0">
              <a:effectLst/>
              <a:latin typeface="Gill Sans Nova Light" panose="020B03020201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4767657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19CDA2-FBFD-4435-09C4-88FAECC458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 err="1"/>
              <a:t>Tree</a:t>
            </a:r>
            <a:r>
              <a:rPr lang="es-ES_tradnl" dirty="0"/>
              <a:t> </a:t>
            </a:r>
            <a:r>
              <a:rPr lang="es-ES_tradnl" dirty="0" err="1"/>
              <a:t>Pruning</a:t>
            </a:r>
            <a:r>
              <a:rPr lang="es-ES_tradnl" dirty="0"/>
              <a:t>: </a:t>
            </a:r>
            <a:r>
              <a:rPr lang="es-ES_tradnl" i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Ilustración II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 Placeholder 5">
                <a:extLst>
                  <a:ext uri="{FF2B5EF4-FFF2-40B4-BE49-F238E27FC236}">
                    <a16:creationId xmlns:a16="http://schemas.microsoft.com/office/drawing/2014/main" id="{6BE96AF3-691C-EDAD-9096-73E686DDD382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>
              <a:xfrm>
                <a:off x="3418680" y="1681163"/>
                <a:ext cx="5157787" cy="492411"/>
              </a:xfrm>
            </p:spPr>
            <p:txBody>
              <a:bodyPr/>
              <a:lstStyle/>
              <a:p>
                <a:pPr algn="ctr"/>
                <a:r>
                  <a:rPr lang="es-ES_tradnl" dirty="0"/>
                  <a:t>Árbol podado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lang="es-ES_tradnl" dirty="0"/>
                  <a:t> con min CV error</a:t>
                </a:r>
              </a:p>
            </p:txBody>
          </p:sp>
        </mc:Choice>
        <mc:Fallback xmlns="">
          <p:sp>
            <p:nvSpPr>
              <p:cNvPr id="6" name="Text Placeholder 5">
                <a:extLst>
                  <a:ext uri="{FF2B5EF4-FFF2-40B4-BE49-F238E27FC236}">
                    <a16:creationId xmlns:a16="http://schemas.microsoft.com/office/drawing/2014/main" id="{6BE96AF3-691C-EDAD-9096-73E686DDD38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3418680" y="1681163"/>
                <a:ext cx="5157787" cy="492411"/>
              </a:xfrm>
              <a:blipFill>
                <a:blip r:embed="rId2"/>
                <a:stretch>
                  <a:fillRect t="-2500" b="-27500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D9D369A-C8B0-650C-2AB6-8320FB0A3E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29</a:t>
            </a:fld>
            <a:endParaRPr lang="en-US"/>
          </a:p>
        </p:txBody>
      </p:sp>
      <p:pic>
        <p:nvPicPr>
          <p:cNvPr id="14" name="Content Placeholder 13" descr="A diagram of a tree&#10;&#10;Description automatically generated">
            <a:extLst>
              <a:ext uri="{FF2B5EF4-FFF2-40B4-BE49-F238E27FC236}">
                <a16:creationId xmlns:a16="http://schemas.microsoft.com/office/drawing/2014/main" id="{6A183A91-49DF-A407-609C-3DD51074821E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3925322" y="2173574"/>
            <a:ext cx="4144505" cy="4397947"/>
          </a:xfr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22792DA7-F2B8-30BC-7420-368A2DB9C20A}"/>
              </a:ext>
            </a:extLst>
          </p:cNvPr>
          <p:cNvSpPr txBox="1"/>
          <p:nvPr/>
        </p:nvSpPr>
        <p:spPr>
          <a:xfrm>
            <a:off x="3925322" y="6323598"/>
            <a:ext cx="482803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effectLst/>
                <a:latin typeface="Gill Sans Nova Light" panose="020B0302020104020203" pitchFamily="34" charset="0"/>
              </a:rPr>
              <a:t>James, Witten, Hastie, Tibshirani</a:t>
            </a:r>
            <a:r>
              <a:rPr lang="en-US" sz="1600" dirty="0">
                <a:latin typeface="Gill Sans Nova Light" panose="020B0302020104020203" pitchFamily="34" charset="0"/>
              </a:rPr>
              <a:t> &amp; Taylor (</a:t>
            </a:r>
            <a:r>
              <a:rPr lang="en-US" sz="1600" dirty="0">
                <a:effectLst/>
                <a:latin typeface="Gill Sans Nova Light" panose="020B0302020104020203" pitchFamily="34" charset="0"/>
              </a:rPr>
              <a:t>2023). p.335</a:t>
            </a:r>
            <a:endParaRPr lang="en-US" sz="4400" dirty="0">
              <a:effectLst/>
              <a:latin typeface="Gill Sans Nova Light" panose="020B03020201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5264032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C42471-9418-E3E3-C7E5-30087178FA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CART: Árboles vs. Modelos lineales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A780597-6948-B78E-E6E3-6E4F9F1321E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References</a:t>
            </a:r>
          </a:p>
          <a:p>
            <a:r>
              <a:rPr lang="es-AR" sz="2400" b="1" dirty="0">
                <a:solidFill>
                  <a:srgbClr val="00663D"/>
                </a:solidFill>
                <a:effectLst/>
                <a:latin typeface="Times" pitchFamily="2" charset="0"/>
                <a:ea typeface="Times" pitchFamily="2" charset="0"/>
                <a:cs typeface="Times" pitchFamily="2" charset="0"/>
              </a:rPr>
              <a:t>† </a:t>
            </a:r>
            <a:r>
              <a:rPr lang="en-US" sz="2400" dirty="0"/>
              <a:t>James, G., Witten, D., Hastie, T., Tibshirani, R., &amp; Taylor, J. (2023). </a:t>
            </a:r>
            <a:r>
              <a:rPr lang="en-US" sz="2400" i="1" dirty="0"/>
              <a:t>An introduction to statistical learning: With applications in Python. </a:t>
            </a:r>
            <a:r>
              <a:rPr lang="en-US" sz="2400" b="1" dirty="0"/>
              <a:t>Chap. 8.1.3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18F5EC8-9CA8-BFFB-D2D0-21A5435315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7122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8AC2E4-B56F-054B-950B-30755D541F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005FD5-41EA-92B9-DC13-E879E2537D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Árboles vs Modelos Lineales: </a:t>
            </a:r>
            <a:r>
              <a:rPr lang="es-ES_tradnl" i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Formalmente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A8373347-2C58-8686-0BCB-A2E1CEA5266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s-ES_tradnl" dirty="0"/>
                  <a:t>Modelo lineal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nary>
                        <m:naryPr>
                          <m:chr m:val="∑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sup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es-ES_tradnl" dirty="0"/>
              </a:p>
              <a:p>
                <a:r>
                  <a:rPr lang="es-ES_tradnl" dirty="0"/>
                  <a:t>Modelo de Árbol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𝑀</m:t>
                          </m:r>
                        </m:sup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̂"/>
                                  <m:ctrlPr>
                                    <a:rPr lang="es-ES_tradnl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</m:acc>
                            </m:e>
                            <m:sub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𝑅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sub>
                              </m:sSub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𝐼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∈</m:t>
                              </m:r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𝑅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𝑚</m:t>
                                  </m:r>
                                </m:sub>
                              </m:sSub>
                            </m:e>
                          </m:d>
                        </m:e>
                      </m:nary>
                    </m:oMath>
                  </m:oMathPara>
                </a14:m>
                <a:endParaRPr lang="es-ES_tradnl" dirty="0"/>
              </a:p>
              <a:p>
                <a:r>
                  <a:rPr lang="es-ES_tradnl" dirty="0"/>
                  <a:t>¿Qué es mejor? </a:t>
                </a:r>
                <a:r>
                  <a:rPr lang="es-ES_tradnl" dirty="0">
                    <a:solidFill>
                      <a:schemeClr val="accent2"/>
                    </a:solidFill>
                  </a:rPr>
                  <a:t>Depende</a:t>
                </a:r>
              </a:p>
              <a:p>
                <a:endParaRPr lang="es-ES_tradnl" dirty="0">
                  <a:solidFill>
                    <a:srgbClr val="FFC000"/>
                  </a:solidFill>
                </a:endParaRPr>
              </a:p>
            </p:txBody>
          </p:sp>
        </mc:Choice>
        <mc:Fallback xmlns="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A8373347-2C58-8686-0BCB-A2E1CEA5266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327" t="-28488" b="-38372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2688751-0475-6399-0DC9-0657B47F58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60181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2E65CE-3653-8912-0E4D-181B4B3D80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Árboles vs Modelos Lineales I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8C6DC13A-F74B-8635-A776-20333BF7AF8B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s-ES_tradnl" dirty="0"/>
              <a:t>¿Qué es mejor? Depende</a:t>
            </a:r>
          </a:p>
          <a:p>
            <a:pPr>
              <a:lnSpc>
                <a:spcPct val="150000"/>
              </a:lnSpc>
            </a:pPr>
            <a:r>
              <a:rPr lang="es-ES_tradnl" dirty="0"/>
              <a:t>Ejemplo 1: </a:t>
            </a:r>
            <a:r>
              <a:rPr lang="es-ES_tradnl" dirty="0">
                <a:solidFill>
                  <a:srgbClr val="00B050"/>
                </a:solidFill>
              </a:rPr>
              <a:t>V</a:t>
            </a:r>
            <a:r>
              <a:rPr lang="es-ES_tradnl" dirty="0"/>
              <a:t> o </a:t>
            </a:r>
            <a:r>
              <a:rPr lang="es-ES_tradnl" dirty="0">
                <a:solidFill>
                  <a:srgbClr val="FFC000"/>
                </a:solidFill>
              </a:rPr>
              <a:t>A:</a:t>
            </a:r>
          </a:p>
          <a:p>
            <a:pPr lvl="1">
              <a:lnSpc>
                <a:spcPct val="150000"/>
              </a:lnSpc>
            </a:pPr>
            <a:r>
              <a:rPr lang="es-ES_tradnl" dirty="0"/>
              <a:t>Si la estructura es </a:t>
            </a:r>
            <a:r>
              <a:rPr lang="es-ES_tradnl" dirty="0">
                <a:solidFill>
                  <a:srgbClr val="002060"/>
                </a:solidFill>
              </a:rPr>
              <a:t>lineal</a:t>
            </a:r>
            <a:r>
              <a:rPr lang="es-ES_tradnl" dirty="0"/>
              <a:t>, CART tiene </a:t>
            </a:r>
            <a:r>
              <a:rPr lang="es-ES_tradnl" dirty="0">
                <a:solidFill>
                  <a:srgbClr val="FF0000"/>
                </a:solidFill>
              </a:rPr>
              <a:t>mala performance</a:t>
            </a:r>
          </a:p>
          <a:p>
            <a:pPr>
              <a:lnSpc>
                <a:spcPct val="150000"/>
              </a:lnSpc>
            </a:pPr>
            <a:endParaRPr lang="es-ES_tradnl" dirty="0">
              <a:solidFill>
                <a:srgbClr val="FFC000"/>
              </a:solidFill>
            </a:endParaRPr>
          </a:p>
        </p:txBody>
      </p:sp>
      <p:pic>
        <p:nvPicPr>
          <p:cNvPr id="8" name="Content Placeholder 7" descr="A group of squares with different colored squares&#10;&#10;Description automatically generated with medium confidence">
            <a:extLst>
              <a:ext uri="{FF2B5EF4-FFF2-40B4-BE49-F238E27FC236}">
                <a16:creationId xmlns:a16="http://schemas.microsoft.com/office/drawing/2014/main" id="{5C7CCFBA-043C-8060-DE02-7ED53A69E8F3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rcRect b="49782"/>
          <a:stretch/>
        </p:blipFill>
        <p:spPr>
          <a:xfrm>
            <a:off x="5883078" y="2317567"/>
            <a:ext cx="6308922" cy="3063240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20B363-5601-BD5D-0F0D-890BD7D107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32</a:t>
            </a:fld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1FA2957-EB4D-C90A-F75F-6059D7721C43}"/>
              </a:ext>
            </a:extLst>
          </p:cNvPr>
          <p:cNvSpPr txBox="1"/>
          <p:nvPr/>
        </p:nvSpPr>
        <p:spPr>
          <a:xfrm>
            <a:off x="6866342" y="6007686"/>
            <a:ext cx="482803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effectLst/>
                <a:latin typeface="Gill Sans Nova Light" panose="020B0302020104020203" pitchFamily="34" charset="0"/>
              </a:rPr>
              <a:t>James, Witten, Hastie, Tibshirani</a:t>
            </a:r>
            <a:r>
              <a:rPr lang="en-US" sz="1600" dirty="0">
                <a:latin typeface="Gill Sans Nova Light" panose="020B0302020104020203" pitchFamily="34" charset="0"/>
              </a:rPr>
              <a:t> &amp; Taylor (</a:t>
            </a:r>
            <a:r>
              <a:rPr lang="en-US" sz="1600" dirty="0">
                <a:effectLst/>
                <a:latin typeface="Gill Sans Nova Light" panose="020B0302020104020203" pitchFamily="34" charset="0"/>
              </a:rPr>
              <a:t>2023). p.342</a:t>
            </a:r>
            <a:endParaRPr lang="en-US" sz="4400" dirty="0">
              <a:effectLst/>
              <a:latin typeface="Gill Sans Nova Light" panose="020B03020201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9810621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63A4D2-5A42-F1B2-8886-C2FFEB6864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9ECE8E-53D8-8A5A-8D98-B7DAF4FB69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Árboles vs Modelos Lineales II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EEAE518F-998E-701D-6CFC-1FC73FC52B43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s-ES_tradnl" dirty="0"/>
              <a:t>¿Qué es mejor? Depende</a:t>
            </a:r>
          </a:p>
          <a:p>
            <a:pPr>
              <a:lnSpc>
                <a:spcPct val="150000"/>
              </a:lnSpc>
            </a:pPr>
            <a:r>
              <a:rPr lang="es-ES_tradnl" dirty="0"/>
              <a:t>Ejemplo 2: </a:t>
            </a:r>
            <a:r>
              <a:rPr lang="es-ES_tradnl" dirty="0">
                <a:solidFill>
                  <a:srgbClr val="00B050"/>
                </a:solidFill>
              </a:rPr>
              <a:t>V</a:t>
            </a:r>
            <a:r>
              <a:rPr lang="es-ES_tradnl" dirty="0"/>
              <a:t> o </a:t>
            </a:r>
            <a:r>
              <a:rPr lang="es-ES_tradnl" dirty="0">
                <a:solidFill>
                  <a:srgbClr val="FFC000"/>
                </a:solidFill>
              </a:rPr>
              <a:t>A</a:t>
            </a:r>
            <a:r>
              <a:rPr lang="es-ES_tradnl" dirty="0"/>
              <a:t>:</a:t>
            </a:r>
          </a:p>
          <a:p>
            <a:pPr lvl="1">
              <a:lnSpc>
                <a:spcPct val="150000"/>
              </a:lnSpc>
            </a:pPr>
            <a:r>
              <a:rPr lang="es-ES_tradnl" dirty="0"/>
              <a:t>Si la estructura es </a:t>
            </a:r>
            <a:r>
              <a:rPr lang="es-ES_tradnl" dirty="0">
                <a:solidFill>
                  <a:srgbClr val="002060"/>
                </a:solidFill>
              </a:rPr>
              <a:t>no lineal</a:t>
            </a:r>
            <a:r>
              <a:rPr lang="es-ES_tradnl" dirty="0"/>
              <a:t>, CART es </a:t>
            </a:r>
            <a:r>
              <a:rPr lang="es-ES_tradnl" dirty="0">
                <a:solidFill>
                  <a:srgbClr val="00B050"/>
                </a:solidFill>
              </a:rPr>
              <a:t>mejor</a:t>
            </a:r>
            <a:r>
              <a:rPr lang="es-ES_tradnl" dirty="0"/>
              <a:t> para clasificar </a:t>
            </a:r>
          </a:p>
          <a:p>
            <a:pPr>
              <a:lnSpc>
                <a:spcPct val="150000"/>
              </a:lnSpc>
            </a:pPr>
            <a:endParaRPr lang="es-ES_tradnl" dirty="0">
              <a:solidFill>
                <a:srgbClr val="FFC000"/>
              </a:solidFill>
            </a:endParaRPr>
          </a:p>
        </p:txBody>
      </p:sp>
      <p:pic>
        <p:nvPicPr>
          <p:cNvPr id="8" name="Content Placeholder 7" descr="A group of squares with different colored squares&#10;&#10;Description automatically generated with medium confidence">
            <a:extLst>
              <a:ext uri="{FF2B5EF4-FFF2-40B4-BE49-F238E27FC236}">
                <a16:creationId xmlns:a16="http://schemas.microsoft.com/office/drawing/2014/main" id="{49B56088-A8FC-458E-1CC8-B19494AFF631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rcRect t="49429"/>
          <a:stretch/>
        </p:blipFill>
        <p:spPr>
          <a:xfrm>
            <a:off x="5922541" y="2316456"/>
            <a:ext cx="6269459" cy="3065462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3AFCB2E-7A0F-BFB2-A5A7-410A28B027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33</a:t>
            </a:fld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16DB9C0-F11E-0354-467D-F9BCB154FD09}"/>
              </a:ext>
            </a:extLst>
          </p:cNvPr>
          <p:cNvSpPr txBox="1"/>
          <p:nvPr/>
        </p:nvSpPr>
        <p:spPr>
          <a:xfrm>
            <a:off x="6866342" y="6007686"/>
            <a:ext cx="482803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effectLst/>
                <a:latin typeface="Gill Sans Nova Light" panose="020B0302020104020203" pitchFamily="34" charset="0"/>
              </a:rPr>
              <a:t>James, Witten, Hastie, Tibshirani</a:t>
            </a:r>
            <a:r>
              <a:rPr lang="en-US" sz="1600" dirty="0">
                <a:latin typeface="Gill Sans Nova Light" panose="020B0302020104020203" pitchFamily="34" charset="0"/>
              </a:rPr>
              <a:t> &amp; Taylor (</a:t>
            </a:r>
            <a:r>
              <a:rPr lang="en-US" sz="1600" dirty="0">
                <a:effectLst/>
                <a:latin typeface="Gill Sans Nova Light" panose="020B0302020104020203" pitchFamily="34" charset="0"/>
              </a:rPr>
              <a:t>2023). p.342</a:t>
            </a:r>
            <a:endParaRPr lang="en-US" sz="4400" dirty="0">
              <a:effectLst/>
              <a:latin typeface="Gill Sans Nova Light" panose="020B03020201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728516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C42471-9418-E3E3-C7E5-30087178FA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CART: Ventajas &amp; Desventajas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A780597-6948-B78E-E6E3-6E4F9F1321E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References</a:t>
            </a:r>
          </a:p>
          <a:p>
            <a:r>
              <a:rPr lang="es-AR" sz="2400" b="1" dirty="0">
                <a:solidFill>
                  <a:srgbClr val="00663D"/>
                </a:solidFill>
                <a:effectLst/>
                <a:latin typeface="Times" pitchFamily="2" charset="0"/>
                <a:ea typeface="Times" pitchFamily="2" charset="0"/>
                <a:cs typeface="Times" pitchFamily="2" charset="0"/>
              </a:rPr>
              <a:t>† </a:t>
            </a:r>
            <a:r>
              <a:rPr lang="en-US" sz="2400" dirty="0"/>
              <a:t>James, G., Witten, D., Hastie, T., Tibshirani, R., &amp; Taylor, J. (2023). </a:t>
            </a:r>
            <a:r>
              <a:rPr lang="en-US" sz="2400" i="1" dirty="0"/>
              <a:t>An introduction to statistical learning: With applications in Python. </a:t>
            </a:r>
            <a:r>
              <a:rPr lang="en-US" sz="2400" b="1" dirty="0"/>
              <a:t>Chap. 8.1.4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18F5EC8-9CA8-BFFB-D2D0-21A5435315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716472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DC9DDE-0ECC-928D-2685-7054089206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Ventajas y Desventajas de Árboles I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EC74B6-CA6B-DD1D-F03A-F8DDC1DB78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50000"/>
              </a:lnSpc>
              <a:buClr>
                <a:srgbClr val="00B050"/>
              </a:buClr>
              <a:buFont typeface="Wingdings" pitchFamily="2" charset="2"/>
              <a:buChar char="ü"/>
            </a:pPr>
            <a:r>
              <a:rPr lang="es-ES_tradnl" dirty="0"/>
              <a:t>Fácil de explicar</a:t>
            </a:r>
          </a:p>
          <a:p>
            <a:pPr>
              <a:lnSpc>
                <a:spcPct val="150000"/>
              </a:lnSpc>
              <a:buClr>
                <a:srgbClr val="00B050"/>
              </a:buClr>
              <a:buFont typeface="Wingdings" pitchFamily="2" charset="2"/>
              <a:buChar char="ü"/>
            </a:pPr>
            <a:r>
              <a:rPr lang="es-ES_tradnl" dirty="0"/>
              <a:t>Se asemeja a procesos de decisión -&gt; Teoría de Juegos</a:t>
            </a:r>
          </a:p>
          <a:p>
            <a:pPr>
              <a:lnSpc>
                <a:spcPct val="150000"/>
              </a:lnSpc>
              <a:buClr>
                <a:srgbClr val="00B050"/>
              </a:buClr>
              <a:buFont typeface="Wingdings" pitchFamily="2" charset="2"/>
              <a:buChar char="ü"/>
            </a:pPr>
            <a:r>
              <a:rPr lang="es-ES_tradnl" dirty="0"/>
              <a:t>Muy linda forma de ilustración</a:t>
            </a:r>
          </a:p>
          <a:p>
            <a:pPr>
              <a:lnSpc>
                <a:spcPct val="150000"/>
              </a:lnSpc>
              <a:buClr>
                <a:srgbClr val="FF0000"/>
              </a:buClr>
              <a:buFont typeface="System Font Regular"/>
              <a:buChar char="✗"/>
            </a:pPr>
            <a:r>
              <a:rPr lang="es-ES_tradnl" dirty="0"/>
              <a:t>Menos capacidad predictiva que otros métodos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2632B32-2E72-2411-CA6F-1DBF1765A6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03353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2E65CE-3653-8912-0E4D-181B4B3D80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Ventajas y Desventajas de Árboles II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259E41-A60A-CCCC-3AFE-67CA19DCF3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50000"/>
              </a:lnSpc>
              <a:buClr>
                <a:srgbClr val="00B050"/>
              </a:buClr>
              <a:buFont typeface="Wingdings" pitchFamily="2" charset="2"/>
              <a:buChar char="ü"/>
            </a:pPr>
            <a:r>
              <a:rPr lang="es-ES_tradnl" dirty="0"/>
              <a:t>Puede usar de manera sencilla variables categóricas cualitativas sin necesidad de usar </a:t>
            </a:r>
            <a:r>
              <a:rPr lang="es-ES_tradnl" dirty="0" err="1"/>
              <a:t>dummies</a:t>
            </a:r>
            <a:endParaRPr lang="es-ES_tradnl" dirty="0"/>
          </a:p>
          <a:p>
            <a:pPr>
              <a:lnSpc>
                <a:spcPct val="150000"/>
              </a:lnSpc>
              <a:buClr>
                <a:srgbClr val="00B050"/>
              </a:buClr>
              <a:buFont typeface="Wingdings" pitchFamily="2" charset="2"/>
              <a:buChar char="ü"/>
            </a:pPr>
            <a:r>
              <a:rPr lang="es-ES_tradnl" dirty="0"/>
              <a:t>Arriba: variables más relevantes.</a:t>
            </a:r>
          </a:p>
          <a:p>
            <a:pPr>
              <a:lnSpc>
                <a:spcPct val="150000"/>
              </a:lnSpc>
              <a:buClr>
                <a:srgbClr val="FF0000"/>
              </a:buClr>
              <a:buFont typeface="System Font Regular"/>
              <a:buChar char="✗"/>
            </a:pPr>
            <a:r>
              <a:rPr lang="es-ES_tradnl" dirty="0"/>
              <a:t>Poco robusto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20B363-5601-BD5D-0F0D-890BD7D107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12721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1CCC65-8C89-B1BE-5B41-D3A9A78920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Solución más sofisticada: </a:t>
            </a:r>
            <a:r>
              <a:rPr lang="es-ES_tradnl" i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Método de Ensamble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76E813-98F1-DB76-96CD-B2A273121F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>
              <a:lnSpc>
                <a:spcPct val="150000"/>
              </a:lnSpc>
            </a:pPr>
            <a:r>
              <a:rPr lang="es-ES_tradnl" dirty="0">
                <a:solidFill>
                  <a:srgbClr val="002060"/>
                </a:solidFill>
              </a:rPr>
              <a:t>Def</a:t>
            </a:r>
            <a:r>
              <a:rPr lang="es-ES_tradnl" dirty="0"/>
              <a:t>: Enfoque que </a:t>
            </a:r>
            <a:r>
              <a:rPr lang="es-ES_tradnl" dirty="0">
                <a:solidFill>
                  <a:srgbClr val="002060"/>
                </a:solidFill>
              </a:rPr>
              <a:t>combina muchos modelos simples</a:t>
            </a:r>
            <a:r>
              <a:rPr lang="es-ES_tradnl" dirty="0"/>
              <a:t> en bloques para obtener </a:t>
            </a:r>
            <a:r>
              <a:rPr lang="es-ES_tradnl" dirty="0">
                <a:solidFill>
                  <a:srgbClr val="002060"/>
                </a:solidFill>
              </a:rPr>
              <a:t>un solo modelo</a:t>
            </a:r>
            <a:r>
              <a:rPr lang="es-ES_tradnl" dirty="0"/>
              <a:t> con mejor predicción potencial</a:t>
            </a:r>
          </a:p>
          <a:p>
            <a:pPr lvl="1">
              <a:lnSpc>
                <a:spcPct val="150000"/>
              </a:lnSpc>
            </a:pPr>
            <a:r>
              <a:rPr lang="es-ES_tradnl" dirty="0">
                <a:solidFill>
                  <a:srgbClr val="002060"/>
                </a:solidFill>
              </a:rPr>
              <a:t>Bloque de modelos </a:t>
            </a:r>
            <a:r>
              <a:rPr lang="es-ES_tradnl" dirty="0"/>
              <a:t>-&gt; </a:t>
            </a:r>
            <a:r>
              <a:rPr lang="es-ES_tradnl" dirty="0">
                <a:solidFill>
                  <a:srgbClr val="002060"/>
                </a:solidFill>
              </a:rPr>
              <a:t>aprendizajes débiles </a:t>
            </a:r>
            <a:r>
              <a:rPr lang="es-ES_tradnl" dirty="0"/>
              <a:t>(</a:t>
            </a:r>
            <a:r>
              <a:rPr lang="es-ES_tradnl" i="1" dirty="0" err="1"/>
              <a:t>weak</a:t>
            </a:r>
            <a:r>
              <a:rPr lang="es-ES_tradnl" i="1" dirty="0"/>
              <a:t> </a:t>
            </a:r>
            <a:r>
              <a:rPr lang="es-ES_tradnl" i="1" dirty="0" err="1"/>
              <a:t>learners</a:t>
            </a:r>
            <a:r>
              <a:rPr lang="es-ES_tradnl" dirty="0"/>
              <a:t>) porque por si solos tienen predicciones mediocres</a:t>
            </a:r>
          </a:p>
          <a:p>
            <a:pPr>
              <a:lnSpc>
                <a:spcPct val="150000"/>
              </a:lnSpc>
            </a:pPr>
            <a:r>
              <a:rPr lang="es-ES_tradnl" dirty="0"/>
              <a:t>Un árbol será el </a:t>
            </a:r>
            <a:r>
              <a:rPr lang="es-ES_tradnl" dirty="0">
                <a:solidFill>
                  <a:srgbClr val="002060"/>
                </a:solidFill>
              </a:rPr>
              <a:t>bloque de modelos </a:t>
            </a:r>
            <a:r>
              <a:rPr lang="es-ES_tradnl" dirty="0"/>
              <a:t>dentro de Bagging, </a:t>
            </a:r>
            <a:r>
              <a:rPr lang="es-ES_tradnl" dirty="0" err="1"/>
              <a:t>Boosting</a:t>
            </a:r>
            <a:r>
              <a:rPr lang="es-ES_tradnl" dirty="0"/>
              <a:t>, &amp; Random Forest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BE164AF-D3D9-23E0-BDAA-0648B530FA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5246691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0D55B1-4C9E-9A68-CAC5-2D5211025F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ES_tradnl" dirty="0"/>
              <a:t>¿Dudas, consultas?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06DE542-4031-D126-7AAF-A0332014D17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ctr"/>
            <a:r>
              <a:rPr lang="es-ES_tradnl" dirty="0"/>
              <a:t> Árbol es fundamental para las secciones siguientes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A42557C-64E1-99EA-732F-3F53925CF2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38</a:t>
            </a:fld>
            <a:endParaRPr lang="en-US"/>
          </a:p>
        </p:txBody>
      </p:sp>
      <p:pic>
        <p:nvPicPr>
          <p:cNvPr id="6" name="Graphic 5" descr="Warning with solid fill">
            <a:extLst>
              <a:ext uri="{FF2B5EF4-FFF2-40B4-BE49-F238E27FC236}">
                <a16:creationId xmlns:a16="http://schemas.microsoft.com/office/drawing/2014/main" id="{755DCEE9-BA19-C290-C4C7-266A1E274BD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641600" y="4494848"/>
            <a:ext cx="463550" cy="463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6847757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E357CD-60DB-7599-DBBF-E7E34F55F0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Conclusiones finales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08E002C-8C25-F567-04EE-6365B037641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_tradnl" dirty="0"/>
              <a:t>¿Qué aprendimos hoy?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A580811-4E8A-0CFA-2D7A-CC97B0990D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3056128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D99168-AA67-F1BE-BEB5-BFF50FDBF4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¿Qué aprendimos hoy?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466B93-964D-A72E-FB12-DE627F299F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>
              <a:lnSpc>
                <a:spcPct val="170000"/>
              </a:lnSpc>
            </a:pPr>
            <a:r>
              <a:rPr lang="es-ES_tradnl" dirty="0"/>
              <a:t>Aprendimos el algoritmo de árboles que es la base para otros métodos de Ensamble</a:t>
            </a:r>
          </a:p>
          <a:p>
            <a:pPr lvl="1">
              <a:lnSpc>
                <a:spcPct val="170000"/>
              </a:lnSpc>
            </a:pPr>
            <a:r>
              <a:rPr lang="es-ES_tradnl" i="1" dirty="0">
                <a:solidFill>
                  <a:srgbClr val="00B050"/>
                </a:solidFill>
              </a:rPr>
              <a:t>Ventaja</a:t>
            </a:r>
            <a:r>
              <a:rPr lang="es-ES_tradnl" dirty="0"/>
              <a:t>: Simple interpretabilidad e ilustración</a:t>
            </a:r>
          </a:p>
          <a:p>
            <a:pPr lvl="1">
              <a:lnSpc>
                <a:spcPct val="170000"/>
              </a:lnSpc>
            </a:pPr>
            <a:r>
              <a:rPr lang="es-ES_tradnl" i="1" dirty="0">
                <a:solidFill>
                  <a:srgbClr val="FF0000"/>
                </a:solidFill>
              </a:rPr>
              <a:t>Desventaja</a:t>
            </a:r>
            <a:r>
              <a:rPr lang="es-ES_tradnl" dirty="0"/>
              <a:t>: Poco robusto u overfitting data -&gt; </a:t>
            </a:r>
            <a:r>
              <a:rPr lang="es-ES_tradnl" dirty="0" err="1"/>
              <a:t>Pruning</a:t>
            </a:r>
            <a:r>
              <a:rPr lang="es-ES_tradnl" dirty="0"/>
              <a:t> </a:t>
            </a:r>
          </a:p>
          <a:p>
            <a:pPr lvl="1">
              <a:lnSpc>
                <a:spcPct val="170000"/>
              </a:lnSpc>
            </a:pPr>
            <a:r>
              <a:rPr lang="es-ES_tradnl" dirty="0"/>
              <a:t>En la práctica, por cross-validation podemos elegir la profundidad de un árbol</a:t>
            </a:r>
          </a:p>
          <a:p>
            <a:pPr lvl="1">
              <a:lnSpc>
                <a:spcPct val="170000"/>
              </a:lnSpc>
            </a:pPr>
            <a:endParaRPr lang="es-ES_tradnl" dirty="0"/>
          </a:p>
          <a:p>
            <a:pPr marL="457200" lvl="1" indent="0">
              <a:lnSpc>
                <a:spcPct val="170000"/>
              </a:lnSpc>
              <a:buNone/>
            </a:pPr>
            <a:endParaRPr lang="es-ES_tradn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B7E39AB-00F5-ADEE-08FA-C6F284265C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8700139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0D55B1-4C9E-9A68-CAC5-2D5211025F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ES_tradnl" dirty="0"/>
              <a:t>¿Dudas, consultas?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06DE542-4031-D126-7AAF-A0332014D17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ctr"/>
            <a:r>
              <a:rPr lang="es-ES_tradnl" dirty="0">
                <a:latin typeface="Gill Sans Nova Light" panose="020B0302020104020203" pitchFamily="34" charset="0"/>
              </a:rPr>
              <a:t>Consultas: </a:t>
            </a:r>
            <a:r>
              <a:rPr lang="en-US" b="0" i="0" dirty="0">
                <a:solidFill>
                  <a:srgbClr val="0078D7"/>
                </a:solidFill>
                <a:effectLst/>
                <a:latin typeface="Gill Sans Nova Light" panose="020B0302020104020203" pitchFamily="34" charset="0"/>
                <a:hlinkClick r:id="rId2"/>
              </a:rPr>
              <a:t>25RO35480961@campus.economicas.uba.ar</a:t>
            </a:r>
            <a:r>
              <a:rPr lang="en-US" b="0" i="0" dirty="0">
                <a:solidFill>
                  <a:srgbClr val="0078D7"/>
                </a:solidFill>
                <a:effectLst/>
                <a:latin typeface="Gill Sans Nova Light" panose="020B0302020104020203" pitchFamily="34" charset="0"/>
              </a:rPr>
              <a:t> </a:t>
            </a:r>
            <a:endParaRPr lang="es-ES_tradnl" dirty="0">
              <a:latin typeface="Gill Sans Nova Light" panose="020B0302020104020203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A42557C-64E1-99EA-732F-3F53925CF2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787550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3484</TotalTime>
  <Words>1980</Words>
  <Application>Microsoft Macintosh PowerPoint</Application>
  <PresentationFormat>Panorámica</PresentationFormat>
  <Paragraphs>288</Paragraphs>
  <Slides>41</Slides>
  <Notes>16</Notes>
  <HiddenSlides>0</HiddenSlides>
  <MMClips>0</MMClips>
  <ScaleCrop>false</ScaleCrop>
  <HeadingPairs>
    <vt:vector size="6" baseType="variant">
      <vt:variant>
        <vt:lpstr>Fuentes usadas</vt:lpstr>
      </vt:variant>
      <vt:variant>
        <vt:i4>9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41</vt:i4>
      </vt:variant>
    </vt:vector>
  </HeadingPairs>
  <TitlesOfParts>
    <vt:vector size="51" baseType="lpstr">
      <vt:lpstr>Arial</vt:lpstr>
      <vt:lpstr>Calibri</vt:lpstr>
      <vt:lpstr>Cambria Math</vt:lpstr>
      <vt:lpstr>Gill Sans Nova Light</vt:lpstr>
      <vt:lpstr>Goudy Old Style</vt:lpstr>
      <vt:lpstr>System Font Regular</vt:lpstr>
      <vt:lpstr>Times</vt:lpstr>
      <vt:lpstr>Times New Roman</vt:lpstr>
      <vt:lpstr>Wingdings</vt:lpstr>
      <vt:lpstr>Office Theme</vt:lpstr>
      <vt:lpstr>CART:  Árboles de decisión de  Clasificación y Regresión</vt:lpstr>
      <vt:lpstr>Cuestiones operativas del curso: Próximos Deadlines</vt:lpstr>
      <vt:lpstr>En la clase de hoy</vt:lpstr>
      <vt:lpstr>Introducción a Árboles: CART</vt:lpstr>
      <vt:lpstr> Árboles: Motivación</vt:lpstr>
      <vt:lpstr> Árboles: Motivación I</vt:lpstr>
      <vt:lpstr>Tipo de árboles  </vt:lpstr>
      <vt:lpstr> Árboles: Ilustración I</vt:lpstr>
      <vt:lpstr>CART: Ilustración &amp; Formalización del algoritmo</vt:lpstr>
      <vt:lpstr> Árboles: Algoritmo, versión simple</vt:lpstr>
      <vt:lpstr> Árboles: Ilustración del Algoritmo I</vt:lpstr>
      <vt:lpstr> Árboles: Ilustración del Algoritmo II </vt:lpstr>
      <vt:lpstr> Árboles: Interpretación </vt:lpstr>
      <vt:lpstr>Partición recursiva binaria: Introducción </vt:lpstr>
      <vt:lpstr>Partición recursiva binaria: Formalmente </vt:lpstr>
      <vt:lpstr>1. Árboles de Regresión (Regression Tree)</vt:lpstr>
      <vt:lpstr>1. Árboles de Regresión: Mejor Partición </vt:lpstr>
      <vt:lpstr>1. Árboles de Regresión: Stopping criterion</vt:lpstr>
      <vt:lpstr>2. Arboles de Clasificación:  </vt:lpstr>
      <vt:lpstr>2. Arboles de Clasificación:  </vt:lpstr>
      <vt:lpstr>2. Arboles de Clasificación: en la práctica</vt:lpstr>
      <vt:lpstr>Podar un árbol (Tree pruning)</vt:lpstr>
      <vt:lpstr>Tree Pruning: Idea e Intuición</vt:lpstr>
      <vt:lpstr>Costo de Complejidad: Notación </vt:lpstr>
      <vt:lpstr>Costo de Complejidad: Formula e Intuición  </vt:lpstr>
      <vt:lpstr>Costo de Complejidad: Objetivo </vt:lpstr>
      <vt:lpstr>Costo de Complejidad: Mecanismo </vt:lpstr>
      <vt:lpstr>Tree Pruning: Ilustración I </vt:lpstr>
      <vt:lpstr>Tree Pruning: Ilustración II</vt:lpstr>
      <vt:lpstr>CART: Árboles vs. Modelos lineales</vt:lpstr>
      <vt:lpstr>Árboles vs Modelos Lineales: Formalmente</vt:lpstr>
      <vt:lpstr>Árboles vs Modelos Lineales I</vt:lpstr>
      <vt:lpstr>Árboles vs Modelos Lineales II</vt:lpstr>
      <vt:lpstr>CART: Ventajas &amp; Desventajas</vt:lpstr>
      <vt:lpstr>Ventajas y Desventajas de Árboles I </vt:lpstr>
      <vt:lpstr>Ventajas y Desventajas de Árboles II </vt:lpstr>
      <vt:lpstr>Solución más sofisticada: Método de Ensamble</vt:lpstr>
      <vt:lpstr>¿Dudas, consultas?</vt:lpstr>
      <vt:lpstr>Conclusiones finales</vt:lpstr>
      <vt:lpstr>¿Qué aprendimos hoy?</vt:lpstr>
      <vt:lpstr>¿Dudas, consultas?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Big data, Aprendizaje y Minería de Datos:  Perspectivas, ideas y herramientas para economistas</dc:title>
  <dc:creator>Romero, Maria Noelia</dc:creator>
  <cp:lastModifiedBy>Noelia Romero</cp:lastModifiedBy>
  <cp:revision>194</cp:revision>
  <dcterms:created xsi:type="dcterms:W3CDTF">2023-06-12T20:51:31Z</dcterms:created>
  <dcterms:modified xsi:type="dcterms:W3CDTF">2025-11-19T21:05:24Z</dcterms:modified>
</cp:coreProperties>
</file>