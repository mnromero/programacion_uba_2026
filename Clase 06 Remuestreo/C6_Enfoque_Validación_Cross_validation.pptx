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423" r:id="rId2"/>
    <p:sldId id="494" r:id="rId3"/>
    <p:sldId id="259" r:id="rId4"/>
    <p:sldId id="471" r:id="rId5"/>
    <p:sldId id="260" r:id="rId6"/>
    <p:sldId id="523" r:id="rId7"/>
    <p:sldId id="409" r:id="rId8"/>
    <p:sldId id="410" r:id="rId9"/>
    <p:sldId id="524" r:id="rId10"/>
    <p:sldId id="525" r:id="rId11"/>
    <p:sldId id="522" r:id="rId12"/>
    <p:sldId id="520" r:id="rId13"/>
    <p:sldId id="413" r:id="rId14"/>
    <p:sldId id="521" r:id="rId15"/>
    <p:sldId id="261" r:id="rId16"/>
    <p:sldId id="329" r:id="rId17"/>
    <p:sldId id="351" r:id="rId18"/>
    <p:sldId id="439" r:id="rId19"/>
    <p:sldId id="442" r:id="rId20"/>
    <p:sldId id="441" r:id="rId21"/>
    <p:sldId id="330" r:id="rId22"/>
    <p:sldId id="331" r:id="rId23"/>
    <p:sldId id="502" r:id="rId24"/>
    <p:sldId id="526" r:id="rId25"/>
    <p:sldId id="443" r:id="rId26"/>
    <p:sldId id="318" r:id="rId27"/>
    <p:sldId id="257" r:id="rId28"/>
    <p:sldId id="332" r:id="rId29"/>
    <p:sldId id="333" r:id="rId30"/>
    <p:sldId id="334" r:id="rId31"/>
    <p:sldId id="340" r:id="rId32"/>
    <p:sldId id="338" r:id="rId33"/>
    <p:sldId id="339" r:id="rId34"/>
    <p:sldId id="341" r:id="rId35"/>
    <p:sldId id="350" r:id="rId36"/>
    <p:sldId id="342" r:id="rId37"/>
    <p:sldId id="343" r:id="rId38"/>
    <p:sldId id="344" r:id="rId39"/>
    <p:sldId id="345" r:id="rId40"/>
    <p:sldId id="346" r:id="rId41"/>
    <p:sldId id="348" r:id="rId42"/>
    <p:sldId id="337" r:id="rId43"/>
    <p:sldId id="314" r:id="rId44"/>
    <p:sldId id="440" r:id="rId45"/>
    <p:sldId id="444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23"/>
            <p14:sldId id="494"/>
            <p14:sldId id="259"/>
          </p14:sldIdLst>
        </p14:section>
        <p14:section name="Error de Pronóstico, MSE, Overfitting" id="{75D31724-3B6C-E842-978D-4FEEBABBFA4D}">
          <p14:sldIdLst>
            <p14:sldId id="471"/>
            <p14:sldId id="260"/>
            <p14:sldId id="523"/>
            <p14:sldId id="409"/>
            <p14:sldId id="410"/>
            <p14:sldId id="524"/>
            <p14:sldId id="525"/>
            <p14:sldId id="522"/>
            <p14:sldId id="520"/>
            <p14:sldId id="413"/>
            <p14:sldId id="521"/>
            <p14:sldId id="261"/>
          </p14:sldIdLst>
        </p14:section>
        <p14:section name="Cross-Validation" id="{5623DDE8-0602-0D4F-AFA1-3B05F3F0BCCE}">
          <p14:sldIdLst>
            <p14:sldId id="329"/>
            <p14:sldId id="351"/>
            <p14:sldId id="439"/>
            <p14:sldId id="442"/>
            <p14:sldId id="441"/>
            <p14:sldId id="330"/>
            <p14:sldId id="331"/>
            <p14:sldId id="502"/>
            <p14:sldId id="526"/>
            <p14:sldId id="443"/>
          </p14:sldIdLst>
        </p14:section>
        <p14:section name="Repaso de Ley de Grandes Números" id="{7FB3D64B-F88D-DC44-A858-9D76D5739914}">
          <p14:sldIdLst>
            <p14:sldId id="318"/>
            <p14:sldId id="257"/>
            <p14:sldId id="332"/>
            <p14:sldId id="333"/>
            <p14:sldId id="334"/>
            <p14:sldId id="340"/>
          </p14:sldIdLst>
        </p14:section>
        <p14:section name="Bootstrap" id="{452C278E-0A2E-D847-AF96-BC48CAD56F94}">
          <p14:sldIdLst>
            <p14:sldId id="338"/>
            <p14:sldId id="339"/>
            <p14:sldId id="341"/>
            <p14:sldId id="350"/>
            <p14:sldId id="342"/>
            <p14:sldId id="343"/>
            <p14:sldId id="344"/>
            <p14:sldId id="345"/>
            <p14:sldId id="346"/>
            <p14:sldId id="348"/>
          </p14:sldIdLst>
        </p14:section>
        <p14:section name="Conclusiones finales" id="{30AE4762-25DE-C74D-AF95-4AEC0CC37FB0}">
          <p14:sldIdLst>
            <p14:sldId id="337"/>
            <p14:sldId id="314"/>
            <p14:sldId id="440"/>
            <p14:sldId id="44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99FF"/>
    <a:srgbClr val="FF8A8C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81342"/>
  </p:normalViewPr>
  <p:slideViewPr>
    <p:cSldViewPr snapToGrid="0">
      <p:cViewPr varScale="1">
        <p:scale>
          <a:sx n="85" d="100"/>
          <a:sy n="85" d="100"/>
        </p:scale>
        <p:origin x="18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image" Target="../media/image22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11.png"/><Relationship Id="rId1" Type="http://schemas.openxmlformats.org/officeDocument/2006/relationships/image" Target="../media/image101.png"/><Relationship Id="rId5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image" Target="../media/image2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FA8DE1-E2D2-CE43-9258-5E0063B01129}" type="doc">
      <dgm:prSet loTypeId="urn:microsoft.com/office/officeart/2005/8/layout/vList4" loCatId="" qsTypeId="urn:microsoft.com/office/officeart/2005/8/quickstyle/simple1" qsCatId="simple" csTypeId="urn:microsoft.com/office/officeart/2005/8/colors/colorful1" csCatId="colorful" phldr="1"/>
      <dgm:spPr/>
    </dgm:pt>
    <dgm:pt modelId="{5828E4DD-36D2-F140-9F1D-F1E57FFB93CB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Enfoque de Validación Simple</a:t>
          </a:r>
        </a:p>
      </dgm:t>
    </dgm:pt>
    <dgm:pt modelId="{D2600644-E0D8-5A43-9E5A-C45004F46657}" type="parTrans" cxnId="{18F84AF7-8F78-E241-8E6F-923EC68425D4}">
      <dgm:prSet/>
      <dgm:spPr/>
      <dgm:t>
        <a:bodyPr/>
        <a:lstStyle/>
        <a:p>
          <a:endParaRPr lang="es-MX"/>
        </a:p>
      </dgm:t>
    </dgm:pt>
    <dgm:pt modelId="{E65F3A3E-182B-624E-9565-E257908129FA}" type="sibTrans" cxnId="{18F84AF7-8F78-E241-8E6F-923EC68425D4}">
      <dgm:prSet/>
      <dgm:spPr/>
      <dgm:t>
        <a:bodyPr/>
        <a:lstStyle/>
        <a:p>
          <a:endParaRPr lang="es-MX"/>
        </a:p>
      </dgm:t>
    </dgm:pt>
    <dgm:pt modelId="{81DC472D-238F-7B42-8766-00B31C4FCA87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k-fold CV</a:t>
          </a:r>
        </a:p>
      </dgm:t>
    </dgm:pt>
    <dgm:pt modelId="{240B979C-B05F-DE45-86A3-6011C4FD53C4}" type="parTrans" cxnId="{CD7D5E07-7EB3-2E45-8D0C-F29CA0AE2CDA}">
      <dgm:prSet/>
      <dgm:spPr/>
      <dgm:t>
        <a:bodyPr/>
        <a:lstStyle/>
        <a:p>
          <a:endParaRPr lang="es-MX"/>
        </a:p>
      </dgm:t>
    </dgm:pt>
    <dgm:pt modelId="{F1BC528B-E031-FB45-8267-D953D78E26DF}" type="sibTrans" cxnId="{CD7D5E07-7EB3-2E45-8D0C-F29CA0AE2CDA}">
      <dgm:prSet/>
      <dgm:spPr/>
      <dgm:t>
        <a:bodyPr/>
        <a:lstStyle/>
        <a:p>
          <a:endParaRPr lang="es-MX"/>
        </a:p>
      </dgm:t>
    </dgm:pt>
    <dgm:pt modelId="{E4132020-A1AA-DD40-A7C8-3274B48FFEA3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LOOV</a:t>
          </a:r>
        </a:p>
      </dgm:t>
    </dgm:pt>
    <dgm:pt modelId="{4AE97437-64D1-7E44-9F13-F6CB81078510}" type="parTrans" cxnId="{3708914E-9D77-9C41-B1D6-7D5A21EC1EFA}">
      <dgm:prSet/>
      <dgm:spPr/>
      <dgm:t>
        <a:bodyPr/>
        <a:lstStyle/>
        <a:p>
          <a:endParaRPr lang="es-MX"/>
        </a:p>
      </dgm:t>
    </dgm:pt>
    <dgm:pt modelId="{200B536F-F853-CA48-BFC1-B4539C2B169B}" type="sibTrans" cxnId="{3708914E-9D77-9C41-B1D6-7D5A21EC1EFA}">
      <dgm:prSet/>
      <dgm:spPr/>
      <dgm:t>
        <a:bodyPr/>
        <a:lstStyle/>
        <a:p>
          <a:endParaRPr lang="es-MX"/>
        </a:p>
      </dgm:t>
    </dgm:pt>
    <mc:AlternateContent xmlns:mc="http://schemas.openxmlformats.org/markup-compatibility/2006" xmlns:a14="http://schemas.microsoft.com/office/drawing/2010/main">
      <mc:Choice Requires="a14">
        <dgm:pt modelId="{DCB623DE-A832-D648-A198-D04B79F27F79}">
          <dgm:prSet phldrT="[Texto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m:oMathPara>
              </a14:m>
              <a:endParaRPr lang="es-MX" dirty="0">
                <a:latin typeface="Gill Sans Nova Light" panose="020B0302020104020203" pitchFamily="34" charset="0"/>
              </a:endParaRPr>
            </a:p>
          </dgm:t>
        </dgm:pt>
      </mc:Choice>
      <mc:Fallback xmlns="">
        <dgm:pt modelId="{DCB623DE-A832-D648-A198-D04B79F27F79}">
          <dgm:prSet phldrT="[Texto]"/>
          <dgm:spPr/>
          <dgm:t>
            <a:bodyPr/>
            <a:lstStyle/>
            <a:p>
              <a:r>
                <a:rPr lang="es-ES_tradnl" b="0" i="0">
                  <a:latin typeface="Cambria Math" panose="02040503050406030204" pitchFamily="18" charset="0"/>
                </a:rPr>
                <a:t>𝐾=1</a:t>
              </a:r>
              <a:endParaRPr lang="es-MX" dirty="0">
                <a:latin typeface="Gill Sans Nova Light" panose="020B0302020104020203" pitchFamily="34" charset="0"/>
              </a:endParaRPr>
            </a:p>
          </dgm:t>
        </dgm:pt>
      </mc:Fallback>
    </mc:AlternateContent>
    <dgm:pt modelId="{DB605352-AD21-404B-88F0-C406F418C6FB}" type="parTrans" cxnId="{47FBC9AD-69DC-8E46-832D-6DD4EAC57631}">
      <dgm:prSet/>
      <dgm:spPr/>
      <dgm:t>
        <a:bodyPr/>
        <a:lstStyle/>
        <a:p>
          <a:endParaRPr lang="es-MX"/>
        </a:p>
      </dgm:t>
    </dgm:pt>
    <dgm:pt modelId="{A2D01755-40F7-944E-931B-A509D3E762B6}" type="sibTrans" cxnId="{47FBC9AD-69DC-8E46-832D-6DD4EAC57631}">
      <dgm:prSet/>
      <dgm:spPr/>
      <dgm:t>
        <a:bodyPr/>
        <a:lstStyle/>
        <a:p>
          <a:endParaRPr lang="es-MX"/>
        </a:p>
      </dgm:t>
    </dgm:pt>
    <mc:AlternateContent xmlns:mc="http://schemas.openxmlformats.org/markup-compatibility/2006" xmlns:a14="http://schemas.microsoft.com/office/drawing/2010/main">
      <mc:Choice Requires="a14">
        <dgm:pt modelId="{BBF27D3A-DC06-7144-9447-A629A2A8DBA0}">
          <dgm:prSet phldrT="[Texto]"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s-ES_tradnl" b="0" i="1" smtClean="0">
                      <a:latin typeface="Cambria Math" panose="02040503050406030204" pitchFamily="18" charset="0"/>
                    </a:rPr>
                    <m:t>𝐾</m:t>
                  </m:r>
                  <m:r>
                    <a:rPr lang="es-ES_tradnl" b="0" i="1" smtClean="0">
                      <a:latin typeface="Cambria Math" panose="02040503050406030204" pitchFamily="18" charset="0"/>
                    </a:rPr>
                    <m:t>=5</m:t>
                  </m:r>
                </m:oMath>
              </a14:m>
              <a:r>
                <a:rPr lang="es-MX" dirty="0">
                  <a:latin typeface="Gill Sans Nova Light" panose="020B0302020104020203" pitchFamily="34" charset="0"/>
                </a:rPr>
                <a:t> o </a:t>
              </a:r>
              <a14:m>
                <m:oMath xmlns:m="http://schemas.openxmlformats.org/officeDocument/2006/math">
                  <m:r>
                    <a:rPr lang="es-ES_tradnl" b="0" i="1" smtClean="0">
                      <a:latin typeface="Cambria Math" panose="02040503050406030204" pitchFamily="18" charset="0"/>
                    </a:rPr>
                    <m:t>𝐾</m:t>
                  </m:r>
                  <m:r>
                    <a:rPr lang="es-ES_tradnl" b="0" i="1" smtClean="0">
                      <a:latin typeface="Cambria Math" panose="02040503050406030204" pitchFamily="18" charset="0"/>
                    </a:rPr>
                    <m:t>=10</m:t>
                  </m:r>
                </m:oMath>
              </a14:m>
              <a:endParaRPr lang="es-MX" dirty="0">
                <a:latin typeface="Gill Sans Nova Light" panose="020B0302020104020203" pitchFamily="34" charset="0"/>
              </a:endParaRPr>
            </a:p>
          </dgm:t>
        </dgm:pt>
      </mc:Choice>
      <mc:Fallback xmlns="">
        <dgm:pt modelId="{BBF27D3A-DC06-7144-9447-A629A2A8DBA0}">
          <dgm:prSet phldrT="[Texto]"/>
          <dgm:spPr/>
          <dgm:t>
            <a:bodyPr/>
            <a:lstStyle/>
            <a:p>
              <a:r>
                <a:rPr lang="es-ES_tradnl" b="0" i="0">
                  <a:latin typeface="Cambria Math" panose="02040503050406030204" pitchFamily="18" charset="0"/>
                </a:rPr>
                <a:t>𝐾=</a:t>
              </a:r>
              <a:r>
                <a:rPr lang="en-US" b="0" i="0">
                  <a:latin typeface="Cambria Math" panose="02040503050406030204" pitchFamily="18" charset="0"/>
                </a:rPr>
                <a:t>5</a:t>
              </a:r>
              <a:r>
                <a:rPr lang="es-MX" dirty="0">
                  <a:latin typeface="Gill Sans Nova Light" panose="020B0302020104020203" pitchFamily="34" charset="0"/>
                </a:rPr>
                <a:t> o </a:t>
              </a:r>
              <a:r>
                <a:rPr lang="es-ES_tradnl" b="0" i="0">
                  <a:latin typeface="Cambria Math" panose="02040503050406030204" pitchFamily="18" charset="0"/>
                </a:rPr>
                <a:t>𝐾=1</a:t>
              </a:r>
              <a:r>
                <a:rPr lang="en-US" b="0" i="0">
                  <a:latin typeface="Cambria Math" panose="02040503050406030204" pitchFamily="18" charset="0"/>
                </a:rPr>
                <a:t>0</a:t>
              </a:r>
              <a:endParaRPr lang="es-MX" dirty="0">
                <a:latin typeface="Gill Sans Nova Light" panose="020B0302020104020203" pitchFamily="34" charset="0"/>
              </a:endParaRPr>
            </a:p>
          </dgm:t>
        </dgm:pt>
      </mc:Fallback>
    </mc:AlternateContent>
    <dgm:pt modelId="{2C550E71-7219-894A-A485-1FFF503BEF1B}" type="parTrans" cxnId="{85C75412-99ED-7447-AA7F-F7934D299932}">
      <dgm:prSet/>
      <dgm:spPr/>
      <dgm:t>
        <a:bodyPr/>
        <a:lstStyle/>
        <a:p>
          <a:endParaRPr lang="es-MX"/>
        </a:p>
      </dgm:t>
    </dgm:pt>
    <dgm:pt modelId="{D105D9DD-BF8C-8246-ABCB-8097F3FE73E1}" type="sibTrans" cxnId="{85C75412-99ED-7447-AA7F-F7934D299932}">
      <dgm:prSet/>
      <dgm:spPr/>
      <dgm:t>
        <a:bodyPr/>
        <a:lstStyle/>
        <a:p>
          <a:endParaRPr lang="es-MX"/>
        </a:p>
      </dgm:t>
    </dgm:pt>
    <dgm:pt modelId="{76182BCD-3A88-224C-B188-9BB19E827CCA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5 o 10 splits de train y test </a:t>
          </a:r>
        </a:p>
      </dgm:t>
    </dgm:pt>
    <dgm:pt modelId="{1B44BB3D-61BE-4E41-B580-176DB2896772}" type="parTrans" cxnId="{1CA2197F-DB9E-C140-AF83-09E211BBF300}">
      <dgm:prSet/>
      <dgm:spPr/>
      <dgm:t>
        <a:bodyPr/>
        <a:lstStyle/>
        <a:p>
          <a:endParaRPr lang="es-MX"/>
        </a:p>
      </dgm:t>
    </dgm:pt>
    <dgm:pt modelId="{E25B1610-28B6-8545-9106-629EC4610BC2}" type="sibTrans" cxnId="{1CA2197F-DB9E-C140-AF83-09E211BBF300}">
      <dgm:prSet/>
      <dgm:spPr/>
      <dgm:t>
        <a:bodyPr/>
        <a:lstStyle/>
        <a:p>
          <a:endParaRPr lang="es-MX"/>
        </a:p>
      </dgm:t>
    </dgm:pt>
    <dgm:pt modelId="{0603479D-0B2E-E546-B487-67719F6418A5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1 split de train y test</a:t>
          </a:r>
        </a:p>
      </dgm:t>
    </dgm:pt>
    <dgm:pt modelId="{FA077EFE-BB7C-4641-8ED3-D777BB94AA2F}" type="parTrans" cxnId="{9D12B3BB-3BAD-B046-ADD0-4DE3D2C4F194}">
      <dgm:prSet/>
      <dgm:spPr/>
      <dgm:t>
        <a:bodyPr/>
        <a:lstStyle/>
        <a:p>
          <a:endParaRPr lang="es-MX"/>
        </a:p>
      </dgm:t>
    </dgm:pt>
    <dgm:pt modelId="{2CC9C9A0-7BDB-5B4E-8424-122F9886A07F}" type="sibTrans" cxnId="{9D12B3BB-3BAD-B046-ADD0-4DE3D2C4F194}">
      <dgm:prSet/>
      <dgm:spPr/>
      <dgm:t>
        <a:bodyPr/>
        <a:lstStyle/>
        <a:p>
          <a:endParaRPr lang="es-MX"/>
        </a:p>
      </dgm:t>
    </dgm:pt>
    <dgm:pt modelId="{B1D74FD6-B898-D24C-BB08-ACBC91E34E60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no hay random splts</a:t>
          </a:r>
        </a:p>
      </dgm:t>
    </dgm:pt>
    <dgm:pt modelId="{A7228038-12ED-2447-9FA3-51AA8088154E}" type="parTrans" cxnId="{79043DC2-FED2-F542-B117-8C06D6B7772B}">
      <dgm:prSet/>
      <dgm:spPr/>
      <dgm:t>
        <a:bodyPr/>
        <a:lstStyle/>
        <a:p>
          <a:endParaRPr lang="es-MX"/>
        </a:p>
      </dgm:t>
    </dgm:pt>
    <dgm:pt modelId="{DAF03CA5-3DCF-2043-AF48-1A9ABB3FA9BA}" type="sibTrans" cxnId="{79043DC2-FED2-F542-B117-8C06D6B7772B}">
      <dgm:prSet/>
      <dgm:spPr/>
      <dgm:t>
        <a:bodyPr/>
        <a:lstStyle/>
        <a:p>
          <a:endParaRPr lang="es-MX"/>
        </a:p>
      </dgm:t>
    </dgm:pt>
    <dgm:pt modelId="{3E3429BA-B52B-0F47-9183-6407534E96E5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cada observacion es usada n-1 veces de entrenamiento y 1 vez de testeo</a:t>
          </a:r>
        </a:p>
      </dgm:t>
    </dgm:pt>
    <dgm:pt modelId="{BBFB4694-D60E-024E-82D5-485052E40FDE}" type="parTrans" cxnId="{7396A359-FD53-D04D-90EA-28023CDD0D17}">
      <dgm:prSet/>
      <dgm:spPr/>
      <dgm:t>
        <a:bodyPr/>
        <a:lstStyle/>
        <a:p>
          <a:endParaRPr lang="es-MX"/>
        </a:p>
      </dgm:t>
    </dgm:pt>
    <dgm:pt modelId="{5AA3064C-A8A8-A841-9268-62EEE39EC876}" type="sibTrans" cxnId="{7396A359-FD53-D04D-90EA-28023CDD0D17}">
      <dgm:prSet/>
      <dgm:spPr/>
      <dgm:t>
        <a:bodyPr/>
        <a:lstStyle/>
        <a:p>
          <a:endParaRPr lang="es-MX"/>
        </a:p>
      </dgm:t>
    </dgm:pt>
    <mc:AlternateContent xmlns:mc="http://schemas.openxmlformats.org/markup-compatibility/2006" xmlns:a14="http://schemas.microsoft.com/office/drawing/2010/main">
      <mc:Choice Requires="a14">
        <dgm:pt modelId="{FC91A75D-C80D-4940-B9C5-7AC3A626E633}">
          <dgm:prSet phldrT="[Texto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m:oMathPara>
              </a14:m>
              <a:endParaRPr lang="es-MX" dirty="0">
                <a:latin typeface="Gill Sans Nova Light" panose="020B0302020104020203" pitchFamily="34" charset="0"/>
              </a:endParaRPr>
            </a:p>
          </dgm:t>
        </dgm:pt>
      </mc:Choice>
      <mc:Fallback xmlns="">
        <dgm:pt modelId="{FC91A75D-C80D-4940-B9C5-7AC3A626E633}">
          <dgm:prSet phldrT="[Texto]"/>
          <dgm:spPr/>
          <dgm:t>
            <a:bodyPr/>
            <a:lstStyle/>
            <a:p>
              <a:r>
                <a:rPr lang="es-ES_tradnl" b="0" i="0">
                  <a:latin typeface="Cambria Math" panose="02040503050406030204" pitchFamily="18" charset="0"/>
                </a:rPr>
                <a:t>𝐾=</a:t>
              </a:r>
              <a:r>
                <a:rPr lang="en-US" b="0" i="0">
                  <a:latin typeface="Cambria Math" panose="02040503050406030204" pitchFamily="18" charset="0"/>
                </a:rPr>
                <a:t>𝑁</a:t>
              </a:r>
              <a:endParaRPr lang="es-MX" dirty="0">
                <a:latin typeface="Gill Sans Nova Light" panose="020B0302020104020203" pitchFamily="34" charset="0"/>
              </a:endParaRPr>
            </a:p>
          </dgm:t>
        </dgm:pt>
      </mc:Fallback>
    </mc:AlternateContent>
    <dgm:pt modelId="{638106EA-0A09-604A-A1AB-3A24A70FA427}" type="parTrans" cxnId="{33A8613D-5DCE-CC47-BC97-917AEFD6DCF5}">
      <dgm:prSet/>
      <dgm:spPr/>
      <dgm:t>
        <a:bodyPr/>
        <a:lstStyle/>
        <a:p>
          <a:endParaRPr lang="es-MX"/>
        </a:p>
      </dgm:t>
    </dgm:pt>
    <dgm:pt modelId="{CF4A5BB0-177D-A441-9ECC-AAA422C70D4E}" type="sibTrans" cxnId="{33A8613D-5DCE-CC47-BC97-917AEFD6DCF5}">
      <dgm:prSet/>
      <dgm:spPr/>
      <dgm:t>
        <a:bodyPr/>
        <a:lstStyle/>
        <a:p>
          <a:endParaRPr lang="es-MX"/>
        </a:p>
      </dgm:t>
    </dgm:pt>
    <dgm:pt modelId="{6E474A1C-FCF6-3241-8BD9-B8D83DF92F7B}" type="pres">
      <dgm:prSet presAssocID="{2FFA8DE1-E2D2-CE43-9258-5E0063B01129}" presName="linear" presStyleCnt="0">
        <dgm:presLayoutVars>
          <dgm:dir/>
          <dgm:resizeHandles val="exact"/>
        </dgm:presLayoutVars>
      </dgm:prSet>
      <dgm:spPr/>
    </dgm:pt>
    <dgm:pt modelId="{391F2B27-752B-744E-A0D5-440DFAEA0DB3}" type="pres">
      <dgm:prSet presAssocID="{5828E4DD-36D2-F140-9F1D-F1E57FFB93CB}" presName="comp" presStyleCnt="0"/>
      <dgm:spPr/>
    </dgm:pt>
    <dgm:pt modelId="{CBB3F785-8A31-1F4F-BEF3-41C5F0E67901}" type="pres">
      <dgm:prSet presAssocID="{5828E4DD-36D2-F140-9F1D-F1E57FFB93CB}" presName="box" presStyleLbl="node1" presStyleIdx="0" presStyleCnt="3"/>
      <dgm:spPr/>
    </dgm:pt>
    <dgm:pt modelId="{A5791972-E9F3-0E40-9E4C-BC6BA980B304}" type="pres">
      <dgm:prSet presAssocID="{5828E4DD-36D2-F140-9F1D-F1E57FFB93CB}" presName="img" presStyleLbl="fgImgPlace1" presStyleIdx="0" presStyleCnt="3"/>
      <dgm:spPr/>
    </dgm:pt>
    <dgm:pt modelId="{75D425FA-9CEA-8349-9EC8-C4F77BAF72C6}" type="pres">
      <dgm:prSet presAssocID="{5828E4DD-36D2-F140-9F1D-F1E57FFB93CB}" presName="text" presStyleLbl="node1" presStyleIdx="0" presStyleCnt="3">
        <dgm:presLayoutVars>
          <dgm:bulletEnabled val="1"/>
        </dgm:presLayoutVars>
      </dgm:prSet>
      <dgm:spPr/>
    </dgm:pt>
    <dgm:pt modelId="{2EA8E097-A2BD-F944-9199-83C16142D217}" type="pres">
      <dgm:prSet presAssocID="{E65F3A3E-182B-624E-9565-E257908129FA}" presName="spacer" presStyleCnt="0"/>
      <dgm:spPr/>
    </dgm:pt>
    <dgm:pt modelId="{9DEA43B3-B850-324A-A4E6-4727AF836782}" type="pres">
      <dgm:prSet presAssocID="{81DC472D-238F-7B42-8766-00B31C4FCA87}" presName="comp" presStyleCnt="0"/>
      <dgm:spPr/>
    </dgm:pt>
    <dgm:pt modelId="{2F082133-3790-304C-9FAF-AC5ABC34DB14}" type="pres">
      <dgm:prSet presAssocID="{81DC472D-238F-7B42-8766-00B31C4FCA87}" presName="box" presStyleLbl="node1" presStyleIdx="1" presStyleCnt="3"/>
      <dgm:spPr/>
    </dgm:pt>
    <dgm:pt modelId="{43EF3C64-362C-AF4B-A6EB-86E20A54F4EF}" type="pres">
      <dgm:prSet presAssocID="{81DC472D-238F-7B42-8766-00B31C4FCA87}" presName="img" presStyleLbl="fgImgPlace1" presStyleIdx="1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3F0A22C7-9902-5A4A-9D72-A9AF41E1F85C}" type="pres">
      <dgm:prSet presAssocID="{81DC472D-238F-7B42-8766-00B31C4FCA87}" presName="text" presStyleLbl="node1" presStyleIdx="1" presStyleCnt="3">
        <dgm:presLayoutVars>
          <dgm:bulletEnabled val="1"/>
        </dgm:presLayoutVars>
      </dgm:prSet>
      <dgm:spPr/>
    </dgm:pt>
    <dgm:pt modelId="{2DFF74AE-1348-6E47-8BD1-044267A6830D}" type="pres">
      <dgm:prSet presAssocID="{F1BC528B-E031-FB45-8267-D953D78E26DF}" presName="spacer" presStyleCnt="0"/>
      <dgm:spPr/>
    </dgm:pt>
    <dgm:pt modelId="{65CF0D9F-F5B1-9748-9856-0BB4C65FAAA1}" type="pres">
      <dgm:prSet presAssocID="{E4132020-A1AA-DD40-A7C8-3274B48FFEA3}" presName="comp" presStyleCnt="0"/>
      <dgm:spPr/>
    </dgm:pt>
    <dgm:pt modelId="{8A85BF51-FDA3-0241-9DCD-68EA1D0029C1}" type="pres">
      <dgm:prSet presAssocID="{E4132020-A1AA-DD40-A7C8-3274B48FFEA3}" presName="box" presStyleLbl="node1" presStyleIdx="2" presStyleCnt="3"/>
      <dgm:spPr/>
    </dgm:pt>
    <dgm:pt modelId="{3160B71B-1B23-544C-B290-FBEB69C2E4EC}" type="pres">
      <dgm:prSet presAssocID="{E4132020-A1AA-DD40-A7C8-3274B48FFEA3}" presName="img" presStyleLbl="fgImgPlace1" presStyleIdx="2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</dgm:spPr>
    </dgm:pt>
    <dgm:pt modelId="{FEBC1EEF-A90A-A949-A3BB-FEF11C0FE933}" type="pres">
      <dgm:prSet presAssocID="{E4132020-A1AA-DD40-A7C8-3274B48FFEA3}" presName="text" presStyleLbl="node1" presStyleIdx="2" presStyleCnt="3">
        <dgm:presLayoutVars>
          <dgm:bulletEnabled val="1"/>
        </dgm:presLayoutVars>
      </dgm:prSet>
      <dgm:spPr/>
    </dgm:pt>
  </dgm:ptLst>
  <dgm:cxnLst>
    <dgm:cxn modelId="{CD7D5E07-7EB3-2E45-8D0C-F29CA0AE2CDA}" srcId="{2FFA8DE1-E2D2-CE43-9258-5E0063B01129}" destId="{81DC472D-238F-7B42-8766-00B31C4FCA87}" srcOrd="1" destOrd="0" parTransId="{240B979C-B05F-DE45-86A3-6011C4FD53C4}" sibTransId="{F1BC528B-E031-FB45-8267-D953D78E26DF}"/>
    <dgm:cxn modelId="{8635C510-3683-8741-9642-967028FB33E0}" type="presOf" srcId="{DCB623DE-A832-D648-A198-D04B79F27F79}" destId="{75D425FA-9CEA-8349-9EC8-C4F77BAF72C6}" srcOrd="1" destOrd="1" presId="urn:microsoft.com/office/officeart/2005/8/layout/vList4"/>
    <dgm:cxn modelId="{85C75412-99ED-7447-AA7F-F7934D299932}" srcId="{81DC472D-238F-7B42-8766-00B31C4FCA87}" destId="{BBF27D3A-DC06-7144-9447-A629A2A8DBA0}" srcOrd="0" destOrd="0" parTransId="{2C550E71-7219-894A-A485-1FFF503BEF1B}" sibTransId="{D105D9DD-BF8C-8246-ABCB-8097F3FE73E1}"/>
    <dgm:cxn modelId="{B6BF162A-1F6B-2144-8586-3E8910397C87}" type="presOf" srcId="{5828E4DD-36D2-F140-9F1D-F1E57FFB93CB}" destId="{CBB3F785-8A31-1F4F-BEF3-41C5F0E67901}" srcOrd="0" destOrd="0" presId="urn:microsoft.com/office/officeart/2005/8/layout/vList4"/>
    <dgm:cxn modelId="{66CBDE2F-E288-D846-89FC-BEDA74E08C15}" type="presOf" srcId="{BBF27D3A-DC06-7144-9447-A629A2A8DBA0}" destId="{2F082133-3790-304C-9FAF-AC5ABC34DB14}" srcOrd="0" destOrd="1" presId="urn:microsoft.com/office/officeart/2005/8/layout/vList4"/>
    <dgm:cxn modelId="{45211D33-9522-6F48-AD8B-10F58E99874C}" type="presOf" srcId="{DCB623DE-A832-D648-A198-D04B79F27F79}" destId="{CBB3F785-8A31-1F4F-BEF3-41C5F0E67901}" srcOrd="0" destOrd="1" presId="urn:microsoft.com/office/officeart/2005/8/layout/vList4"/>
    <dgm:cxn modelId="{CF5ABB33-E76D-1345-99AF-590CE44820D5}" type="presOf" srcId="{B1D74FD6-B898-D24C-BB08-ACBC91E34E60}" destId="{FEBC1EEF-A90A-A949-A3BB-FEF11C0FE933}" srcOrd="1" destOrd="3" presId="urn:microsoft.com/office/officeart/2005/8/layout/vList4"/>
    <dgm:cxn modelId="{33A8613D-5DCE-CC47-BC97-917AEFD6DCF5}" srcId="{E4132020-A1AA-DD40-A7C8-3274B48FFEA3}" destId="{FC91A75D-C80D-4940-B9C5-7AC3A626E633}" srcOrd="0" destOrd="0" parTransId="{638106EA-0A09-604A-A1AB-3A24A70FA427}" sibTransId="{CF4A5BB0-177D-A441-9ECC-AAA422C70D4E}"/>
    <dgm:cxn modelId="{2E1A0D44-5AB6-214B-A76B-0B6B2506BBA0}" type="presOf" srcId="{5828E4DD-36D2-F140-9F1D-F1E57FFB93CB}" destId="{75D425FA-9CEA-8349-9EC8-C4F77BAF72C6}" srcOrd="1" destOrd="0" presId="urn:microsoft.com/office/officeart/2005/8/layout/vList4"/>
    <dgm:cxn modelId="{FE2E024B-58EF-D945-8EE8-D3001030E5B5}" type="presOf" srcId="{3E3429BA-B52B-0F47-9183-6407534E96E5}" destId="{FEBC1EEF-A90A-A949-A3BB-FEF11C0FE933}" srcOrd="1" destOrd="2" presId="urn:microsoft.com/office/officeart/2005/8/layout/vList4"/>
    <dgm:cxn modelId="{3708914E-9D77-9C41-B1D6-7D5A21EC1EFA}" srcId="{2FFA8DE1-E2D2-CE43-9258-5E0063B01129}" destId="{E4132020-A1AA-DD40-A7C8-3274B48FFEA3}" srcOrd="2" destOrd="0" parTransId="{4AE97437-64D1-7E44-9F13-F6CB81078510}" sibTransId="{200B536F-F853-CA48-BFC1-B4539C2B169B}"/>
    <dgm:cxn modelId="{F1DC064F-1CDD-8747-812C-7C27B5C45490}" type="presOf" srcId="{0603479D-0B2E-E546-B487-67719F6418A5}" destId="{CBB3F785-8A31-1F4F-BEF3-41C5F0E67901}" srcOrd="0" destOrd="2" presId="urn:microsoft.com/office/officeart/2005/8/layout/vList4"/>
    <dgm:cxn modelId="{FCDDFF50-5147-034D-87B4-4F475C362690}" type="presOf" srcId="{81DC472D-238F-7B42-8766-00B31C4FCA87}" destId="{3F0A22C7-9902-5A4A-9D72-A9AF41E1F85C}" srcOrd="1" destOrd="0" presId="urn:microsoft.com/office/officeart/2005/8/layout/vList4"/>
    <dgm:cxn modelId="{965AA353-7FB9-8D4C-A1C8-45B780EA9400}" type="presOf" srcId="{76182BCD-3A88-224C-B188-9BB19E827CCA}" destId="{2F082133-3790-304C-9FAF-AC5ABC34DB14}" srcOrd="0" destOrd="2" presId="urn:microsoft.com/office/officeart/2005/8/layout/vList4"/>
    <dgm:cxn modelId="{7396A359-FD53-D04D-90EA-28023CDD0D17}" srcId="{E4132020-A1AA-DD40-A7C8-3274B48FFEA3}" destId="{3E3429BA-B52B-0F47-9183-6407534E96E5}" srcOrd="1" destOrd="0" parTransId="{BBFB4694-D60E-024E-82D5-485052E40FDE}" sibTransId="{5AA3064C-A8A8-A841-9268-62EEE39EC876}"/>
    <dgm:cxn modelId="{E445655B-E6C7-2347-9FB4-D7F3FFEF9ABA}" type="presOf" srcId="{FC91A75D-C80D-4940-B9C5-7AC3A626E633}" destId="{FEBC1EEF-A90A-A949-A3BB-FEF11C0FE933}" srcOrd="1" destOrd="1" presId="urn:microsoft.com/office/officeart/2005/8/layout/vList4"/>
    <dgm:cxn modelId="{1CA2197F-DB9E-C140-AF83-09E211BBF300}" srcId="{81DC472D-238F-7B42-8766-00B31C4FCA87}" destId="{76182BCD-3A88-224C-B188-9BB19E827CCA}" srcOrd="1" destOrd="0" parTransId="{1B44BB3D-61BE-4E41-B580-176DB2896772}" sibTransId="{E25B1610-28B6-8545-9106-629EC4610BC2}"/>
    <dgm:cxn modelId="{9A28108A-D2F1-0045-9CEB-BB9CBF38E1EE}" type="presOf" srcId="{81DC472D-238F-7B42-8766-00B31C4FCA87}" destId="{2F082133-3790-304C-9FAF-AC5ABC34DB14}" srcOrd="0" destOrd="0" presId="urn:microsoft.com/office/officeart/2005/8/layout/vList4"/>
    <dgm:cxn modelId="{32E38394-A4CA-F446-8A06-ED7996982EBD}" type="presOf" srcId="{FC91A75D-C80D-4940-B9C5-7AC3A626E633}" destId="{8A85BF51-FDA3-0241-9DCD-68EA1D0029C1}" srcOrd="0" destOrd="1" presId="urn:microsoft.com/office/officeart/2005/8/layout/vList4"/>
    <dgm:cxn modelId="{F8DA12A4-CE0E-194C-9D78-03B25507047D}" type="presOf" srcId="{BBF27D3A-DC06-7144-9447-A629A2A8DBA0}" destId="{3F0A22C7-9902-5A4A-9D72-A9AF41E1F85C}" srcOrd="1" destOrd="1" presId="urn:microsoft.com/office/officeart/2005/8/layout/vList4"/>
    <dgm:cxn modelId="{215D0AAC-E9EA-6046-8EA4-319039EAA564}" type="presOf" srcId="{76182BCD-3A88-224C-B188-9BB19E827CCA}" destId="{3F0A22C7-9902-5A4A-9D72-A9AF41E1F85C}" srcOrd="1" destOrd="2" presId="urn:microsoft.com/office/officeart/2005/8/layout/vList4"/>
    <dgm:cxn modelId="{47FBC9AD-69DC-8E46-832D-6DD4EAC57631}" srcId="{5828E4DD-36D2-F140-9F1D-F1E57FFB93CB}" destId="{DCB623DE-A832-D648-A198-D04B79F27F79}" srcOrd="0" destOrd="0" parTransId="{DB605352-AD21-404B-88F0-C406F418C6FB}" sibTransId="{A2D01755-40F7-944E-931B-A509D3E762B6}"/>
    <dgm:cxn modelId="{EB7B8FB9-E760-ED4D-94E5-B9898220FC44}" type="presOf" srcId="{B1D74FD6-B898-D24C-BB08-ACBC91E34E60}" destId="{8A85BF51-FDA3-0241-9DCD-68EA1D0029C1}" srcOrd="0" destOrd="3" presId="urn:microsoft.com/office/officeart/2005/8/layout/vList4"/>
    <dgm:cxn modelId="{9D12B3BB-3BAD-B046-ADD0-4DE3D2C4F194}" srcId="{5828E4DD-36D2-F140-9F1D-F1E57FFB93CB}" destId="{0603479D-0B2E-E546-B487-67719F6418A5}" srcOrd="1" destOrd="0" parTransId="{FA077EFE-BB7C-4641-8ED3-D777BB94AA2F}" sibTransId="{2CC9C9A0-7BDB-5B4E-8424-122F9886A07F}"/>
    <dgm:cxn modelId="{79043DC2-FED2-F542-B117-8C06D6B7772B}" srcId="{E4132020-A1AA-DD40-A7C8-3274B48FFEA3}" destId="{B1D74FD6-B898-D24C-BB08-ACBC91E34E60}" srcOrd="2" destOrd="0" parTransId="{A7228038-12ED-2447-9FA3-51AA8088154E}" sibTransId="{DAF03CA5-3DCF-2043-AF48-1A9ABB3FA9BA}"/>
    <dgm:cxn modelId="{93B0C8CA-0576-1646-8AAE-01C0ABF06224}" type="presOf" srcId="{0603479D-0B2E-E546-B487-67719F6418A5}" destId="{75D425FA-9CEA-8349-9EC8-C4F77BAF72C6}" srcOrd="1" destOrd="2" presId="urn:microsoft.com/office/officeart/2005/8/layout/vList4"/>
    <dgm:cxn modelId="{92E25AD8-4015-114E-977E-E22D9D4CD8AF}" type="presOf" srcId="{2FFA8DE1-E2D2-CE43-9258-5E0063B01129}" destId="{6E474A1C-FCF6-3241-8BD9-B8D83DF92F7B}" srcOrd="0" destOrd="0" presId="urn:microsoft.com/office/officeart/2005/8/layout/vList4"/>
    <dgm:cxn modelId="{136536E1-5168-8F4C-BCF9-9569AF8D2107}" type="presOf" srcId="{E4132020-A1AA-DD40-A7C8-3274B48FFEA3}" destId="{8A85BF51-FDA3-0241-9DCD-68EA1D0029C1}" srcOrd="0" destOrd="0" presId="urn:microsoft.com/office/officeart/2005/8/layout/vList4"/>
    <dgm:cxn modelId="{68E920E5-7C33-9544-8D52-AD697358C02D}" type="presOf" srcId="{3E3429BA-B52B-0F47-9183-6407534E96E5}" destId="{8A85BF51-FDA3-0241-9DCD-68EA1D0029C1}" srcOrd="0" destOrd="2" presId="urn:microsoft.com/office/officeart/2005/8/layout/vList4"/>
    <dgm:cxn modelId="{3FE174EC-662F-B248-B941-F91876EFF5DA}" type="presOf" srcId="{E4132020-A1AA-DD40-A7C8-3274B48FFEA3}" destId="{FEBC1EEF-A90A-A949-A3BB-FEF11C0FE933}" srcOrd="1" destOrd="0" presId="urn:microsoft.com/office/officeart/2005/8/layout/vList4"/>
    <dgm:cxn modelId="{18F84AF7-8F78-E241-8E6F-923EC68425D4}" srcId="{2FFA8DE1-E2D2-CE43-9258-5E0063B01129}" destId="{5828E4DD-36D2-F140-9F1D-F1E57FFB93CB}" srcOrd="0" destOrd="0" parTransId="{D2600644-E0D8-5A43-9E5A-C45004F46657}" sibTransId="{E65F3A3E-182B-624E-9565-E257908129FA}"/>
    <dgm:cxn modelId="{38E8B472-52F7-3C40-987C-19F62C3D202A}" type="presParOf" srcId="{6E474A1C-FCF6-3241-8BD9-B8D83DF92F7B}" destId="{391F2B27-752B-744E-A0D5-440DFAEA0DB3}" srcOrd="0" destOrd="0" presId="urn:microsoft.com/office/officeart/2005/8/layout/vList4"/>
    <dgm:cxn modelId="{5B464472-5281-8445-8EDB-4D4FFBD83E4F}" type="presParOf" srcId="{391F2B27-752B-744E-A0D5-440DFAEA0DB3}" destId="{CBB3F785-8A31-1F4F-BEF3-41C5F0E67901}" srcOrd="0" destOrd="0" presId="urn:microsoft.com/office/officeart/2005/8/layout/vList4"/>
    <dgm:cxn modelId="{F325A96D-29C8-D541-B0E5-36BB5A024C5F}" type="presParOf" srcId="{391F2B27-752B-744E-A0D5-440DFAEA0DB3}" destId="{A5791972-E9F3-0E40-9E4C-BC6BA980B304}" srcOrd="1" destOrd="0" presId="urn:microsoft.com/office/officeart/2005/8/layout/vList4"/>
    <dgm:cxn modelId="{05C7FA70-8C46-4640-809C-46EF7B6FACEB}" type="presParOf" srcId="{391F2B27-752B-744E-A0D5-440DFAEA0DB3}" destId="{75D425FA-9CEA-8349-9EC8-C4F77BAF72C6}" srcOrd="2" destOrd="0" presId="urn:microsoft.com/office/officeart/2005/8/layout/vList4"/>
    <dgm:cxn modelId="{667000F7-6CD7-0C41-B53F-BF2B084EC71A}" type="presParOf" srcId="{6E474A1C-FCF6-3241-8BD9-B8D83DF92F7B}" destId="{2EA8E097-A2BD-F944-9199-83C16142D217}" srcOrd="1" destOrd="0" presId="urn:microsoft.com/office/officeart/2005/8/layout/vList4"/>
    <dgm:cxn modelId="{5158F17F-346B-7A4E-A062-871F563F0EE4}" type="presParOf" srcId="{6E474A1C-FCF6-3241-8BD9-B8D83DF92F7B}" destId="{9DEA43B3-B850-324A-A4E6-4727AF836782}" srcOrd="2" destOrd="0" presId="urn:microsoft.com/office/officeart/2005/8/layout/vList4"/>
    <dgm:cxn modelId="{83FEE8C0-591C-2140-8DEC-3681B4542C96}" type="presParOf" srcId="{9DEA43B3-B850-324A-A4E6-4727AF836782}" destId="{2F082133-3790-304C-9FAF-AC5ABC34DB14}" srcOrd="0" destOrd="0" presId="urn:microsoft.com/office/officeart/2005/8/layout/vList4"/>
    <dgm:cxn modelId="{6B940A0E-7D1A-0145-A978-87573DBEB673}" type="presParOf" srcId="{9DEA43B3-B850-324A-A4E6-4727AF836782}" destId="{43EF3C64-362C-AF4B-A6EB-86E20A54F4EF}" srcOrd="1" destOrd="0" presId="urn:microsoft.com/office/officeart/2005/8/layout/vList4"/>
    <dgm:cxn modelId="{BB13A5C5-1451-BE4A-98FA-011BA29E7225}" type="presParOf" srcId="{9DEA43B3-B850-324A-A4E6-4727AF836782}" destId="{3F0A22C7-9902-5A4A-9D72-A9AF41E1F85C}" srcOrd="2" destOrd="0" presId="urn:microsoft.com/office/officeart/2005/8/layout/vList4"/>
    <dgm:cxn modelId="{9D07F36A-CD6A-3A49-B598-3B3CAED63418}" type="presParOf" srcId="{6E474A1C-FCF6-3241-8BD9-B8D83DF92F7B}" destId="{2DFF74AE-1348-6E47-8BD1-044267A6830D}" srcOrd="3" destOrd="0" presId="urn:microsoft.com/office/officeart/2005/8/layout/vList4"/>
    <dgm:cxn modelId="{5AA4DE0B-EE37-C944-9738-D430BB6A3227}" type="presParOf" srcId="{6E474A1C-FCF6-3241-8BD9-B8D83DF92F7B}" destId="{65CF0D9F-F5B1-9748-9856-0BB4C65FAAA1}" srcOrd="4" destOrd="0" presId="urn:microsoft.com/office/officeart/2005/8/layout/vList4"/>
    <dgm:cxn modelId="{2F9D56D1-0626-0A4C-9ECC-4FB2899A80AB}" type="presParOf" srcId="{65CF0D9F-F5B1-9748-9856-0BB4C65FAAA1}" destId="{8A85BF51-FDA3-0241-9DCD-68EA1D0029C1}" srcOrd="0" destOrd="0" presId="urn:microsoft.com/office/officeart/2005/8/layout/vList4"/>
    <dgm:cxn modelId="{BC49A284-85CD-094C-813A-F4C7ABD4A36F}" type="presParOf" srcId="{65CF0D9F-F5B1-9748-9856-0BB4C65FAAA1}" destId="{3160B71B-1B23-544C-B290-FBEB69C2E4EC}" srcOrd="1" destOrd="0" presId="urn:microsoft.com/office/officeart/2005/8/layout/vList4"/>
    <dgm:cxn modelId="{27C15BEB-5CF0-A04B-92B5-D8BFF360A2B4}" type="presParOf" srcId="{65CF0D9F-F5B1-9748-9856-0BB4C65FAAA1}" destId="{FEBC1EEF-A90A-A949-A3BB-FEF11C0FE933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FA8DE1-E2D2-CE43-9258-5E0063B01129}" type="doc">
      <dgm:prSet loTypeId="urn:microsoft.com/office/officeart/2005/8/layout/vList4" loCatId="" qsTypeId="urn:microsoft.com/office/officeart/2005/8/quickstyle/simple1" qsCatId="simple" csTypeId="urn:microsoft.com/office/officeart/2005/8/colors/colorful1" csCatId="colorful" phldr="1"/>
      <dgm:spPr/>
    </dgm:pt>
    <dgm:pt modelId="{5828E4DD-36D2-F140-9F1D-F1E57FFB93CB}">
      <dgm:prSet phldrT="[Texto]"/>
      <dgm:spPr>
        <a:blipFill>
          <a:blip xmlns:r="http://schemas.openxmlformats.org/officeDocument/2006/relationships" r:embed="rId1"/>
          <a:stretch>
            <a:fillRect t="-1835"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D2600644-E0D8-5A43-9E5A-C45004F46657}" type="parTrans" cxnId="{18F84AF7-8F78-E241-8E6F-923EC68425D4}">
      <dgm:prSet/>
      <dgm:spPr/>
      <dgm:t>
        <a:bodyPr/>
        <a:lstStyle/>
        <a:p>
          <a:endParaRPr lang="es-MX"/>
        </a:p>
      </dgm:t>
    </dgm:pt>
    <dgm:pt modelId="{E65F3A3E-182B-624E-9565-E257908129FA}" type="sibTrans" cxnId="{18F84AF7-8F78-E241-8E6F-923EC68425D4}">
      <dgm:prSet/>
      <dgm:spPr/>
      <dgm:t>
        <a:bodyPr/>
        <a:lstStyle/>
        <a:p>
          <a:endParaRPr lang="es-MX"/>
        </a:p>
      </dgm:t>
    </dgm:pt>
    <dgm:pt modelId="{81DC472D-238F-7B42-8766-00B31C4FCA87}">
      <dgm:prSet phldrT="[Texto]"/>
      <dgm:spPr>
        <a:blipFill>
          <a:blip xmlns:r="http://schemas.openxmlformats.org/officeDocument/2006/relationships" r:embed="rId2"/>
          <a:stretch>
            <a:fillRect t="-2752"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240B979C-B05F-DE45-86A3-6011C4FD53C4}" type="parTrans" cxnId="{CD7D5E07-7EB3-2E45-8D0C-F29CA0AE2CDA}">
      <dgm:prSet/>
      <dgm:spPr/>
      <dgm:t>
        <a:bodyPr/>
        <a:lstStyle/>
        <a:p>
          <a:endParaRPr lang="es-MX"/>
        </a:p>
      </dgm:t>
    </dgm:pt>
    <dgm:pt modelId="{F1BC528B-E031-FB45-8267-D953D78E26DF}" type="sibTrans" cxnId="{CD7D5E07-7EB3-2E45-8D0C-F29CA0AE2CDA}">
      <dgm:prSet/>
      <dgm:spPr/>
      <dgm:t>
        <a:bodyPr/>
        <a:lstStyle/>
        <a:p>
          <a:endParaRPr lang="es-MX"/>
        </a:p>
      </dgm:t>
    </dgm:pt>
    <dgm:pt modelId="{E4132020-A1AA-DD40-A7C8-3274B48FFEA3}">
      <dgm:prSet phldrT="[Texto]"/>
      <dgm:spPr>
        <a:blipFill>
          <a:blip xmlns:r="http://schemas.openxmlformats.org/officeDocument/2006/relationships" r:embed="rId3"/>
          <a:stretch>
            <a:fillRect t="-1835"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4AE97437-64D1-7E44-9F13-F6CB81078510}" type="parTrans" cxnId="{3708914E-9D77-9C41-B1D6-7D5A21EC1EFA}">
      <dgm:prSet/>
      <dgm:spPr/>
      <dgm:t>
        <a:bodyPr/>
        <a:lstStyle/>
        <a:p>
          <a:endParaRPr lang="es-MX"/>
        </a:p>
      </dgm:t>
    </dgm:pt>
    <dgm:pt modelId="{200B536F-F853-CA48-BFC1-B4539C2B169B}" type="sibTrans" cxnId="{3708914E-9D77-9C41-B1D6-7D5A21EC1EFA}">
      <dgm:prSet/>
      <dgm:spPr/>
      <dgm:t>
        <a:bodyPr/>
        <a:lstStyle/>
        <a:p>
          <a:endParaRPr lang="es-MX"/>
        </a:p>
      </dgm:t>
    </dgm:pt>
    <dgm:pt modelId="{DCB623DE-A832-D648-A198-D04B79F27F79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DB605352-AD21-404B-88F0-C406F418C6FB}" type="parTrans" cxnId="{47FBC9AD-69DC-8E46-832D-6DD4EAC57631}">
      <dgm:prSet/>
      <dgm:spPr/>
      <dgm:t>
        <a:bodyPr/>
        <a:lstStyle/>
        <a:p>
          <a:endParaRPr lang="es-MX"/>
        </a:p>
      </dgm:t>
    </dgm:pt>
    <dgm:pt modelId="{A2D01755-40F7-944E-931B-A509D3E762B6}" type="sibTrans" cxnId="{47FBC9AD-69DC-8E46-832D-6DD4EAC57631}">
      <dgm:prSet/>
      <dgm:spPr/>
      <dgm:t>
        <a:bodyPr/>
        <a:lstStyle/>
        <a:p>
          <a:endParaRPr lang="es-MX"/>
        </a:p>
      </dgm:t>
    </dgm:pt>
    <dgm:pt modelId="{BBF27D3A-DC06-7144-9447-A629A2A8DBA0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2C550E71-7219-894A-A485-1FFF503BEF1B}" type="parTrans" cxnId="{85C75412-99ED-7447-AA7F-F7934D299932}">
      <dgm:prSet/>
      <dgm:spPr/>
      <dgm:t>
        <a:bodyPr/>
        <a:lstStyle/>
        <a:p>
          <a:endParaRPr lang="es-MX"/>
        </a:p>
      </dgm:t>
    </dgm:pt>
    <dgm:pt modelId="{D105D9DD-BF8C-8246-ABCB-8097F3FE73E1}" type="sibTrans" cxnId="{85C75412-99ED-7447-AA7F-F7934D299932}">
      <dgm:prSet/>
      <dgm:spPr/>
      <dgm:t>
        <a:bodyPr/>
        <a:lstStyle/>
        <a:p>
          <a:endParaRPr lang="es-MX"/>
        </a:p>
      </dgm:t>
    </dgm:pt>
    <dgm:pt modelId="{76182BCD-3A88-224C-B188-9BB19E827CCA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1B44BB3D-61BE-4E41-B580-176DB2896772}" type="parTrans" cxnId="{1CA2197F-DB9E-C140-AF83-09E211BBF300}">
      <dgm:prSet/>
      <dgm:spPr/>
      <dgm:t>
        <a:bodyPr/>
        <a:lstStyle/>
        <a:p>
          <a:endParaRPr lang="es-MX"/>
        </a:p>
      </dgm:t>
    </dgm:pt>
    <dgm:pt modelId="{E25B1610-28B6-8545-9106-629EC4610BC2}" type="sibTrans" cxnId="{1CA2197F-DB9E-C140-AF83-09E211BBF300}">
      <dgm:prSet/>
      <dgm:spPr/>
      <dgm:t>
        <a:bodyPr/>
        <a:lstStyle/>
        <a:p>
          <a:endParaRPr lang="es-MX"/>
        </a:p>
      </dgm:t>
    </dgm:pt>
    <dgm:pt modelId="{0603479D-0B2E-E546-B487-67719F6418A5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FA077EFE-BB7C-4641-8ED3-D777BB94AA2F}" type="parTrans" cxnId="{9D12B3BB-3BAD-B046-ADD0-4DE3D2C4F194}">
      <dgm:prSet/>
      <dgm:spPr/>
      <dgm:t>
        <a:bodyPr/>
        <a:lstStyle/>
        <a:p>
          <a:endParaRPr lang="es-MX"/>
        </a:p>
      </dgm:t>
    </dgm:pt>
    <dgm:pt modelId="{2CC9C9A0-7BDB-5B4E-8424-122F9886A07F}" type="sibTrans" cxnId="{9D12B3BB-3BAD-B046-ADD0-4DE3D2C4F194}">
      <dgm:prSet/>
      <dgm:spPr/>
      <dgm:t>
        <a:bodyPr/>
        <a:lstStyle/>
        <a:p>
          <a:endParaRPr lang="es-MX"/>
        </a:p>
      </dgm:t>
    </dgm:pt>
    <dgm:pt modelId="{B1D74FD6-B898-D24C-BB08-ACBC91E34E60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A7228038-12ED-2447-9FA3-51AA8088154E}" type="parTrans" cxnId="{79043DC2-FED2-F542-B117-8C06D6B7772B}">
      <dgm:prSet/>
      <dgm:spPr/>
      <dgm:t>
        <a:bodyPr/>
        <a:lstStyle/>
        <a:p>
          <a:endParaRPr lang="es-MX"/>
        </a:p>
      </dgm:t>
    </dgm:pt>
    <dgm:pt modelId="{DAF03CA5-3DCF-2043-AF48-1A9ABB3FA9BA}" type="sibTrans" cxnId="{79043DC2-FED2-F542-B117-8C06D6B7772B}">
      <dgm:prSet/>
      <dgm:spPr/>
      <dgm:t>
        <a:bodyPr/>
        <a:lstStyle/>
        <a:p>
          <a:endParaRPr lang="es-MX"/>
        </a:p>
      </dgm:t>
    </dgm:pt>
    <dgm:pt modelId="{3E3429BA-B52B-0F47-9183-6407534E96E5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BBFB4694-D60E-024E-82D5-485052E40FDE}" type="parTrans" cxnId="{7396A359-FD53-D04D-90EA-28023CDD0D17}">
      <dgm:prSet/>
      <dgm:spPr/>
      <dgm:t>
        <a:bodyPr/>
        <a:lstStyle/>
        <a:p>
          <a:endParaRPr lang="es-MX"/>
        </a:p>
      </dgm:t>
    </dgm:pt>
    <dgm:pt modelId="{5AA3064C-A8A8-A841-9268-62EEE39EC876}" type="sibTrans" cxnId="{7396A359-FD53-D04D-90EA-28023CDD0D17}">
      <dgm:prSet/>
      <dgm:spPr/>
      <dgm:t>
        <a:bodyPr/>
        <a:lstStyle/>
        <a:p>
          <a:endParaRPr lang="es-MX"/>
        </a:p>
      </dgm:t>
    </dgm:pt>
    <dgm:pt modelId="{FC91A75D-C80D-4940-B9C5-7AC3A626E633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638106EA-0A09-604A-A1AB-3A24A70FA427}" type="parTrans" cxnId="{33A8613D-5DCE-CC47-BC97-917AEFD6DCF5}">
      <dgm:prSet/>
      <dgm:spPr/>
      <dgm:t>
        <a:bodyPr/>
        <a:lstStyle/>
        <a:p>
          <a:endParaRPr lang="es-MX"/>
        </a:p>
      </dgm:t>
    </dgm:pt>
    <dgm:pt modelId="{CF4A5BB0-177D-A441-9ECC-AAA422C70D4E}" type="sibTrans" cxnId="{33A8613D-5DCE-CC47-BC97-917AEFD6DCF5}">
      <dgm:prSet/>
      <dgm:spPr/>
      <dgm:t>
        <a:bodyPr/>
        <a:lstStyle/>
        <a:p>
          <a:endParaRPr lang="es-MX"/>
        </a:p>
      </dgm:t>
    </dgm:pt>
    <dgm:pt modelId="{6E474A1C-FCF6-3241-8BD9-B8D83DF92F7B}" type="pres">
      <dgm:prSet presAssocID="{2FFA8DE1-E2D2-CE43-9258-5E0063B01129}" presName="linear" presStyleCnt="0">
        <dgm:presLayoutVars>
          <dgm:dir/>
          <dgm:resizeHandles val="exact"/>
        </dgm:presLayoutVars>
      </dgm:prSet>
      <dgm:spPr/>
    </dgm:pt>
    <dgm:pt modelId="{391F2B27-752B-744E-A0D5-440DFAEA0DB3}" type="pres">
      <dgm:prSet presAssocID="{5828E4DD-36D2-F140-9F1D-F1E57FFB93CB}" presName="comp" presStyleCnt="0"/>
      <dgm:spPr/>
    </dgm:pt>
    <dgm:pt modelId="{CBB3F785-8A31-1F4F-BEF3-41C5F0E67901}" type="pres">
      <dgm:prSet presAssocID="{5828E4DD-36D2-F140-9F1D-F1E57FFB93CB}" presName="box" presStyleLbl="node1" presStyleIdx="0" presStyleCnt="3"/>
      <dgm:spPr/>
    </dgm:pt>
    <dgm:pt modelId="{A5791972-E9F3-0E40-9E4C-BC6BA980B304}" type="pres">
      <dgm:prSet presAssocID="{5828E4DD-36D2-F140-9F1D-F1E57FFB93CB}" presName="img" presStyleLbl="fgImgPlace1" presStyleIdx="0" presStyleCnt="3"/>
      <dgm:spPr/>
    </dgm:pt>
    <dgm:pt modelId="{75D425FA-9CEA-8349-9EC8-C4F77BAF72C6}" type="pres">
      <dgm:prSet presAssocID="{5828E4DD-36D2-F140-9F1D-F1E57FFB93CB}" presName="text" presStyleLbl="node1" presStyleIdx="0" presStyleCnt="3">
        <dgm:presLayoutVars>
          <dgm:bulletEnabled val="1"/>
        </dgm:presLayoutVars>
      </dgm:prSet>
      <dgm:spPr/>
    </dgm:pt>
    <dgm:pt modelId="{2EA8E097-A2BD-F944-9199-83C16142D217}" type="pres">
      <dgm:prSet presAssocID="{E65F3A3E-182B-624E-9565-E257908129FA}" presName="spacer" presStyleCnt="0"/>
      <dgm:spPr/>
    </dgm:pt>
    <dgm:pt modelId="{9DEA43B3-B850-324A-A4E6-4727AF836782}" type="pres">
      <dgm:prSet presAssocID="{81DC472D-238F-7B42-8766-00B31C4FCA87}" presName="comp" presStyleCnt="0"/>
      <dgm:spPr/>
    </dgm:pt>
    <dgm:pt modelId="{2F082133-3790-304C-9FAF-AC5ABC34DB14}" type="pres">
      <dgm:prSet presAssocID="{81DC472D-238F-7B42-8766-00B31C4FCA87}" presName="box" presStyleLbl="node1" presStyleIdx="1" presStyleCnt="3"/>
      <dgm:spPr/>
    </dgm:pt>
    <dgm:pt modelId="{43EF3C64-362C-AF4B-A6EB-86E20A54F4EF}" type="pres">
      <dgm:prSet presAssocID="{81DC472D-238F-7B42-8766-00B31C4FCA87}" presName="img" presStyleLbl="fgImgPlac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3F0A22C7-9902-5A4A-9D72-A9AF41E1F85C}" type="pres">
      <dgm:prSet presAssocID="{81DC472D-238F-7B42-8766-00B31C4FCA87}" presName="text" presStyleLbl="node1" presStyleIdx="1" presStyleCnt="3">
        <dgm:presLayoutVars>
          <dgm:bulletEnabled val="1"/>
        </dgm:presLayoutVars>
      </dgm:prSet>
      <dgm:spPr/>
    </dgm:pt>
    <dgm:pt modelId="{2DFF74AE-1348-6E47-8BD1-044267A6830D}" type="pres">
      <dgm:prSet presAssocID="{F1BC528B-E031-FB45-8267-D953D78E26DF}" presName="spacer" presStyleCnt="0"/>
      <dgm:spPr/>
    </dgm:pt>
    <dgm:pt modelId="{65CF0D9F-F5B1-9748-9856-0BB4C65FAAA1}" type="pres">
      <dgm:prSet presAssocID="{E4132020-A1AA-DD40-A7C8-3274B48FFEA3}" presName="comp" presStyleCnt="0"/>
      <dgm:spPr/>
    </dgm:pt>
    <dgm:pt modelId="{8A85BF51-FDA3-0241-9DCD-68EA1D0029C1}" type="pres">
      <dgm:prSet presAssocID="{E4132020-A1AA-DD40-A7C8-3274B48FFEA3}" presName="box" presStyleLbl="node1" presStyleIdx="2" presStyleCnt="3"/>
      <dgm:spPr/>
    </dgm:pt>
    <dgm:pt modelId="{3160B71B-1B23-544C-B290-FBEB69C2E4EC}" type="pres">
      <dgm:prSet presAssocID="{E4132020-A1AA-DD40-A7C8-3274B48FFEA3}" presName="img" presStyleLbl="fgImgPlac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</dgm:spPr>
    </dgm:pt>
    <dgm:pt modelId="{FEBC1EEF-A90A-A949-A3BB-FEF11C0FE933}" type="pres">
      <dgm:prSet presAssocID="{E4132020-A1AA-DD40-A7C8-3274B48FFEA3}" presName="text" presStyleLbl="node1" presStyleIdx="2" presStyleCnt="3">
        <dgm:presLayoutVars>
          <dgm:bulletEnabled val="1"/>
        </dgm:presLayoutVars>
      </dgm:prSet>
      <dgm:spPr/>
    </dgm:pt>
  </dgm:ptLst>
  <dgm:cxnLst>
    <dgm:cxn modelId="{CD7D5E07-7EB3-2E45-8D0C-F29CA0AE2CDA}" srcId="{2FFA8DE1-E2D2-CE43-9258-5E0063B01129}" destId="{81DC472D-238F-7B42-8766-00B31C4FCA87}" srcOrd="1" destOrd="0" parTransId="{240B979C-B05F-DE45-86A3-6011C4FD53C4}" sibTransId="{F1BC528B-E031-FB45-8267-D953D78E26DF}"/>
    <dgm:cxn modelId="{8635C510-3683-8741-9642-967028FB33E0}" type="presOf" srcId="{DCB623DE-A832-D648-A198-D04B79F27F79}" destId="{75D425FA-9CEA-8349-9EC8-C4F77BAF72C6}" srcOrd="1" destOrd="1" presId="urn:microsoft.com/office/officeart/2005/8/layout/vList4"/>
    <dgm:cxn modelId="{85C75412-99ED-7447-AA7F-F7934D299932}" srcId="{81DC472D-238F-7B42-8766-00B31C4FCA87}" destId="{BBF27D3A-DC06-7144-9447-A629A2A8DBA0}" srcOrd="0" destOrd="0" parTransId="{2C550E71-7219-894A-A485-1FFF503BEF1B}" sibTransId="{D105D9DD-BF8C-8246-ABCB-8097F3FE73E1}"/>
    <dgm:cxn modelId="{B6BF162A-1F6B-2144-8586-3E8910397C87}" type="presOf" srcId="{5828E4DD-36D2-F140-9F1D-F1E57FFB93CB}" destId="{CBB3F785-8A31-1F4F-BEF3-41C5F0E67901}" srcOrd="0" destOrd="0" presId="urn:microsoft.com/office/officeart/2005/8/layout/vList4"/>
    <dgm:cxn modelId="{66CBDE2F-E288-D846-89FC-BEDA74E08C15}" type="presOf" srcId="{BBF27D3A-DC06-7144-9447-A629A2A8DBA0}" destId="{2F082133-3790-304C-9FAF-AC5ABC34DB14}" srcOrd="0" destOrd="1" presId="urn:microsoft.com/office/officeart/2005/8/layout/vList4"/>
    <dgm:cxn modelId="{45211D33-9522-6F48-AD8B-10F58E99874C}" type="presOf" srcId="{DCB623DE-A832-D648-A198-D04B79F27F79}" destId="{CBB3F785-8A31-1F4F-BEF3-41C5F0E67901}" srcOrd="0" destOrd="1" presId="urn:microsoft.com/office/officeart/2005/8/layout/vList4"/>
    <dgm:cxn modelId="{CF5ABB33-E76D-1345-99AF-590CE44820D5}" type="presOf" srcId="{B1D74FD6-B898-D24C-BB08-ACBC91E34E60}" destId="{FEBC1EEF-A90A-A949-A3BB-FEF11C0FE933}" srcOrd="1" destOrd="3" presId="urn:microsoft.com/office/officeart/2005/8/layout/vList4"/>
    <dgm:cxn modelId="{33A8613D-5DCE-CC47-BC97-917AEFD6DCF5}" srcId="{E4132020-A1AA-DD40-A7C8-3274B48FFEA3}" destId="{FC91A75D-C80D-4940-B9C5-7AC3A626E633}" srcOrd="0" destOrd="0" parTransId="{638106EA-0A09-604A-A1AB-3A24A70FA427}" sibTransId="{CF4A5BB0-177D-A441-9ECC-AAA422C70D4E}"/>
    <dgm:cxn modelId="{2E1A0D44-5AB6-214B-A76B-0B6B2506BBA0}" type="presOf" srcId="{5828E4DD-36D2-F140-9F1D-F1E57FFB93CB}" destId="{75D425FA-9CEA-8349-9EC8-C4F77BAF72C6}" srcOrd="1" destOrd="0" presId="urn:microsoft.com/office/officeart/2005/8/layout/vList4"/>
    <dgm:cxn modelId="{FE2E024B-58EF-D945-8EE8-D3001030E5B5}" type="presOf" srcId="{3E3429BA-B52B-0F47-9183-6407534E96E5}" destId="{FEBC1EEF-A90A-A949-A3BB-FEF11C0FE933}" srcOrd="1" destOrd="2" presId="urn:microsoft.com/office/officeart/2005/8/layout/vList4"/>
    <dgm:cxn modelId="{3708914E-9D77-9C41-B1D6-7D5A21EC1EFA}" srcId="{2FFA8DE1-E2D2-CE43-9258-5E0063B01129}" destId="{E4132020-A1AA-DD40-A7C8-3274B48FFEA3}" srcOrd="2" destOrd="0" parTransId="{4AE97437-64D1-7E44-9F13-F6CB81078510}" sibTransId="{200B536F-F853-CA48-BFC1-B4539C2B169B}"/>
    <dgm:cxn modelId="{F1DC064F-1CDD-8747-812C-7C27B5C45490}" type="presOf" srcId="{0603479D-0B2E-E546-B487-67719F6418A5}" destId="{CBB3F785-8A31-1F4F-BEF3-41C5F0E67901}" srcOrd="0" destOrd="2" presId="urn:microsoft.com/office/officeart/2005/8/layout/vList4"/>
    <dgm:cxn modelId="{FCDDFF50-5147-034D-87B4-4F475C362690}" type="presOf" srcId="{81DC472D-238F-7B42-8766-00B31C4FCA87}" destId="{3F0A22C7-9902-5A4A-9D72-A9AF41E1F85C}" srcOrd="1" destOrd="0" presId="urn:microsoft.com/office/officeart/2005/8/layout/vList4"/>
    <dgm:cxn modelId="{965AA353-7FB9-8D4C-A1C8-45B780EA9400}" type="presOf" srcId="{76182BCD-3A88-224C-B188-9BB19E827CCA}" destId="{2F082133-3790-304C-9FAF-AC5ABC34DB14}" srcOrd="0" destOrd="2" presId="urn:microsoft.com/office/officeart/2005/8/layout/vList4"/>
    <dgm:cxn modelId="{7396A359-FD53-D04D-90EA-28023CDD0D17}" srcId="{E4132020-A1AA-DD40-A7C8-3274B48FFEA3}" destId="{3E3429BA-B52B-0F47-9183-6407534E96E5}" srcOrd="1" destOrd="0" parTransId="{BBFB4694-D60E-024E-82D5-485052E40FDE}" sibTransId="{5AA3064C-A8A8-A841-9268-62EEE39EC876}"/>
    <dgm:cxn modelId="{E445655B-E6C7-2347-9FB4-D7F3FFEF9ABA}" type="presOf" srcId="{FC91A75D-C80D-4940-B9C5-7AC3A626E633}" destId="{FEBC1EEF-A90A-A949-A3BB-FEF11C0FE933}" srcOrd="1" destOrd="1" presId="urn:microsoft.com/office/officeart/2005/8/layout/vList4"/>
    <dgm:cxn modelId="{1CA2197F-DB9E-C140-AF83-09E211BBF300}" srcId="{81DC472D-238F-7B42-8766-00B31C4FCA87}" destId="{76182BCD-3A88-224C-B188-9BB19E827CCA}" srcOrd="1" destOrd="0" parTransId="{1B44BB3D-61BE-4E41-B580-176DB2896772}" sibTransId="{E25B1610-28B6-8545-9106-629EC4610BC2}"/>
    <dgm:cxn modelId="{9A28108A-D2F1-0045-9CEB-BB9CBF38E1EE}" type="presOf" srcId="{81DC472D-238F-7B42-8766-00B31C4FCA87}" destId="{2F082133-3790-304C-9FAF-AC5ABC34DB14}" srcOrd="0" destOrd="0" presId="urn:microsoft.com/office/officeart/2005/8/layout/vList4"/>
    <dgm:cxn modelId="{32E38394-A4CA-F446-8A06-ED7996982EBD}" type="presOf" srcId="{FC91A75D-C80D-4940-B9C5-7AC3A626E633}" destId="{8A85BF51-FDA3-0241-9DCD-68EA1D0029C1}" srcOrd="0" destOrd="1" presId="urn:microsoft.com/office/officeart/2005/8/layout/vList4"/>
    <dgm:cxn modelId="{F8DA12A4-CE0E-194C-9D78-03B25507047D}" type="presOf" srcId="{BBF27D3A-DC06-7144-9447-A629A2A8DBA0}" destId="{3F0A22C7-9902-5A4A-9D72-A9AF41E1F85C}" srcOrd="1" destOrd="1" presId="urn:microsoft.com/office/officeart/2005/8/layout/vList4"/>
    <dgm:cxn modelId="{215D0AAC-E9EA-6046-8EA4-319039EAA564}" type="presOf" srcId="{76182BCD-3A88-224C-B188-9BB19E827CCA}" destId="{3F0A22C7-9902-5A4A-9D72-A9AF41E1F85C}" srcOrd="1" destOrd="2" presId="urn:microsoft.com/office/officeart/2005/8/layout/vList4"/>
    <dgm:cxn modelId="{47FBC9AD-69DC-8E46-832D-6DD4EAC57631}" srcId="{5828E4DD-36D2-F140-9F1D-F1E57FFB93CB}" destId="{DCB623DE-A832-D648-A198-D04B79F27F79}" srcOrd="0" destOrd="0" parTransId="{DB605352-AD21-404B-88F0-C406F418C6FB}" sibTransId="{A2D01755-40F7-944E-931B-A509D3E762B6}"/>
    <dgm:cxn modelId="{EB7B8FB9-E760-ED4D-94E5-B9898220FC44}" type="presOf" srcId="{B1D74FD6-B898-D24C-BB08-ACBC91E34E60}" destId="{8A85BF51-FDA3-0241-9DCD-68EA1D0029C1}" srcOrd="0" destOrd="3" presId="urn:microsoft.com/office/officeart/2005/8/layout/vList4"/>
    <dgm:cxn modelId="{9D12B3BB-3BAD-B046-ADD0-4DE3D2C4F194}" srcId="{5828E4DD-36D2-F140-9F1D-F1E57FFB93CB}" destId="{0603479D-0B2E-E546-B487-67719F6418A5}" srcOrd="1" destOrd="0" parTransId="{FA077EFE-BB7C-4641-8ED3-D777BB94AA2F}" sibTransId="{2CC9C9A0-7BDB-5B4E-8424-122F9886A07F}"/>
    <dgm:cxn modelId="{79043DC2-FED2-F542-B117-8C06D6B7772B}" srcId="{E4132020-A1AA-DD40-A7C8-3274B48FFEA3}" destId="{B1D74FD6-B898-D24C-BB08-ACBC91E34E60}" srcOrd="2" destOrd="0" parTransId="{A7228038-12ED-2447-9FA3-51AA8088154E}" sibTransId="{DAF03CA5-3DCF-2043-AF48-1A9ABB3FA9BA}"/>
    <dgm:cxn modelId="{93B0C8CA-0576-1646-8AAE-01C0ABF06224}" type="presOf" srcId="{0603479D-0B2E-E546-B487-67719F6418A5}" destId="{75D425FA-9CEA-8349-9EC8-C4F77BAF72C6}" srcOrd="1" destOrd="2" presId="urn:microsoft.com/office/officeart/2005/8/layout/vList4"/>
    <dgm:cxn modelId="{92E25AD8-4015-114E-977E-E22D9D4CD8AF}" type="presOf" srcId="{2FFA8DE1-E2D2-CE43-9258-5E0063B01129}" destId="{6E474A1C-FCF6-3241-8BD9-B8D83DF92F7B}" srcOrd="0" destOrd="0" presId="urn:microsoft.com/office/officeart/2005/8/layout/vList4"/>
    <dgm:cxn modelId="{136536E1-5168-8F4C-BCF9-9569AF8D2107}" type="presOf" srcId="{E4132020-A1AA-DD40-A7C8-3274B48FFEA3}" destId="{8A85BF51-FDA3-0241-9DCD-68EA1D0029C1}" srcOrd="0" destOrd="0" presId="urn:microsoft.com/office/officeart/2005/8/layout/vList4"/>
    <dgm:cxn modelId="{68E920E5-7C33-9544-8D52-AD697358C02D}" type="presOf" srcId="{3E3429BA-B52B-0F47-9183-6407534E96E5}" destId="{8A85BF51-FDA3-0241-9DCD-68EA1D0029C1}" srcOrd="0" destOrd="2" presId="urn:microsoft.com/office/officeart/2005/8/layout/vList4"/>
    <dgm:cxn modelId="{3FE174EC-662F-B248-B941-F91876EFF5DA}" type="presOf" srcId="{E4132020-A1AA-DD40-A7C8-3274B48FFEA3}" destId="{FEBC1EEF-A90A-A949-A3BB-FEF11C0FE933}" srcOrd="1" destOrd="0" presId="urn:microsoft.com/office/officeart/2005/8/layout/vList4"/>
    <dgm:cxn modelId="{18F84AF7-8F78-E241-8E6F-923EC68425D4}" srcId="{2FFA8DE1-E2D2-CE43-9258-5E0063B01129}" destId="{5828E4DD-36D2-F140-9F1D-F1E57FFB93CB}" srcOrd="0" destOrd="0" parTransId="{D2600644-E0D8-5A43-9E5A-C45004F46657}" sibTransId="{E65F3A3E-182B-624E-9565-E257908129FA}"/>
    <dgm:cxn modelId="{38E8B472-52F7-3C40-987C-19F62C3D202A}" type="presParOf" srcId="{6E474A1C-FCF6-3241-8BD9-B8D83DF92F7B}" destId="{391F2B27-752B-744E-A0D5-440DFAEA0DB3}" srcOrd="0" destOrd="0" presId="urn:microsoft.com/office/officeart/2005/8/layout/vList4"/>
    <dgm:cxn modelId="{5B464472-5281-8445-8EDB-4D4FFBD83E4F}" type="presParOf" srcId="{391F2B27-752B-744E-A0D5-440DFAEA0DB3}" destId="{CBB3F785-8A31-1F4F-BEF3-41C5F0E67901}" srcOrd="0" destOrd="0" presId="urn:microsoft.com/office/officeart/2005/8/layout/vList4"/>
    <dgm:cxn modelId="{F325A96D-29C8-D541-B0E5-36BB5A024C5F}" type="presParOf" srcId="{391F2B27-752B-744E-A0D5-440DFAEA0DB3}" destId="{A5791972-E9F3-0E40-9E4C-BC6BA980B304}" srcOrd="1" destOrd="0" presId="urn:microsoft.com/office/officeart/2005/8/layout/vList4"/>
    <dgm:cxn modelId="{05C7FA70-8C46-4640-809C-46EF7B6FACEB}" type="presParOf" srcId="{391F2B27-752B-744E-A0D5-440DFAEA0DB3}" destId="{75D425FA-9CEA-8349-9EC8-C4F77BAF72C6}" srcOrd="2" destOrd="0" presId="urn:microsoft.com/office/officeart/2005/8/layout/vList4"/>
    <dgm:cxn modelId="{667000F7-6CD7-0C41-B53F-BF2B084EC71A}" type="presParOf" srcId="{6E474A1C-FCF6-3241-8BD9-B8D83DF92F7B}" destId="{2EA8E097-A2BD-F944-9199-83C16142D217}" srcOrd="1" destOrd="0" presId="urn:microsoft.com/office/officeart/2005/8/layout/vList4"/>
    <dgm:cxn modelId="{5158F17F-346B-7A4E-A062-871F563F0EE4}" type="presParOf" srcId="{6E474A1C-FCF6-3241-8BD9-B8D83DF92F7B}" destId="{9DEA43B3-B850-324A-A4E6-4727AF836782}" srcOrd="2" destOrd="0" presId="urn:microsoft.com/office/officeart/2005/8/layout/vList4"/>
    <dgm:cxn modelId="{83FEE8C0-591C-2140-8DEC-3681B4542C96}" type="presParOf" srcId="{9DEA43B3-B850-324A-A4E6-4727AF836782}" destId="{2F082133-3790-304C-9FAF-AC5ABC34DB14}" srcOrd="0" destOrd="0" presId="urn:microsoft.com/office/officeart/2005/8/layout/vList4"/>
    <dgm:cxn modelId="{6B940A0E-7D1A-0145-A978-87573DBEB673}" type="presParOf" srcId="{9DEA43B3-B850-324A-A4E6-4727AF836782}" destId="{43EF3C64-362C-AF4B-A6EB-86E20A54F4EF}" srcOrd="1" destOrd="0" presId="urn:microsoft.com/office/officeart/2005/8/layout/vList4"/>
    <dgm:cxn modelId="{BB13A5C5-1451-BE4A-98FA-011BA29E7225}" type="presParOf" srcId="{9DEA43B3-B850-324A-A4E6-4727AF836782}" destId="{3F0A22C7-9902-5A4A-9D72-A9AF41E1F85C}" srcOrd="2" destOrd="0" presId="urn:microsoft.com/office/officeart/2005/8/layout/vList4"/>
    <dgm:cxn modelId="{9D07F36A-CD6A-3A49-B598-3B3CAED63418}" type="presParOf" srcId="{6E474A1C-FCF6-3241-8BD9-B8D83DF92F7B}" destId="{2DFF74AE-1348-6E47-8BD1-044267A6830D}" srcOrd="3" destOrd="0" presId="urn:microsoft.com/office/officeart/2005/8/layout/vList4"/>
    <dgm:cxn modelId="{5AA4DE0B-EE37-C944-9738-D430BB6A3227}" type="presParOf" srcId="{6E474A1C-FCF6-3241-8BD9-B8D83DF92F7B}" destId="{65CF0D9F-F5B1-9748-9856-0BB4C65FAAA1}" srcOrd="4" destOrd="0" presId="urn:microsoft.com/office/officeart/2005/8/layout/vList4"/>
    <dgm:cxn modelId="{2F9D56D1-0626-0A4C-9ECC-4FB2899A80AB}" type="presParOf" srcId="{65CF0D9F-F5B1-9748-9856-0BB4C65FAAA1}" destId="{8A85BF51-FDA3-0241-9DCD-68EA1D0029C1}" srcOrd="0" destOrd="0" presId="urn:microsoft.com/office/officeart/2005/8/layout/vList4"/>
    <dgm:cxn modelId="{BC49A284-85CD-094C-813A-F4C7ABD4A36F}" type="presParOf" srcId="{65CF0D9F-F5B1-9748-9856-0BB4C65FAAA1}" destId="{3160B71B-1B23-544C-B290-FBEB69C2E4EC}" srcOrd="1" destOrd="0" presId="urn:microsoft.com/office/officeart/2005/8/layout/vList4"/>
    <dgm:cxn modelId="{27C15BEB-5CF0-A04B-92B5-D8BFF360A2B4}" type="presParOf" srcId="{65CF0D9F-F5B1-9748-9856-0BB4C65FAAA1}" destId="{FEBC1EEF-A90A-A949-A3BB-FEF11C0FE933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B3F785-8A31-1F4F-BEF3-41C5F0E67901}">
      <dsp:nvSpPr>
        <dsp:cNvPr id="0" name=""/>
        <dsp:cNvSpPr/>
      </dsp:nvSpPr>
      <dsp:spPr>
        <a:xfrm>
          <a:off x="0" y="0"/>
          <a:ext cx="10515600" cy="135979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>
              <a:latin typeface="Gill Sans Nova Light" panose="020B0302020104020203" pitchFamily="34" charset="0"/>
            </a:rPr>
            <a:t>Enfoque de Validación Simple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s-ES_tradnl" sz="1500" b="0" i="1" kern="1200" smtClean="0">
                  <a:latin typeface="Cambria Math" panose="02040503050406030204" pitchFamily="18" charset="0"/>
                </a:rPr>
                <m:t>𝐾</m:t>
              </m:r>
              <m:r>
                <a:rPr lang="es-ES_tradnl" sz="1500" b="0" i="1" kern="1200" smtClean="0">
                  <a:latin typeface="Cambria Math" panose="02040503050406030204" pitchFamily="18" charset="0"/>
                </a:rPr>
                <m:t>=1</m:t>
              </m:r>
            </m:oMath>
          </a14:m>
          <a:endParaRPr lang="es-MX" sz="1500" kern="1200" dirty="0">
            <a:latin typeface="Gill Sans Nova Light" panose="020B0302020104020203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500" kern="1200" dirty="0">
              <a:latin typeface="Gill Sans Nova Light" panose="020B0302020104020203" pitchFamily="34" charset="0"/>
            </a:rPr>
            <a:t>1 split de train y test</a:t>
          </a:r>
        </a:p>
      </dsp:txBody>
      <dsp:txXfrm>
        <a:off x="2239099" y="0"/>
        <a:ext cx="8276500" cy="1359793"/>
      </dsp:txXfrm>
    </dsp:sp>
    <dsp:sp modelId="{A5791972-E9F3-0E40-9E4C-BC6BA980B304}">
      <dsp:nvSpPr>
        <dsp:cNvPr id="0" name=""/>
        <dsp:cNvSpPr/>
      </dsp:nvSpPr>
      <dsp:spPr>
        <a:xfrm>
          <a:off x="135979" y="135979"/>
          <a:ext cx="2103120" cy="1087834"/>
        </a:xfrm>
        <a:prstGeom prst="roundRect">
          <a:avLst>
            <a:gd name="adj" fmla="val 10000"/>
          </a:avLst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082133-3790-304C-9FAF-AC5ABC34DB14}">
      <dsp:nvSpPr>
        <dsp:cNvPr id="0" name=""/>
        <dsp:cNvSpPr/>
      </dsp:nvSpPr>
      <dsp:spPr>
        <a:xfrm>
          <a:off x="0" y="1495772"/>
          <a:ext cx="10515600" cy="135979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>
              <a:latin typeface="Gill Sans Nova Light" panose="020B0302020104020203" pitchFamily="34" charset="0"/>
            </a:rPr>
            <a:t>k-fold CV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s-ES_tradnl" sz="1500" b="0" i="1" kern="1200" smtClean="0">
                  <a:latin typeface="Cambria Math" panose="02040503050406030204" pitchFamily="18" charset="0"/>
                </a:rPr>
                <m:t>𝐾</m:t>
              </m:r>
              <m:r>
                <a:rPr lang="es-ES_tradnl" sz="1500" b="0" i="1" kern="1200" smtClean="0">
                  <a:latin typeface="Cambria Math" panose="02040503050406030204" pitchFamily="18" charset="0"/>
                </a:rPr>
                <m:t>=5</m:t>
              </m:r>
            </m:oMath>
          </a14:m>
          <a:r>
            <a:rPr lang="es-MX" sz="1500" kern="1200" dirty="0">
              <a:latin typeface="Gill Sans Nova Light" panose="020B0302020104020203" pitchFamily="34" charset="0"/>
            </a:rPr>
            <a:t> o </a:t>
          </a:r>
          <a14:m xmlns:a14="http://schemas.microsoft.com/office/drawing/2010/main">
            <m:oMath xmlns:m="http://schemas.openxmlformats.org/officeDocument/2006/math">
              <m:r>
                <a:rPr lang="es-ES_tradnl" sz="1500" b="0" i="1" kern="1200" smtClean="0">
                  <a:latin typeface="Cambria Math" panose="02040503050406030204" pitchFamily="18" charset="0"/>
                </a:rPr>
                <m:t>𝐾</m:t>
              </m:r>
              <m:r>
                <a:rPr lang="es-ES_tradnl" sz="1500" b="0" i="1" kern="1200" smtClean="0">
                  <a:latin typeface="Cambria Math" panose="02040503050406030204" pitchFamily="18" charset="0"/>
                </a:rPr>
                <m:t>=10</m:t>
              </m:r>
            </m:oMath>
          </a14:m>
          <a:endParaRPr lang="es-MX" sz="1500" kern="1200" dirty="0">
            <a:latin typeface="Gill Sans Nova Light" panose="020B0302020104020203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500" kern="1200" dirty="0">
              <a:latin typeface="Gill Sans Nova Light" panose="020B0302020104020203" pitchFamily="34" charset="0"/>
            </a:rPr>
            <a:t>5 o 10 splits de train y test </a:t>
          </a:r>
        </a:p>
      </dsp:txBody>
      <dsp:txXfrm>
        <a:off x="2239099" y="1495772"/>
        <a:ext cx="8276500" cy="1359793"/>
      </dsp:txXfrm>
    </dsp:sp>
    <dsp:sp modelId="{43EF3C64-362C-AF4B-A6EB-86E20A54F4EF}">
      <dsp:nvSpPr>
        <dsp:cNvPr id="0" name=""/>
        <dsp:cNvSpPr/>
      </dsp:nvSpPr>
      <dsp:spPr>
        <a:xfrm>
          <a:off x="135979" y="1631751"/>
          <a:ext cx="2103120" cy="108783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85BF51-FDA3-0241-9DCD-68EA1D0029C1}">
      <dsp:nvSpPr>
        <dsp:cNvPr id="0" name=""/>
        <dsp:cNvSpPr/>
      </dsp:nvSpPr>
      <dsp:spPr>
        <a:xfrm>
          <a:off x="0" y="2991544"/>
          <a:ext cx="10515600" cy="13597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>
              <a:latin typeface="Gill Sans Nova Light" panose="020B0302020104020203" pitchFamily="34" charset="0"/>
            </a:rPr>
            <a:t>LOOV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s-ES_tradnl" sz="1500" b="0" i="1" kern="1200" smtClean="0">
                  <a:latin typeface="Cambria Math" panose="02040503050406030204" pitchFamily="18" charset="0"/>
                </a:rPr>
                <m:t>𝐾</m:t>
              </m:r>
              <m:r>
                <a:rPr lang="es-ES_tradnl" sz="1500" b="0" i="1" kern="1200" smtClean="0">
                  <a:latin typeface="Cambria Math" panose="02040503050406030204" pitchFamily="18" charset="0"/>
                </a:rPr>
                <m:t>=</m:t>
              </m:r>
              <m:r>
                <a:rPr lang="en-US" sz="1500" b="0" i="1" kern="1200" smtClean="0">
                  <a:latin typeface="Cambria Math" panose="02040503050406030204" pitchFamily="18" charset="0"/>
                </a:rPr>
                <m:t>𝑁</m:t>
              </m:r>
            </m:oMath>
          </a14:m>
          <a:endParaRPr lang="es-MX" sz="1500" kern="1200" dirty="0">
            <a:latin typeface="Gill Sans Nova Light" panose="020B0302020104020203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500" kern="1200" dirty="0">
              <a:latin typeface="Gill Sans Nova Light" panose="020B0302020104020203" pitchFamily="34" charset="0"/>
            </a:rPr>
            <a:t>cada observacion es usada n-1 veces de entrenamiento y 1 vez de testeo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500" kern="1200" dirty="0">
              <a:latin typeface="Gill Sans Nova Light" panose="020B0302020104020203" pitchFamily="34" charset="0"/>
            </a:rPr>
            <a:t>no hay random splts</a:t>
          </a:r>
        </a:p>
      </dsp:txBody>
      <dsp:txXfrm>
        <a:off x="2239099" y="2991544"/>
        <a:ext cx="8276500" cy="1359793"/>
      </dsp:txXfrm>
    </dsp:sp>
    <dsp:sp modelId="{3160B71B-1B23-544C-B290-FBEB69C2E4EC}">
      <dsp:nvSpPr>
        <dsp:cNvPr id="0" name=""/>
        <dsp:cNvSpPr/>
      </dsp:nvSpPr>
      <dsp:spPr>
        <a:xfrm>
          <a:off x="135979" y="3127524"/>
          <a:ext cx="2103120" cy="108783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FD2768-130B-614C-8F49-55BAE04AC9E5}" type="datetimeFigureOut">
              <a:rPr lang="es-ES_tradnl" smtClean="0"/>
              <a:t>29/10/25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D82E8D-904F-FE4E-AEC7-40B6C99751F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33979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D82E8D-904F-FE4E-AEC7-40B6C99751F7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13752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51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D82E8D-904F-FE4E-AEC7-40B6C99751F7}" type="slidenum">
              <a:rPr lang="es-ES_tradnl" smtClean="0"/>
              <a:t>15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7937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Mas de la historia de Netflix </a:t>
            </a:r>
            <a:r>
              <a:rPr lang="es-ES_tradnl" dirty="0" err="1"/>
              <a:t>Prize</a:t>
            </a:r>
            <a:r>
              <a:rPr lang="es-ES_tradnl" dirty="0"/>
              <a:t>: https://</a:t>
            </a:r>
            <a:r>
              <a:rPr lang="es-ES_tradnl" dirty="0" err="1"/>
              <a:t>en.wikipedia.org</a:t>
            </a:r>
            <a:r>
              <a:rPr lang="es-ES_tradnl" dirty="0"/>
              <a:t>/wiki/</a:t>
            </a:r>
            <a:r>
              <a:rPr lang="es-ES_tradnl" dirty="0" err="1"/>
              <a:t>Netflix_Prize</a:t>
            </a:r>
            <a:r>
              <a:rPr lang="es-ES_tradnl" dirty="0"/>
              <a:t> </a:t>
            </a:r>
          </a:p>
          <a:p>
            <a:r>
              <a:rPr lang="es-ES_tradnl" dirty="0"/>
              <a:t>Mas sobre </a:t>
            </a:r>
            <a:r>
              <a:rPr lang="es-ES_tradnl" dirty="0" err="1"/>
              <a:t>AlixParteners</a:t>
            </a:r>
            <a:r>
              <a:rPr lang="es-ES_tradnl" dirty="0"/>
              <a:t>’ </a:t>
            </a:r>
            <a:r>
              <a:rPr lang="es-ES_tradnl" dirty="0" err="1"/>
              <a:t>Analytics</a:t>
            </a:r>
            <a:r>
              <a:rPr lang="es-ES_tradnl" dirty="0"/>
              <a:t> </a:t>
            </a:r>
            <a:r>
              <a:rPr lang="es-ES_tradnl" dirty="0" err="1"/>
              <a:t>Challange</a:t>
            </a:r>
            <a:r>
              <a:rPr lang="es-ES_tradnl" dirty="0"/>
              <a:t>: https://</a:t>
            </a:r>
            <a:r>
              <a:rPr lang="es-ES_tradnl" dirty="0" err="1"/>
              <a:t>www.alixpartners.com</a:t>
            </a:r>
            <a:r>
              <a:rPr lang="es-ES_tradnl" dirty="0"/>
              <a:t>/</a:t>
            </a:r>
            <a:r>
              <a:rPr lang="es-ES_tradnl" dirty="0" err="1"/>
              <a:t>insights-impact</a:t>
            </a:r>
            <a:r>
              <a:rPr lang="es-ES_tradnl" dirty="0"/>
              <a:t>/</a:t>
            </a:r>
            <a:r>
              <a:rPr lang="es-ES_tradnl" dirty="0" err="1"/>
              <a:t>insights</a:t>
            </a:r>
            <a:r>
              <a:rPr lang="es-ES_tradnl" dirty="0"/>
              <a:t>/</a:t>
            </a:r>
            <a:r>
              <a:rPr lang="es-ES_tradnl" dirty="0" err="1"/>
              <a:t>analytics-challenge</a:t>
            </a:r>
            <a:r>
              <a:rPr lang="es-ES_tradnl" dirty="0"/>
              <a:t>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D82E8D-904F-FE4E-AEC7-40B6C99751F7}" type="slidenum">
              <a:rPr lang="es-ES_tradnl" smtClean="0"/>
              <a:t>17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68577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7317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183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Kohavi</a:t>
            </a:r>
            <a:r>
              <a:rPr lang="es-ES_tradnl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(1995): </a:t>
            </a:r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D82E8D-904F-FE4E-AEC7-40B6C99751F7}" type="slidenum">
              <a:rPr lang="es-ES_tradnl" smtClean="0"/>
              <a:t>29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99453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3727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D82E8D-904F-FE4E-AEC7-40B6C99751F7}" type="slidenum">
              <a:rPr lang="es-ES_tradnl" smtClean="0"/>
              <a:t>36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014941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844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42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4DCD8-7EB1-8047-A2AB-6E788D18FADB}" type="datetime1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278C1CC4-2077-434E-BCF1-5D01C08A9B1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B5FB-DAF5-7B40-B1AF-35CC0811FEB7}" type="datetime1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67F60-1411-2B4A-BCD1-EC230BC346BD}" type="datetime1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7FEE9-12AE-DE4A-9EF2-994B40F4A4F9}" type="datetime1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6CF93-EB58-8944-AD26-960900805666}" type="datetime1">
              <a:rPr lang="en-US" smtClean="0"/>
              <a:t>10/29/25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74389-4B09-0E4D-871E-5E8550FB2FBA}" type="datetime1">
              <a:rPr lang="en-US" smtClean="0"/>
              <a:t>10/29/25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50AA1-7772-2142-B489-05E017ABECE3}" type="datetime1">
              <a:rPr lang="en-US" smtClean="0"/>
              <a:t>10/29/25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C934C-98A6-0244-B4A6-EFCB81F46DCF}" type="datetime1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37429-5211-8E4F-85EE-D9BE49379DCA}" type="datetime1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8F9B8-4A84-6C44-97CE-404E82C7C5A6}" type="datetime1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1047E-3421-884D-931C-76C19C9D605B}" type="datetime1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DD09F69E-A325-574B-B415-C02420AD2FBD}" type="datetime1">
              <a:rPr lang="en-US" noProof="0" smtClean="0"/>
              <a:t>10/29/25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noProof="0" smtClean="0"/>
              <a:pPr/>
              <a:t>‹Nº›</a:t>
            </a:fld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alendly.com/m-n-romero91/30min-office-hour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0.png"/><Relationship Id="rId4" Type="http://schemas.openxmlformats.org/officeDocument/2006/relationships/image" Target="../media/image16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7" Type="http://schemas.openxmlformats.org/officeDocument/2006/relationships/image" Target="../media/image2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10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10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Técnicas de remuestreo:</a:t>
            </a:r>
            <a:b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Cross-Validation &amp; </a:t>
            </a:r>
            <a:r>
              <a:rPr lang="es-ES" sz="4400" b="1" kern="1400" dirty="0" err="1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Bootstrapping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</a:t>
            </a:r>
            <a:r>
              <a:rPr lang="es-E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6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53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F5168-5457-EEB9-2127-27DFCC8EE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4400" dirty="0"/>
              <a:t>Cuestiones operativas del curso: </a:t>
            </a:r>
            <a:r>
              <a:rPr lang="es-ES_tradnl" sz="4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Próximos </a:t>
            </a:r>
            <a:r>
              <a:rPr lang="es-ES_tradnl" sz="4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Deadlines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83FBD-7284-DC97-84C0-7A38FB74C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1ra Exposiciones Grupales: </a:t>
            </a:r>
            <a:r>
              <a:rPr lang="es-ES_tradnl" dirty="0">
                <a:solidFill>
                  <a:srgbClr val="FF0000"/>
                </a:solidFill>
              </a:rPr>
              <a:t>Miércoles 5 de noviembre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TP3: </a:t>
            </a:r>
            <a:r>
              <a:rPr lang="es-ES_tradnl" dirty="0"/>
              <a:t>Disponible. </a:t>
            </a:r>
            <a:r>
              <a:rPr lang="es-ES_tradnl" dirty="0">
                <a:solidFill>
                  <a:schemeClr val="accent2"/>
                </a:solidFill>
              </a:rPr>
              <a:t>Miércoles 15 de octubre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Clases:</a:t>
            </a:r>
            <a:r>
              <a:rPr lang="es-ES_tradnl" dirty="0"/>
              <a:t> no hay clase la semana del 25 de noviembre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1ra semana de Diciembre</a:t>
            </a:r>
            <a:r>
              <a:rPr lang="es-ES_tradnl" dirty="0"/>
              <a:t>: dos clases: 3 y 4 de diciembre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Consultas</a:t>
            </a:r>
            <a:r>
              <a:rPr lang="es-ES_tradnl" dirty="0"/>
              <a:t>: online </a:t>
            </a:r>
            <a:r>
              <a:rPr lang="es-ES_tradnl" dirty="0">
                <a:hlinkClick r:id="rId2"/>
              </a:rPr>
              <a:t>Calendly</a:t>
            </a:r>
            <a:r>
              <a:rPr lang="es-ES_tradnl" dirty="0"/>
              <a:t>, email para presencial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8B716-D772-C5D0-8F2B-0FC170A12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06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En la clase de hoy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_tradnl" dirty="0"/>
              <a:t>0.  Cuestiones Operativas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/>
              <a:t>Repaso Clase anterior: Distinción del Error de Pronóstico y MSE, problema de overfitting y complejidad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/>
              <a:t>Cross-validation -&gt; Ilustración con polinomios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Repaso rápido de </a:t>
            </a:r>
            <a:r>
              <a:rPr lang="es-ES_tradnl" dirty="0">
                <a:solidFill>
                  <a:srgbClr val="FF0000"/>
                </a:solidFill>
              </a:rPr>
              <a:t>Ley de grandes números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_tradnl" dirty="0"/>
              <a:t>3.   </a:t>
            </a:r>
            <a:r>
              <a:rPr lang="es-ES_tradnl" dirty="0" err="1"/>
              <a:t>Bootstrapping</a:t>
            </a:r>
            <a:r>
              <a:rPr lang="es-ES_tradnl" dirty="0"/>
              <a:t> (bonus) -&gt; Ilustración y una aplicación en economía  </a:t>
            </a:r>
          </a:p>
          <a:p>
            <a:pPr>
              <a:lnSpc>
                <a:spcPct val="150000"/>
              </a:lnSpc>
            </a:pPr>
            <a:endParaRPr lang="es-ES_tradnl" dirty="0">
              <a:solidFill>
                <a:srgbClr val="FF0000"/>
              </a:solidFill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s-ES_tradnl" dirty="0"/>
          </a:p>
          <a:p>
            <a:pPr marL="0" indent="0">
              <a:lnSpc>
                <a:spcPct val="150000"/>
              </a:lnSpc>
              <a:buNone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93B2-27BD-5888-9D83-58D8D3F7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80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Repaso clase anterior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ECM, Error de Pronostico, Overfitting, Cross-validation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02066-55CA-7F79-B6CB-6ACCA905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201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s-ES_tradnl" dirty="0"/>
                  <a:t>Sea el modelo de dos predictores:</a:t>
                </a:r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s-ES_tradnl" dirty="0"/>
              </a:p>
              <a:p>
                <a:pPr lvl="1"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Discusión</a:t>
                </a:r>
                <a:r>
                  <a:rPr lang="es-ES_tradnl" dirty="0"/>
                  <a:t>: Omisión de variables relevantes vs. inclusión de variables irrelevantes.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i="1" dirty="0">
                    <a:solidFill>
                      <a:srgbClr val="002060"/>
                    </a:solidFill>
                  </a:rPr>
                  <a:t>Trade off</a:t>
                </a:r>
                <a:r>
                  <a:rPr lang="es-ES_tradnl" dirty="0"/>
                  <a:t>: modelos más ‘complejos’ tienden a ser menos sesgados, pero con mayor varianza.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dirty="0"/>
                  <a:t>Complejidad: ¿número de variables?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dirty="0"/>
                  <a:t>Preferencia ‘lexicográfica’ por la </a:t>
                </a:r>
                <a:r>
                  <a:rPr lang="es-ES_tradnl" dirty="0">
                    <a:solidFill>
                      <a:srgbClr val="002060"/>
                    </a:solidFill>
                  </a:rPr>
                  <a:t>insesgadez</a:t>
                </a:r>
                <a:r>
                  <a:rPr lang="es-ES_tradnl" dirty="0"/>
                  <a:t>: </a:t>
                </a:r>
                <a:r>
                  <a:rPr lang="es-ES_tradnl" dirty="0">
                    <a:solidFill>
                      <a:srgbClr val="00B050"/>
                    </a:solidFill>
                  </a:rPr>
                  <a:t>minimizar ECM </a:t>
                </a:r>
                <a:r>
                  <a:rPr lang="es-ES_tradnl" dirty="0"/>
                  <a:t>es </a:t>
                </a:r>
                <a:r>
                  <a:rPr lang="es-ES_tradnl" dirty="0">
                    <a:solidFill>
                      <a:srgbClr val="7030A0"/>
                    </a:solidFill>
                  </a:rPr>
                  <a:t>minimizar varianza</a:t>
                </a:r>
                <a:r>
                  <a:rPr lang="es-ES_tradnl" dirty="0"/>
                  <a:t>. 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Desafío</a:t>
                </a:r>
                <a:r>
                  <a:rPr lang="es-ES_tradnl" dirty="0"/>
                  <a:t>: tolerar </a:t>
                </a:r>
                <a:r>
                  <a:rPr lang="es-ES_tradnl" dirty="0">
                    <a:solidFill>
                      <a:srgbClr val="002060"/>
                    </a:solidFill>
                  </a:rPr>
                  <a:t>sesgos</a:t>
                </a:r>
                <a:r>
                  <a:rPr lang="es-ES_tradnl" dirty="0"/>
                  <a:t> para bajar considerablemente la varianza.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E42B7-7B7A-06B6-965D-FAB471C2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6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El problema de Overfitting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D426E6-D618-C483-9539-62233E71E3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811292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s-ES_tradnl" dirty="0" err="1">
                <a:solidFill>
                  <a:srgbClr val="002060"/>
                </a:solidFill>
              </a:rPr>
              <a:t>Overfit</a:t>
            </a:r>
            <a:r>
              <a:rPr lang="es-ES_tradnl" dirty="0"/>
              <a:t>: ‘</a:t>
            </a:r>
            <a:r>
              <a:rPr lang="es-ES_tradnl" i="1" dirty="0" err="1"/>
              <a:t>sobreajustar</a:t>
            </a:r>
            <a:r>
              <a:rPr lang="es-ES_tradnl" dirty="0"/>
              <a:t>’  el </a:t>
            </a:r>
            <a:r>
              <a:rPr lang="es-ES_tradnl" dirty="0">
                <a:solidFill>
                  <a:srgbClr val="002060"/>
                </a:solidFill>
              </a:rPr>
              <a:t>sesgo,</a:t>
            </a:r>
            <a:r>
              <a:rPr lang="es-ES_tradnl" dirty="0"/>
              <a:t> aumenta considerablemente la varianza.</a:t>
            </a:r>
          </a:p>
          <a:p>
            <a:pPr lvl="1">
              <a:lnSpc>
                <a:spcPct val="120000"/>
              </a:lnSpc>
            </a:pPr>
            <a:r>
              <a:rPr lang="es-ES_tradnl" dirty="0"/>
              <a:t>En </a:t>
            </a:r>
            <a:r>
              <a:rPr lang="es-ES_tradnl" dirty="0">
                <a:solidFill>
                  <a:srgbClr val="7030A0"/>
                </a:solidFill>
              </a:rPr>
              <a:t>experimental</a:t>
            </a:r>
            <a:r>
              <a:rPr lang="es-ES_tradnl" dirty="0"/>
              <a:t>: problema ‘</a:t>
            </a:r>
            <a:r>
              <a:rPr lang="es-ES_tradnl" dirty="0">
                <a:solidFill>
                  <a:srgbClr val="002060"/>
                </a:solidFill>
              </a:rPr>
              <a:t>menor</a:t>
            </a:r>
            <a:r>
              <a:rPr lang="es-ES_tradnl" dirty="0"/>
              <a:t>’</a:t>
            </a:r>
          </a:p>
          <a:p>
            <a:pPr lvl="1">
              <a:lnSpc>
                <a:spcPct val="120000"/>
              </a:lnSpc>
            </a:pPr>
            <a:r>
              <a:rPr lang="es-ES_tradnl" dirty="0"/>
              <a:t>En </a:t>
            </a:r>
            <a:r>
              <a:rPr lang="es-ES_tradnl" dirty="0">
                <a:solidFill>
                  <a:srgbClr val="7030A0"/>
                </a:solidFill>
              </a:rPr>
              <a:t>Machine Learning</a:t>
            </a:r>
            <a:r>
              <a:rPr lang="es-ES_tradnl" dirty="0"/>
              <a:t>: problema </a:t>
            </a:r>
            <a:r>
              <a:rPr lang="es-ES_tradnl" dirty="0">
                <a:solidFill>
                  <a:srgbClr val="002060"/>
                </a:solidFill>
              </a:rPr>
              <a:t>central</a:t>
            </a:r>
          </a:p>
          <a:p>
            <a:pPr>
              <a:lnSpc>
                <a:spcPct val="120000"/>
              </a:lnSpc>
            </a:pPr>
            <a:endParaRPr lang="es-ES_tradnl" dirty="0">
              <a:solidFill>
                <a:srgbClr val="002060"/>
              </a:solidFill>
            </a:endParaRPr>
          </a:p>
        </p:txBody>
      </p:sp>
      <p:pic>
        <p:nvPicPr>
          <p:cNvPr id="8" name="Content Placeholder 7" descr="A close-up of a graph&#10;&#10;Description automatically generated">
            <a:extLst>
              <a:ext uri="{FF2B5EF4-FFF2-40B4-BE49-F238E27FC236}">
                <a16:creationId xmlns:a16="http://schemas.microsoft.com/office/drawing/2014/main" id="{78D76834-7F41-11EB-44E6-264289F03B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9492" y="1825625"/>
            <a:ext cx="7406264" cy="374847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887E9-CEAB-6AB7-BC39-1C33553BC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7798CC-0766-3E77-CD62-6253F71840CD}"/>
              </a:ext>
            </a:extLst>
          </p:cNvPr>
          <p:cNvSpPr txBox="1"/>
          <p:nvPr/>
        </p:nvSpPr>
        <p:spPr>
          <a:xfrm>
            <a:off x="4800601" y="5706255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WSE, 2019, </a:t>
            </a:r>
            <a:r>
              <a:rPr lang="en-US" sz="1600" i="1" dirty="0">
                <a:effectLst/>
                <a:latin typeface="Gill Sans Nova Light" panose="020B0302020104020203" pitchFamily="34" charset="0"/>
              </a:rPr>
              <a:t>Big data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, </a:t>
            </a:r>
            <a:r>
              <a:rPr lang="en-US" sz="1600" dirty="0" err="1">
                <a:effectLst/>
                <a:latin typeface="Gill Sans Nova Light" panose="020B0302020104020203" pitchFamily="34" charset="0"/>
              </a:rPr>
              <a:t>Siglo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XXI </a:t>
            </a:r>
            <a:r>
              <a:rPr lang="en-US" sz="1600" dirty="0" err="1">
                <a:effectLst/>
                <a:latin typeface="Gill Sans Nova Light" panose="020B0302020104020203" pitchFamily="34" charset="0"/>
              </a:rPr>
              <a:t>Editores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, </a:t>
            </a:r>
            <a:r>
              <a:rPr lang="en-US" sz="1600" dirty="0" err="1">
                <a:effectLst/>
                <a:latin typeface="Gill Sans Nova Light" panose="020B0302020104020203" pitchFamily="34" charset="0"/>
              </a:rPr>
              <a:t>capitulo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90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FC203-0825-04BA-586C-E42F85C16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Recordamos Error de Pronóstico y MSE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973C16-AFA3-2B63-670F-0B7A78B54A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Error de pronóstico: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Modelo: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_tradnl" dirty="0"/>
                  <a:t>, entonces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En la práctica, Suma de los Residuos al Cuadrado (MSE):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(1)</m:t>
                      </m:r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973C16-AFA3-2B63-670F-0B7A78B54A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b="-5581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1503A-D5E0-34A8-A639-49D5B8C9F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52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E1F3B-DFBC-4E4D-68C3-2B93ECDF0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EA5D7-7DC3-A1C1-BF88-F9D56DB5C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Recordamos Error de Pronóstico y MSE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156F88-A459-7313-B391-FBD52C8C9D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En la práctica Suma de los Residuos al Cuadrado (MSE):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(1)</m:t>
                      </m:r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Ideal</a:t>
                </a:r>
                <a:r>
                  <a:rPr lang="es-ES_tradnl" dirty="0"/>
                  <a:t>: Ser buenos prediciendo con </a:t>
                </a:r>
                <a:r>
                  <a:rPr lang="es-ES_tradnl" dirty="0">
                    <a:solidFill>
                      <a:srgbClr val="002060"/>
                    </a:solidFill>
                  </a:rPr>
                  <a:t>nuevos datos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Ejemplo: predicción de retorno de acciones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Entrenamiento -&gt; uso datos de las ultimas 6 semanas para estimar</a:t>
                </a:r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endParaRPr lang="es-ES_tradnl" dirty="0"/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Testeo -&gt; ¿seremos buenos para predecir el precio de mañana?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¿Otro ejemplo?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156F88-A459-7313-B391-FBD52C8C9D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151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96238-8FF2-ABD2-29D0-AF9C144C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76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12AF-CF1D-BD4E-FE76-EC53AAA39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Idea de Validación y Aprendizaje Automático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3BD6B0-9BD0-DE96-FE46-87BE33E931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Muestras: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Entrenamiento -&gt;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𝑡𝑟𝑎𝑖𝑛𝑖𝑛𝑔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𝑀𝑆𝐸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Testeo -&gt;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𝑡𝑒𝑠𝑡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𝑀𝑆𝐸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Elegir modelo que </a:t>
                </a:r>
                <a:r>
                  <a:rPr lang="es-ES_tradnl" dirty="0">
                    <a:solidFill>
                      <a:srgbClr val="00B050"/>
                    </a:solidFill>
                  </a:rPr>
                  <a:t>minimice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𝑡𝑒𝑠𝑡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𝑀𝑆𝐸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Cuando se </a:t>
                </a:r>
                <a:r>
                  <a:rPr lang="es-ES_tradnl" dirty="0">
                    <a:solidFill>
                      <a:srgbClr val="FF0000"/>
                    </a:solidFill>
                  </a:rPr>
                  <a:t>minimiza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</m:oMath>
                </a14:m>
                <a:r>
                  <a:rPr lang="es-ES_tradnl" dirty="0"/>
                  <a:t>, se cae en el problema de </a:t>
                </a:r>
                <a:r>
                  <a:rPr lang="es-ES_tradnl" dirty="0">
                    <a:solidFill>
                      <a:srgbClr val="FF0000"/>
                    </a:solidFill>
                  </a:rPr>
                  <a:t>overfitting</a:t>
                </a:r>
                <a:endParaRPr lang="es-ES_tradnl" dirty="0"/>
              </a:p>
              <a:p>
                <a:pPr marL="457200" lvl="1" indent="0">
                  <a:lnSpc>
                    <a:spcPct val="15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3BD6B0-9BD0-DE96-FE46-87BE33E931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60D8C-0163-D5E7-1919-40F0E24C4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001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0D6E4-85A9-CA08-E71B-A9C22E90E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FAFB4-DEF1-CB6B-90BC-51650DA44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MSE </a:t>
            </a:r>
            <a:r>
              <a:rPr lang="es-ES_tradnl" i="1" dirty="0"/>
              <a:t>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F2EACB-FFB1-C14F-01EE-F03DEBC0F1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s-ES_tradnl" dirty="0"/>
                  <a:t>En la práctica, implica usamos </a:t>
                </a:r>
                <a:r>
                  <a:rPr lang="es-ES_tradnl" dirty="0">
                    <a:solidFill>
                      <a:srgbClr val="00B050"/>
                    </a:solidFill>
                  </a:rPr>
                  <a:t>nuevo set de datos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_tradnl" dirty="0"/>
                  <a:t> no usado para estimar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/>
                  <a:t>. Reemplazamos en (1):</a:t>
                </a:r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(2)</m:t>
                      </m:r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F2EACB-FFB1-C14F-01EE-F03DEBC0F1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b="-3139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4302F-2170-33D8-1BE7-25DFCFCAC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379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ECAF4-E036-0C22-CCCA-903D80675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16AA1-33DA-F0EB-C8D6-F497D27EB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Trade-off sesgo-varianza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9682ED-696E-CDDB-0D83-DA86407C4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r>
              <a:rPr lang="es-ES_tradnl" dirty="0"/>
              <a:t>Teóricamente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A3FC97-9B27-6396-9943-73676542D24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s-ES_tradn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s-ES_tradn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_tradnl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_tradnl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ES_tradnl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s-ES_tradnl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s-ES_tradn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b="0" i="1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s-ES_tradnl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_tradnl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𝑆𝑒𝑠𝑔</m:t>
                      </m:r>
                      <m:sSup>
                        <m:sSupPr>
                          <m:ctrlP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e>
                        <m:sup>
                          <m: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s-ES_tradnl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_tradnl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s-ES_tradnl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sz="2400" dirty="0"/>
              </a:p>
              <a:p>
                <a:pPr>
                  <a:lnSpc>
                    <a:spcPct val="160000"/>
                  </a:lnSpc>
                </a:pPr>
                <a:r>
                  <a:rPr lang="es-ES_tradnl" sz="2400" dirty="0"/>
                  <a:t>¿Cuál término es reducible? ¿Por qué?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sz="2400" dirty="0"/>
                  <a:t>Con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𝑡𝑒𝑠𝑡</m:t>
                        </m:r>
                      </m:sub>
                    </m:sSub>
                  </m:oMath>
                </a14:m>
                <a:r>
                  <a:rPr lang="es-ES_tradnl" sz="2400" dirty="0"/>
                  <a:t> estimamos </a:t>
                </a:r>
                <a14:m>
                  <m:oMath xmlns:m="http://schemas.openxmlformats.org/officeDocument/2006/math">
                    <m:r>
                      <a:rPr lang="es-ES_tradnl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ES_tradnl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</m:oMath>
                </a14:m>
                <a:endParaRPr lang="es-ES_tradnl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A3FC97-9B27-6396-9943-73676542D2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72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36E1D9-6B19-0CED-5201-E116EE2BA2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r>
              <a:rPr lang="es-ES_tradnl" dirty="0"/>
              <a:t>Visualización teórica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1B3A7-9BFE-721D-321E-BDB4BE442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4212508A-1813-FF51-E0F9-E105DD87A356}"/>
              </a:ext>
            </a:extLst>
          </p:cNvPr>
          <p:cNvGrpSpPr/>
          <p:nvPr/>
        </p:nvGrpSpPr>
        <p:grpSpPr>
          <a:xfrm>
            <a:off x="6194427" y="2423899"/>
            <a:ext cx="5375589" cy="4013628"/>
            <a:chOff x="5780092" y="1945245"/>
            <a:chExt cx="5516874" cy="4948272"/>
          </a:xfrm>
        </p:grpSpPr>
        <p:cxnSp>
          <p:nvCxnSpPr>
            <p:cNvPr id="19" name="Straight Arrow Connector 7">
              <a:extLst>
                <a:ext uri="{FF2B5EF4-FFF2-40B4-BE49-F238E27FC236}">
                  <a16:creationId xmlns:a16="http://schemas.microsoft.com/office/drawing/2014/main" id="{E2E4FD79-947F-C772-9261-E0D84E4C0A75}"/>
                </a:ext>
              </a:extLst>
            </p:cNvPr>
            <p:cNvCxnSpPr>
              <a:cxnSpLocks/>
            </p:cNvCxnSpPr>
            <p:nvPr/>
          </p:nvCxnSpPr>
          <p:spPr>
            <a:xfrm>
              <a:off x="5780092" y="6218161"/>
              <a:ext cx="445008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8">
              <a:extLst>
                <a:ext uri="{FF2B5EF4-FFF2-40B4-BE49-F238E27FC236}">
                  <a16:creationId xmlns:a16="http://schemas.microsoft.com/office/drawing/2014/main" id="{C60ECECA-D34E-AC21-4016-5A807CA61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80092" y="2270049"/>
              <a:ext cx="0" cy="39481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110FD9EA-A432-2622-6945-1A62C29FA75D}"/>
                </a:ext>
              </a:extLst>
            </p:cNvPr>
            <p:cNvSpPr/>
            <p:nvPr/>
          </p:nvSpPr>
          <p:spPr>
            <a:xfrm>
              <a:off x="6054412" y="2575801"/>
              <a:ext cx="3749040" cy="1584959"/>
            </a:xfrm>
            <a:custGeom>
              <a:avLst/>
              <a:gdLst>
                <a:gd name="connsiteX0" fmla="*/ 0 w 3749040"/>
                <a:gd name="connsiteY0" fmla="*/ 0 h 1829151"/>
                <a:gd name="connsiteX1" fmla="*/ 1783080 w 3749040"/>
                <a:gd name="connsiteY1" fmla="*/ 1828800 h 1829151"/>
                <a:gd name="connsiteX2" fmla="*/ 3749040 w 3749040"/>
                <a:gd name="connsiteY2" fmla="*/ 121920 h 182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49040" h="1829151">
                  <a:moveTo>
                    <a:pt x="0" y="0"/>
                  </a:moveTo>
                  <a:cubicBezTo>
                    <a:pt x="579120" y="904240"/>
                    <a:pt x="1158240" y="1808480"/>
                    <a:pt x="1783080" y="1828800"/>
                  </a:cubicBezTo>
                  <a:cubicBezTo>
                    <a:pt x="2407920" y="1849120"/>
                    <a:pt x="3078480" y="985520"/>
                    <a:pt x="3749040" y="12192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400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C2C8185E-96B9-AC07-C1C4-197934CC7059}"/>
                </a:ext>
              </a:extLst>
            </p:cNvPr>
            <p:cNvSpPr/>
            <p:nvPr/>
          </p:nvSpPr>
          <p:spPr>
            <a:xfrm>
              <a:off x="6054412" y="4160760"/>
              <a:ext cx="4053835" cy="1615442"/>
            </a:xfrm>
            <a:custGeom>
              <a:avLst/>
              <a:gdLst>
                <a:gd name="connsiteX0" fmla="*/ 0 w 4373880"/>
                <a:gd name="connsiteY0" fmla="*/ 0 h 3517945"/>
                <a:gd name="connsiteX1" fmla="*/ 1859280 w 4373880"/>
                <a:gd name="connsiteY1" fmla="*/ 3078480 h 3517945"/>
                <a:gd name="connsiteX2" fmla="*/ 4373880 w 4373880"/>
                <a:gd name="connsiteY2" fmla="*/ 3429000 h 3517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73880" h="3517945">
                  <a:moveTo>
                    <a:pt x="0" y="0"/>
                  </a:moveTo>
                  <a:cubicBezTo>
                    <a:pt x="565150" y="1253490"/>
                    <a:pt x="1130300" y="2506980"/>
                    <a:pt x="1859280" y="3078480"/>
                  </a:cubicBezTo>
                  <a:cubicBezTo>
                    <a:pt x="2588260" y="3649980"/>
                    <a:pt x="3481070" y="3539490"/>
                    <a:pt x="4373880" y="342900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400"/>
            </a:p>
          </p:txBody>
        </p:sp>
        <p:cxnSp>
          <p:nvCxnSpPr>
            <p:cNvPr id="23" name="Straight Connector 13">
              <a:extLst>
                <a:ext uri="{FF2B5EF4-FFF2-40B4-BE49-F238E27FC236}">
                  <a16:creationId xmlns:a16="http://schemas.microsoft.com/office/drawing/2014/main" id="{4E1D0787-24FB-6D7B-EA5D-44FE243DE148}"/>
                </a:ext>
              </a:extLst>
            </p:cNvPr>
            <p:cNvCxnSpPr>
              <a:cxnSpLocks/>
              <a:stCxn id="21" idx="1"/>
            </p:cNvCxnSpPr>
            <p:nvPr/>
          </p:nvCxnSpPr>
          <p:spPr>
            <a:xfrm>
              <a:off x="7837492" y="4160456"/>
              <a:ext cx="15240" cy="2057705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0529364E-DB12-D1A5-A75B-2A93E490E500}"/>
                </a:ext>
              </a:extLst>
            </p:cNvPr>
            <p:cNvSpPr/>
            <p:nvPr/>
          </p:nvSpPr>
          <p:spPr>
            <a:xfrm>
              <a:off x="6092522" y="4160760"/>
              <a:ext cx="3749035" cy="1688456"/>
            </a:xfrm>
            <a:custGeom>
              <a:avLst/>
              <a:gdLst>
                <a:gd name="connsiteX0" fmla="*/ 0 w 3810000"/>
                <a:gd name="connsiteY0" fmla="*/ 2971800 h 2983857"/>
                <a:gd name="connsiteX1" fmla="*/ 1752600 w 3810000"/>
                <a:gd name="connsiteY1" fmla="*/ 2529840 h 2983857"/>
                <a:gd name="connsiteX2" fmla="*/ 3810000 w 3810000"/>
                <a:gd name="connsiteY2" fmla="*/ 0 h 2983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0000" h="2983857">
                  <a:moveTo>
                    <a:pt x="0" y="2971800"/>
                  </a:moveTo>
                  <a:cubicBezTo>
                    <a:pt x="558800" y="2998470"/>
                    <a:pt x="1117600" y="3025140"/>
                    <a:pt x="1752600" y="2529840"/>
                  </a:cubicBezTo>
                  <a:cubicBezTo>
                    <a:pt x="2387600" y="2034540"/>
                    <a:pt x="3098800" y="1017270"/>
                    <a:pt x="3810000" y="0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400"/>
            </a:p>
          </p:txBody>
        </p:sp>
        <p:sp>
          <p:nvSpPr>
            <p:cNvPr id="25" name="TextBox 18">
              <a:extLst>
                <a:ext uri="{FF2B5EF4-FFF2-40B4-BE49-F238E27FC236}">
                  <a16:creationId xmlns:a16="http://schemas.microsoft.com/office/drawing/2014/main" id="{3196FDD4-5E0C-566E-6982-871BB1A53093}"/>
                </a:ext>
              </a:extLst>
            </p:cNvPr>
            <p:cNvSpPr txBox="1"/>
            <p:nvPr/>
          </p:nvSpPr>
          <p:spPr>
            <a:xfrm>
              <a:off x="9087167" y="6392960"/>
              <a:ext cx="2042159" cy="5005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000" dirty="0">
                  <a:latin typeface="Gill Sans Nova Light" panose="020B0302020104020203" pitchFamily="34" charset="0"/>
                </a:rPr>
                <a:t>Complejidad</a:t>
              </a:r>
            </a:p>
          </p:txBody>
        </p:sp>
        <p:sp>
          <p:nvSpPr>
            <p:cNvPr id="26" name="TextBox 19">
              <a:extLst>
                <a:ext uri="{FF2B5EF4-FFF2-40B4-BE49-F238E27FC236}">
                  <a16:creationId xmlns:a16="http://schemas.microsoft.com/office/drawing/2014/main" id="{ABB3D8C3-EBE5-7EA3-1D5E-C9CE270602C0}"/>
                </a:ext>
              </a:extLst>
            </p:cNvPr>
            <p:cNvSpPr txBox="1"/>
            <p:nvPr/>
          </p:nvSpPr>
          <p:spPr>
            <a:xfrm>
              <a:off x="5810574" y="1945245"/>
              <a:ext cx="1234438" cy="5005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000" dirty="0">
                  <a:latin typeface="Gill Sans Nova Light" panose="020B0302020104020203" pitchFamily="34" charset="0"/>
                </a:rPr>
                <a:t>Error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1">
                  <a:extLst>
                    <a:ext uri="{FF2B5EF4-FFF2-40B4-BE49-F238E27FC236}">
                      <a16:creationId xmlns:a16="http://schemas.microsoft.com/office/drawing/2014/main" id="{6AE66CD0-80A1-CACD-534E-1B46C8033E8B}"/>
                    </a:ext>
                  </a:extLst>
                </p:cNvPr>
                <p:cNvSpPr txBox="1"/>
                <p:nvPr/>
              </p:nvSpPr>
              <p:spPr>
                <a:xfrm>
                  <a:off x="8866187" y="2160839"/>
                  <a:ext cx="2263139" cy="5501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𝐸𝑟𝑟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ES_tradnl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000" b="0" dirty="0"/>
                </a:p>
              </p:txBody>
            </p:sp>
          </mc:Choice>
          <mc:Fallback xmlns="">
            <p:sp>
              <p:nvSpPr>
                <p:cNvPr id="27" name="TextBox 21">
                  <a:extLst>
                    <a:ext uri="{FF2B5EF4-FFF2-40B4-BE49-F238E27FC236}">
                      <a16:creationId xmlns:a16="http://schemas.microsoft.com/office/drawing/2014/main" id="{6AE66CD0-80A1-CACD-534E-1B46C8033E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6187" y="2160839"/>
                  <a:ext cx="2263139" cy="5501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2">
                  <a:extLst>
                    <a:ext uri="{FF2B5EF4-FFF2-40B4-BE49-F238E27FC236}">
                      <a16:creationId xmlns:a16="http://schemas.microsoft.com/office/drawing/2014/main" id="{99AD0C48-19AD-EA28-9444-F9422CF6C24F}"/>
                    </a:ext>
                  </a:extLst>
                </p:cNvPr>
                <p:cNvSpPr txBox="1"/>
                <p:nvPr/>
              </p:nvSpPr>
              <p:spPr>
                <a:xfrm>
                  <a:off x="8946201" y="3492069"/>
                  <a:ext cx="2263139" cy="5531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ES_tradnl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000" b="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2">
                  <a:extLst>
                    <a:ext uri="{FF2B5EF4-FFF2-40B4-BE49-F238E27FC236}">
                      <a16:creationId xmlns:a16="http://schemas.microsoft.com/office/drawing/2014/main" id="{99AD0C48-19AD-EA28-9444-F9422CF6C2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6201" y="3492069"/>
                  <a:ext cx="2263139" cy="553100"/>
                </a:xfrm>
                <a:prstGeom prst="rect">
                  <a:avLst/>
                </a:prstGeom>
                <a:blipFill>
                  <a:blip r:embed="rId4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3">
                  <a:extLst>
                    <a:ext uri="{FF2B5EF4-FFF2-40B4-BE49-F238E27FC236}">
                      <a16:creationId xmlns:a16="http://schemas.microsoft.com/office/drawing/2014/main" id="{4527A771-8188-2DEC-2256-FF6191D74BC8}"/>
                    </a:ext>
                  </a:extLst>
                </p:cNvPr>
                <p:cNvSpPr txBox="1"/>
                <p:nvPr/>
              </p:nvSpPr>
              <p:spPr>
                <a:xfrm>
                  <a:off x="9033827" y="5084957"/>
                  <a:ext cx="2263139" cy="5531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𝑆𝑒𝑠𝑔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ES_tradnl" sz="20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000" b="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3">
                  <a:extLst>
                    <a:ext uri="{FF2B5EF4-FFF2-40B4-BE49-F238E27FC236}">
                      <a16:creationId xmlns:a16="http://schemas.microsoft.com/office/drawing/2014/main" id="{4527A771-8188-2DEC-2256-FF6191D74B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3827" y="5084957"/>
                  <a:ext cx="2263139" cy="553100"/>
                </a:xfrm>
                <a:prstGeom prst="rect">
                  <a:avLst/>
                </a:prstGeom>
                <a:blipFill>
                  <a:blip r:embed="rId5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83837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A88F7-19A5-5294-327D-F1D2B42BC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E9571-AA9B-880E-5756-0743E731A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Muestras de Entrenamiento y Testeo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FD909C-2EFC-D7E8-84E5-52AE723AC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Muestra de Entrenamiento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8488DC-EEB4-58FB-75B4-7FDF1E88D80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Seleccionamos la complejidad de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/>
                  <a:t>con datos de entrenamiento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Estimamos el error </a:t>
                </a:r>
                <a:r>
                  <a:rPr lang="es-ES_tradnl" dirty="0">
                    <a:solidFill>
                      <a:srgbClr val="FF0000"/>
                    </a:solidFill>
                  </a:rPr>
                  <a:t>dentro</a:t>
                </a:r>
                <a:r>
                  <a:rPr lang="es-ES_tradnl" dirty="0"/>
                  <a:t> de la muestra con: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(2)</m:t>
                      </m:r>
                    </m:oMath>
                  </m:oMathPara>
                </a14:m>
                <a:endParaRPr lang="es-ES_tradnl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8488DC-EEB4-58FB-75B4-7FDF1E88D8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966" t="-1375" b="-3264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BFB8B0-3182-6203-0C02-A7B781A1A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_tradnl" dirty="0"/>
              <a:t>Muestra de testeo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D99E0EE-EA40-6A4C-5918-4E741DAB51B0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Evaluamos</a:t>
                </a:r>
                <a:r>
                  <a:rPr lang="es-ES_tradnl" dirty="0"/>
                  <a:t> el error de predicción de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/>
                  <a:t> con datos de testeo no usados en estimar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</m:e>
                    </m:d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Estimamos el error </a:t>
                </a:r>
                <a:r>
                  <a:rPr lang="es-ES_tradnl" dirty="0">
                    <a:solidFill>
                      <a:srgbClr val="00B050"/>
                    </a:solidFill>
                  </a:rPr>
                  <a:t>afuera</a:t>
                </a:r>
                <a:r>
                  <a:rPr lang="es-ES_tradnl" dirty="0"/>
                  <a:t> de la muestra con: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2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6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6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6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26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26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6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6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26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D99E0EE-EA40-6A4C-5918-4E741DAB51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1956" t="-1718" b="-4433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1EFB1-ADD5-7688-B78C-24703FAE7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93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238F4-F8E7-46A1-004E-61259EB5A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B1746-A7B1-DA64-A753-0803F4834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I: Complejidad y </a:t>
            </a:r>
            <a:r>
              <a:rPr lang="es-ES_tradnl" i="1" dirty="0" err="1"/>
              <a:t>train</a:t>
            </a:r>
            <a:r>
              <a:rPr lang="es-ES_tradnl" dirty="0"/>
              <a:t> &amp; </a:t>
            </a:r>
            <a:r>
              <a:rPr lang="es-ES_tradnl" i="1" dirty="0"/>
              <a:t>test</a:t>
            </a:r>
            <a:r>
              <a:rPr lang="es-ES_tradnl" dirty="0"/>
              <a:t> MSE.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Modelo verdadero lineal</a:t>
            </a:r>
            <a:r>
              <a:rPr lang="es-ES_tradnl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7DC5B-D762-A196-3AC1-EB22BCEFD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  <p:pic>
        <p:nvPicPr>
          <p:cNvPr id="8" name="Content Placeholder 7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1F3EDAC5-9A83-F472-00DB-CA67FFA200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4673" y="1690688"/>
            <a:ext cx="8443091" cy="466566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B1BA16-B48E-E0A8-5605-92C16A7E2C03}"/>
              </a:ext>
            </a:extLst>
          </p:cNvPr>
          <p:cNvSpPr txBox="1"/>
          <p:nvPr/>
        </p:nvSpPr>
        <p:spPr>
          <a:xfrm>
            <a:off x="3802380" y="6200358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latin typeface="Gill Sans Nova Light" panose="020B0302020104020203" pitchFamily="34" charset="0"/>
              </a:rPr>
              <a:t>31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95A4943-55FA-7C42-E299-A1AA747837F4}"/>
                  </a:ext>
                </a:extLst>
              </p:cNvPr>
              <p:cNvSpPr txBox="1"/>
              <p:nvPr/>
            </p:nvSpPr>
            <p:spPr>
              <a:xfrm>
                <a:off x="8317470" y="2115164"/>
                <a:ext cx="1818640" cy="377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</m:oMath>
                  </m:oMathPara>
                </a14:m>
                <a:endParaRPr lang="es-ES_tradnl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95A4943-55FA-7C42-E299-A1AA74783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470" y="2115164"/>
                <a:ext cx="1818640" cy="3777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2C73BF4-52F7-204E-6ADD-D910AA1C3FC7}"/>
                  </a:ext>
                </a:extLst>
              </p:cNvPr>
              <p:cNvSpPr txBox="1"/>
              <p:nvPr/>
            </p:nvSpPr>
            <p:spPr>
              <a:xfrm>
                <a:off x="8754706" y="4789606"/>
                <a:ext cx="1005840" cy="377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2C73BF4-52F7-204E-6ADD-D910AA1C3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4706" y="4789606"/>
                <a:ext cx="1005840" cy="377706"/>
              </a:xfrm>
              <a:prstGeom prst="rect">
                <a:avLst/>
              </a:prstGeom>
              <a:blipFill>
                <a:blip r:embed="rId4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790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F223E-BB53-C509-28D8-84B4E1D68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II: Complejidad y </a:t>
            </a:r>
            <a:r>
              <a:rPr lang="es-ES_tradnl" i="1" dirty="0" err="1"/>
              <a:t>train</a:t>
            </a:r>
            <a:r>
              <a:rPr lang="es-ES_tradnl" dirty="0"/>
              <a:t> &amp; </a:t>
            </a:r>
            <a:r>
              <a:rPr lang="es-ES_tradnl" i="1" dirty="0"/>
              <a:t>test</a:t>
            </a:r>
            <a:r>
              <a:rPr lang="es-ES_tradnl" dirty="0"/>
              <a:t> MSE.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Modelo verdadero no lineal </a:t>
            </a:r>
          </a:p>
        </p:txBody>
      </p:sp>
      <p:pic>
        <p:nvPicPr>
          <p:cNvPr id="6" name="Content Placeholder 5" descr="A comparison of graphs and diagrams&#10;&#10;Description automatically generated with medium confidence">
            <a:extLst>
              <a:ext uri="{FF2B5EF4-FFF2-40B4-BE49-F238E27FC236}">
                <a16:creationId xmlns:a16="http://schemas.microsoft.com/office/drawing/2014/main" id="{ED5F3929-5CE9-8479-C5B7-602489849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2609" y="1690688"/>
            <a:ext cx="8246782" cy="455043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BD47A-1534-B46F-8875-36BA4600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62438A-B684-0A2B-64CA-16A9166D57A1}"/>
              </a:ext>
            </a:extLst>
          </p:cNvPr>
          <p:cNvSpPr txBox="1"/>
          <p:nvPr/>
        </p:nvSpPr>
        <p:spPr>
          <a:xfrm>
            <a:off x="3596343" y="6241119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latin typeface="Gill Sans Nova Light" panose="020B0302020104020203" pitchFamily="34" charset="0"/>
              </a:rPr>
              <a:t>29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5CC2C1E4-170B-AC1F-380F-5D929D118F28}"/>
                  </a:ext>
                </a:extLst>
              </p:cNvPr>
              <p:cNvSpPr txBox="1"/>
              <p:nvPr/>
            </p:nvSpPr>
            <p:spPr>
              <a:xfrm>
                <a:off x="8245154" y="2115164"/>
                <a:ext cx="1818640" cy="377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</m:oMath>
                  </m:oMathPara>
                </a14:m>
                <a:endParaRPr lang="es-ES_tradnl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5CC2C1E4-170B-AC1F-380F-5D929D118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5154" y="2115164"/>
                <a:ext cx="1818640" cy="3777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5C72C30-291B-A125-85D1-5F6EFE7F7C49}"/>
                  </a:ext>
                </a:extLst>
              </p:cNvPr>
              <p:cNvSpPr txBox="1"/>
              <p:nvPr/>
            </p:nvSpPr>
            <p:spPr>
              <a:xfrm>
                <a:off x="8682390" y="4789606"/>
                <a:ext cx="1005840" cy="377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5C72C30-291B-A125-85D1-5F6EFE7F7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390" y="4789606"/>
                <a:ext cx="1005840" cy="377706"/>
              </a:xfrm>
              <a:prstGeom prst="rect">
                <a:avLst/>
              </a:prstGeom>
              <a:blipFill>
                <a:blip r:embed="rId4"/>
                <a:stretch>
                  <a:fillRect r="-375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985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resumen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s-ES_tradnl" dirty="0" err="1">
                    <a:solidFill>
                      <a:srgbClr val="002060"/>
                    </a:solidFill>
                  </a:rPr>
                  <a:t>Overfit</a:t>
                </a:r>
                <a:r>
                  <a:rPr lang="es-ES_tradnl" dirty="0"/>
                  <a:t>: modelos extremadamente complejos predicen muy bien dentro de la muestra y muy mal fuera de ella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 </a:t>
                </a:r>
                <a:r>
                  <a:rPr lang="es-ES_tradnl" dirty="0"/>
                  <a:t>con </a:t>
                </a:r>
                <a:r>
                  <a:rPr lang="es-ES_tradnl" dirty="0">
                    <a:solidFill>
                      <a:srgbClr val="002060"/>
                    </a:solidFill>
                  </a:rPr>
                  <a:t>aprendizaje automático </a:t>
                </a:r>
                <a:r>
                  <a:rPr lang="es-ES_tradnl" dirty="0"/>
                  <a:t>haciendo particiones de los datos disponibles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Objetivo</a:t>
                </a:r>
                <a:r>
                  <a:rPr lang="es-ES_tradnl" dirty="0"/>
                  <a:t> de Métodos de Remuestreo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Elegir</a:t>
                </a:r>
                <a:r>
                  <a:rPr lang="es-ES_tradnl" dirty="0"/>
                  <a:t> el nivel de complejidad optimo </a:t>
                </a:r>
                <a:r>
                  <a:rPr lang="es-ES_tradnl" i="1" dirty="0"/>
                  <a:t>(</a:t>
                </a:r>
                <a:r>
                  <a:rPr lang="es-ES_tradnl" i="1" dirty="0" err="1"/>
                  <a:t>Model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selection</a:t>
                </a:r>
                <a:r>
                  <a:rPr lang="es-ES_tradnl" dirty="0"/>
                  <a:t>)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Evaluar</a:t>
                </a:r>
                <a:r>
                  <a:rPr lang="es-ES_tradnl" dirty="0"/>
                  <a:t> el error de pronóstico </a:t>
                </a:r>
                <a:r>
                  <a:rPr lang="es-ES_tradnl" dirty="0">
                    <a:solidFill>
                      <a:srgbClr val="002060"/>
                    </a:solidFill>
                  </a:rPr>
                  <a:t>fuera</a:t>
                </a:r>
                <a:r>
                  <a:rPr lang="es-ES_tradnl" dirty="0"/>
                  <a:t> de la muestra (futura, condicional, contra fáctica, etc.) </a:t>
                </a:r>
                <a:r>
                  <a:rPr lang="es-ES_tradnl" i="1" dirty="0"/>
                  <a:t>(</a:t>
                </a:r>
                <a:r>
                  <a:rPr lang="es-ES_tradnl" i="1" dirty="0" err="1"/>
                  <a:t>Model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Assesment</a:t>
                </a:r>
                <a:r>
                  <a:rPr lang="es-ES_tradnl" i="1" dirty="0"/>
                  <a:t>)</a:t>
                </a:r>
              </a:p>
              <a:p>
                <a:pPr lvl="2">
                  <a:lnSpc>
                    <a:spcPct val="16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>
                    <a:solidFill>
                      <a:srgbClr val="7030A0"/>
                    </a:solidFill>
                  </a:rPr>
                  <a:t> no funciona: </a:t>
                </a:r>
                <a:r>
                  <a:rPr lang="es-ES_tradnl" dirty="0"/>
                  <a:t>por definición mide predicción </a:t>
                </a:r>
                <a:r>
                  <a:rPr lang="es-ES_tradnl" dirty="0">
                    <a:solidFill>
                      <a:srgbClr val="7030A0"/>
                    </a:solidFill>
                  </a:rPr>
                  <a:t>dentro</a:t>
                </a:r>
                <a:r>
                  <a:rPr lang="es-ES_tradnl" dirty="0"/>
                  <a:t> de la muestra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44" b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C1271-A673-28B6-4390-F6ABC7260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04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Cross </a:t>
            </a:r>
            <a:r>
              <a:rPr lang="es-ES_tradnl" dirty="0" err="1"/>
              <a:t>Validation</a:t>
            </a:r>
            <a:endParaRPr lang="es-ES_trad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5</a:t>
            </a:r>
            <a:endParaRPr lang="en-US" b="1" i="1" dirty="0"/>
          </a:p>
          <a:p>
            <a:r>
              <a:rPr lang="en-US" dirty="0"/>
              <a:t>Hastie, T., Tibshirani, T. Y Freedman, J. (2013) </a:t>
            </a:r>
            <a:r>
              <a:rPr lang="en-US" i="1" dirty="0"/>
              <a:t>The Elements of Statistical Learning. </a:t>
            </a:r>
            <a:r>
              <a:rPr lang="en-US" b="1" dirty="0"/>
              <a:t>Chap 7.10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65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46BF0-6784-7FA3-DDC1-12F5A51A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Mercado de Trabajo</a:t>
            </a:r>
          </a:p>
        </p:txBody>
      </p:sp>
      <p:pic>
        <p:nvPicPr>
          <p:cNvPr id="13" name="Content Placeholder 12" descr="A screenshot of a computer&#10;&#10;Description automatically generated">
            <a:extLst>
              <a:ext uri="{FF2B5EF4-FFF2-40B4-BE49-F238E27FC236}">
                <a16:creationId xmlns:a16="http://schemas.microsoft.com/office/drawing/2014/main" id="{F4CA199A-F53A-1198-A032-21E4583C4C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56841" y="1555924"/>
            <a:ext cx="7523252" cy="444192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46DB1-966E-2B8D-A601-EA661FFA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328A3D-32FC-4D4D-B4B7-6220C376744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456841" y="5897064"/>
            <a:ext cx="4942668" cy="459286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ES_tradnl" sz="1400" dirty="0"/>
              <a:t>Fuente: Consultora </a:t>
            </a:r>
            <a:r>
              <a:rPr lang="es-ES_tradnl" sz="1400" dirty="0" err="1"/>
              <a:t>AlixPartner</a:t>
            </a:r>
            <a:r>
              <a:rPr lang="es-ES_tradnl" sz="1400" dirty="0"/>
              <a:t> (2023)</a:t>
            </a:r>
          </a:p>
        </p:txBody>
      </p:sp>
    </p:spTree>
    <p:extLst>
      <p:ext uri="{BB962C8B-B14F-4D97-AF65-F5344CB8AC3E}">
        <p14:creationId xmlns:p14="http://schemas.microsoft.com/office/powerpoint/2010/main" val="3584823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989C3-4999-7321-D699-0EF1CF3AF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Enfoque de Validación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0F2AA-E79E-4768-E507-82CDDB4BBB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Separar datos para:</a:t>
                </a:r>
              </a:p>
              <a:p>
                <a:pPr lvl="1"/>
                <a:r>
                  <a:rPr lang="es-ES_tradnl" dirty="0"/>
                  <a:t>Muestra de entrenamiento 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𝑡𝑟𝑎𝑖𝑛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 err="1"/>
                  <a:t>sample</a:t>
                </a:r>
                <a:r>
                  <a:rPr lang="es-ES_tradnl" dirty="0"/>
                  <a:t>): aquí </a:t>
                </a:r>
                <a:r>
                  <a:rPr lang="es-ES_tradnl" dirty="0">
                    <a:solidFill>
                      <a:schemeClr val="tx1"/>
                    </a:solidFill>
                  </a:rPr>
                  <a:t>estimamos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>
                    <a:solidFill>
                      <a:schemeClr val="tx1"/>
                    </a:solidFill>
                  </a:rPr>
                  <a:t> </a:t>
                </a:r>
              </a:p>
              <a:p>
                <a:pPr lvl="1"/>
                <a:r>
                  <a:rPr lang="es-ES_tradnl" dirty="0"/>
                  <a:t>Muestra de testeo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𝑡𝑒𝑠𝑡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 err="1"/>
                  <a:t>sample</a:t>
                </a:r>
                <a:r>
                  <a:rPr lang="es-ES_tradnl" dirty="0"/>
                  <a:t>): aquí evaluamos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𝑡𝑒𝑠𝑡</m:t>
                        </m:r>
                      </m:sub>
                    </m:sSub>
                  </m:oMath>
                </a14:m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0F2AA-E79E-4768-E507-82CDDB4BBB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409A6-8010-2D0F-2FEE-155035151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 descr="A black arrow pointing to a rectangular object&#10;&#10;Description automatically generated">
            <a:extLst>
              <a:ext uri="{FF2B5EF4-FFF2-40B4-BE49-F238E27FC236}">
                <a16:creationId xmlns:a16="http://schemas.microsoft.com/office/drawing/2014/main" id="{69F02D01-8C04-AB1E-D159-AAE5E3869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324" y="3429000"/>
            <a:ext cx="7467352" cy="22610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3AB8B1-92EF-89FD-FCFC-05A3970D5C83}"/>
                  </a:ext>
                </a:extLst>
              </p:cNvPr>
              <p:cNvSpPr txBox="1"/>
              <p:nvPr/>
            </p:nvSpPr>
            <p:spPr>
              <a:xfrm>
                <a:off x="3915657" y="4906303"/>
                <a:ext cx="16931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𝑟𝑎𝑖𝑛</m:t>
                      </m:r>
                    </m:oMath>
                  </m:oMathPara>
                </a14:m>
                <a:endParaRPr lang="es-ES_tradnl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3AB8B1-92EF-89FD-FCFC-05A3970D5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657" y="4906303"/>
                <a:ext cx="169318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8BF1316-3AB6-A985-4E46-617E0C6F9374}"/>
                  </a:ext>
                </a:extLst>
              </p:cNvPr>
              <p:cNvSpPr txBox="1"/>
              <p:nvPr/>
            </p:nvSpPr>
            <p:spPr>
              <a:xfrm>
                <a:off x="7258373" y="4865587"/>
                <a:ext cx="135222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𝑡𝑒𝑠𝑡</m:t>
                      </m:r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8BF1316-3AB6-A985-4E46-617E0C6F9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8373" y="4865587"/>
                <a:ext cx="135222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FD6A9A7-591C-53C8-65FB-01989DF0B749}"/>
              </a:ext>
            </a:extLst>
          </p:cNvPr>
          <p:cNvSpPr txBox="1"/>
          <p:nvPr/>
        </p:nvSpPr>
        <p:spPr>
          <a:xfrm>
            <a:off x="3672317" y="5827009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latin typeface="Gill Sans Nova Light" panose="020B0302020104020203" pitchFamily="34" charset="0"/>
              </a:rPr>
              <a:t>203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733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55D7A-CC17-1083-24EE-49C45A63A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5-fold cross-validation</a:t>
            </a:r>
          </a:p>
        </p:txBody>
      </p:sp>
      <p:pic>
        <p:nvPicPr>
          <p:cNvPr id="6" name="Content Placeholder 5" descr="A diagram with a black arrow pointing to a blue and orange rectangle&#10;&#10;Description automatically generated">
            <a:extLst>
              <a:ext uri="{FF2B5EF4-FFF2-40B4-BE49-F238E27FC236}">
                <a16:creationId xmlns:a16="http://schemas.microsoft.com/office/drawing/2014/main" id="{56CDCC88-300A-27C2-E4D9-C2EDF2DE7F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6325" y="1594209"/>
            <a:ext cx="8492665" cy="454311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EBB85-A7DF-2A2C-1F86-702F6EB8A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CA80C5-98A7-A38B-758E-FEF1F0841BC2}"/>
              </a:ext>
            </a:extLst>
          </p:cNvPr>
          <p:cNvSpPr txBox="1"/>
          <p:nvPr/>
        </p:nvSpPr>
        <p:spPr>
          <a:xfrm>
            <a:off x="1836420" y="6200358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latin typeface="Gill Sans Nova Light" panose="020B0302020104020203" pitchFamily="34" charset="0"/>
              </a:rPr>
              <a:t>207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BC5BA2-6D23-5E79-28D6-B12C033B9F75}"/>
                  </a:ext>
                </a:extLst>
              </p:cNvPr>
              <p:cNvSpPr txBox="1"/>
              <p:nvPr/>
            </p:nvSpPr>
            <p:spPr>
              <a:xfrm>
                <a:off x="6828883" y="4802126"/>
                <a:ext cx="135222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</m:oMath>
                  </m:oMathPara>
                </a14:m>
                <a:endParaRPr lang="es-ES_tradnl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BC5BA2-6D23-5E79-28D6-B12C033B9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883" y="4802126"/>
                <a:ext cx="1352227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72FAB9-8A8C-D334-A474-4B6ACA742E3A}"/>
                  </a:ext>
                </a:extLst>
              </p:cNvPr>
              <p:cNvSpPr txBox="1"/>
              <p:nvPr/>
            </p:nvSpPr>
            <p:spPr>
              <a:xfrm>
                <a:off x="8181110" y="5274827"/>
                <a:ext cx="135222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</m:oMath>
                  </m:oMathPara>
                </a14:m>
                <a:endParaRPr lang="es-ES_tradnl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72FAB9-8A8C-D334-A474-4B6ACA742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110" y="5274827"/>
                <a:ext cx="1352227" cy="461665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6CD38E-55BB-28A6-FC6D-1B8E897E5290}"/>
                  </a:ext>
                </a:extLst>
              </p:cNvPr>
              <p:cNvSpPr txBox="1"/>
              <p:nvPr/>
            </p:nvSpPr>
            <p:spPr>
              <a:xfrm>
                <a:off x="5419886" y="4221881"/>
                <a:ext cx="135222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</m:oMath>
                  </m:oMathPara>
                </a14:m>
                <a:endParaRPr lang="es-ES_tradnl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6CD38E-55BB-28A6-FC6D-1B8E897E5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886" y="4221881"/>
                <a:ext cx="1352227" cy="461665"/>
              </a:xfrm>
              <a:prstGeom prst="rect">
                <a:avLst/>
              </a:prstGeom>
              <a:blipFill>
                <a:blip r:embed="rId5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0FB1BA-BF89-C471-E4B7-5A1A60AF8D6D}"/>
                  </a:ext>
                </a:extLst>
              </p:cNvPr>
              <p:cNvSpPr txBox="1"/>
              <p:nvPr/>
            </p:nvSpPr>
            <p:spPr>
              <a:xfrm>
                <a:off x="3751105" y="3695857"/>
                <a:ext cx="135222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</m:oMath>
                  </m:oMathPara>
                </a14:m>
                <a:endParaRPr lang="es-ES_tradnl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0FB1BA-BF89-C471-E4B7-5A1A60AF8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1105" y="3695857"/>
                <a:ext cx="1352227" cy="461665"/>
              </a:xfrm>
              <a:prstGeom prst="rect">
                <a:avLst/>
              </a:prstGeom>
              <a:blipFill>
                <a:blip r:embed="rId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F3A761F-0AC2-76AF-C868-97CFFC6A49CF}"/>
                  </a:ext>
                </a:extLst>
              </p:cNvPr>
              <p:cNvSpPr txBox="1"/>
              <p:nvPr/>
            </p:nvSpPr>
            <p:spPr>
              <a:xfrm>
                <a:off x="2440443" y="3244334"/>
                <a:ext cx="13522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</m:oMath>
                  </m:oMathPara>
                </a14:m>
                <a:endParaRPr lang="es-ES_tradnl" sz="11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F3A761F-0AC2-76AF-C868-97CFFC6A4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0443" y="3244334"/>
                <a:ext cx="135222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451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8F365-6430-4FC5-EADB-3829B3847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MSE test para datos de auto</a:t>
            </a:r>
          </a:p>
        </p:txBody>
      </p:sp>
      <p:pic>
        <p:nvPicPr>
          <p:cNvPr id="6" name="Content Placeholder 5" descr="A graph of a number of graphs&#10;&#10;Description automatically generated with medium confidence">
            <a:extLst>
              <a:ext uri="{FF2B5EF4-FFF2-40B4-BE49-F238E27FC236}">
                <a16:creationId xmlns:a16="http://schemas.microsoft.com/office/drawing/2014/main" id="{5C6B1497-26BB-5730-D02B-8A39D39BBA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9076" y="1365224"/>
            <a:ext cx="10773847" cy="466566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175EA-AD98-51DD-EDF9-5BA786D09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A6D128-DFA8-A42F-F406-3BAE18855561}"/>
              </a:ext>
            </a:extLst>
          </p:cNvPr>
          <p:cNvSpPr txBox="1"/>
          <p:nvPr/>
        </p:nvSpPr>
        <p:spPr>
          <a:xfrm>
            <a:off x="3581401" y="6030886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203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BBF7706-1D46-F4F2-2FDD-39AB2704A856}"/>
              </a:ext>
            </a:extLst>
          </p:cNvPr>
          <p:cNvSpPr txBox="1"/>
          <p:nvPr/>
        </p:nvSpPr>
        <p:spPr>
          <a:xfrm>
            <a:off x="3272446" y="1365224"/>
            <a:ext cx="8506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  <a:latin typeface="Gill Sans Nova Light" panose="020B0302020104020203" pitchFamily="34" charset="0"/>
              </a:rPr>
              <a:t>K=1</a:t>
            </a:r>
            <a:endParaRPr lang="en-US" sz="66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B22BD9F0-A7E7-0DA0-1E2B-EF6121AECCFF}"/>
              </a:ext>
            </a:extLst>
          </p:cNvPr>
          <p:cNvSpPr txBox="1"/>
          <p:nvPr/>
        </p:nvSpPr>
        <p:spPr>
          <a:xfrm>
            <a:off x="8736677" y="1330200"/>
            <a:ext cx="11222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  <a:latin typeface="Gill Sans Nova Light" panose="020B0302020104020203" pitchFamily="34" charset="0"/>
              </a:rPr>
              <a:t>K=10</a:t>
            </a:r>
            <a:endParaRPr lang="en-US" sz="66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561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 validation: </a:t>
            </a:r>
            <a:r>
              <a:rPr lang="en-US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Partir datos al azar en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partes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Ajustar el modelo dejando afuera una de las particiones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Computar el error de predicción para los datos no utilizados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Repetir para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La estimación por cross-validation del error de predicción es: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𝑀𝑆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ES_tradnl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s-ES_tradnl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_tradnl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ES_tradnl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s-ES_tradnl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ES_tradnl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_tradnl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ES_tradnl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ES_tradnl" dirty="0"/>
                  <a:t>es la predicción hecha cuando la </a:t>
                </a:r>
                <a:r>
                  <a:rPr lang="es-ES_tradnl" dirty="0">
                    <a:solidFill>
                      <a:srgbClr val="00B050"/>
                    </a:solidFill>
                  </a:rPr>
                  <a:t>observación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_tradnl" dirty="0">
                    <a:solidFill>
                      <a:srgbClr val="00B050"/>
                    </a:solidFill>
                  </a:rPr>
                  <a:t> no fue usada </a:t>
                </a:r>
                <a:r>
                  <a:rPr lang="es-ES_tradnl" dirty="0"/>
                  <a:t>para estimar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744" b="-1627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17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 validation (continua)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Cada observación es usada en dos roles: entrenamiento y test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: estima el modelo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veces con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datos.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s-ES_tradnl" dirty="0"/>
                  <a:t>: no hay test data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ES_tradnl" dirty="0"/>
                  <a:t>: ‘</a:t>
                </a:r>
                <a:r>
                  <a:rPr lang="es-ES_tradnl" i="1" dirty="0" err="1"/>
                  <a:t>leave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one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out</a:t>
                </a:r>
                <a:r>
                  <a:rPr lang="es-ES_tradnl" dirty="0"/>
                  <a:t>’ (LOOV). Ir dejando de lado una observación por vez. Estima el modelo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veces con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−1</m:t>
                    </m:r>
                  </m:oMath>
                </a14:m>
                <a:r>
                  <a:rPr lang="es-ES_tradnl" dirty="0"/>
                  <a:t>datos.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467" r="-2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blue and white lines with a black arrow pointing to the top&#10;&#10;Description automatically generated">
            <a:extLst>
              <a:ext uri="{FF2B5EF4-FFF2-40B4-BE49-F238E27FC236}">
                <a16:creationId xmlns:a16="http://schemas.microsoft.com/office/drawing/2014/main" id="{EE4AD716-2957-320E-72ED-B516F5D87A1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19800" y="1825625"/>
            <a:ext cx="6123305" cy="331724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38B473-C72C-4757-06B4-1F79DECE37AD}"/>
              </a:ext>
            </a:extLst>
          </p:cNvPr>
          <p:cNvSpPr txBox="1"/>
          <p:nvPr/>
        </p:nvSpPr>
        <p:spPr>
          <a:xfrm>
            <a:off x="6019800" y="5411055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latin typeface="Gill Sans Nova Light" panose="020B0302020104020203" pitchFamily="34" charset="0"/>
              </a:rPr>
              <a:t>205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609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61BFA-446F-49D4-C721-725317590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síntesis: Cross-Validation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Marcador de contenido 4">
                <a:extLst>
                  <a:ext uri="{FF2B5EF4-FFF2-40B4-BE49-F238E27FC236}">
                    <a16:creationId xmlns:a16="http://schemas.microsoft.com/office/drawing/2014/main" id="{48D772F8-CF2E-04D3-4551-10CBD5D6896B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825625"/>
              <a:ext cx="10515600" cy="43513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5" name="Marcador de contenido 4">
                <a:extLst>
                  <a:ext uri="{FF2B5EF4-FFF2-40B4-BE49-F238E27FC236}">
                    <a16:creationId xmlns:a16="http://schemas.microsoft.com/office/drawing/2014/main" id="{48D772F8-CF2E-04D3-4551-10CBD5D6896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19405938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FE90BF-8B07-C585-A261-0CC4D61FF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23</a:t>
            </a:fld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3E1FF9D-F6C3-51E4-8847-F4DAD8132FB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1596" y="2250831"/>
            <a:ext cx="1964067" cy="50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916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9C4A4E-B06A-35E2-F00A-2C1DC47E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cross-validation para </a:t>
            </a:r>
            <a:r>
              <a:rPr lang="en-US" dirty="0" err="1"/>
              <a:t>clasificación</a:t>
            </a:r>
            <a:r>
              <a:rPr lang="en-US" dirty="0"/>
              <a:t> 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BA7B7EB-BA6E-C63A-6BE7-F9CCF1E038D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Tasa de error de LOOCV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𝐸𝑟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s-ES_tradnl" dirty="0"/>
                  <a:t>Con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𝐸𝑟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¿a quiénes incluye esta tasa de error?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BA7B7EB-BA6E-C63A-6BE7-F9CCF1E038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689" t="-5523" b="-1075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17394C10-D9CB-816A-11EB-25D3126446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881533" y="2145391"/>
            <a:ext cx="3094374" cy="3385873"/>
          </a:xfr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C88603-E217-BDE1-2ECF-BCC4C1044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24</a:t>
            </a:fld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3F75CE7-7088-C2CD-CAA5-EE7395CF1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621" y="2145391"/>
            <a:ext cx="3228912" cy="34419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8D206373-70D8-245A-FA20-3E9A3860AB0D}"/>
                  </a:ext>
                </a:extLst>
              </p:cNvPr>
              <p:cNvSpPr txBox="1"/>
              <p:nvPr/>
            </p:nvSpPr>
            <p:spPr>
              <a:xfrm>
                <a:off x="5787159" y="1522464"/>
                <a:ext cx="3094374" cy="622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8D206373-70D8-245A-FA20-3E9A3860A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159" y="1522464"/>
                <a:ext cx="3094374" cy="622927"/>
              </a:xfrm>
              <a:prstGeom prst="rect">
                <a:avLst/>
              </a:prstGeom>
              <a:blipFill>
                <a:blip r:embed="rId5"/>
                <a:stretch>
                  <a:fillRect b="-8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E392ADEF-87F7-C09C-37D2-68D3297465E2}"/>
                  </a:ext>
                </a:extLst>
              </p:cNvPr>
              <p:cNvSpPr txBox="1"/>
              <p:nvPr/>
            </p:nvSpPr>
            <p:spPr>
              <a:xfrm>
                <a:off x="7010400" y="5554036"/>
                <a:ext cx="5181600" cy="622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E392ADEF-87F7-C09C-37D2-68D329746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5554036"/>
                <a:ext cx="5181600" cy="622927"/>
              </a:xfrm>
              <a:prstGeom prst="rect">
                <a:avLst/>
              </a:prstGeom>
              <a:blipFill>
                <a:blip r:embed="rId6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7">
            <a:extLst>
              <a:ext uri="{FF2B5EF4-FFF2-40B4-BE49-F238E27FC236}">
                <a16:creationId xmlns:a16="http://schemas.microsoft.com/office/drawing/2014/main" id="{3561B1FF-3589-7613-08BB-1168B064EC74}"/>
              </a:ext>
            </a:extLst>
          </p:cNvPr>
          <p:cNvSpPr txBox="1"/>
          <p:nvPr/>
        </p:nvSpPr>
        <p:spPr>
          <a:xfrm>
            <a:off x="6019800" y="6187073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210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8217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77284-01B2-6A0F-FAD8-C6608B4BD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EE629-4DAC-879A-7972-48EBF91A0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¿Por qué funciona Cross-Validation? 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DF844C-3C1C-BAE9-5EA4-62B69EA9D3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Ley de Grandes Números</a:t>
            </a: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F8D52-8620-FFF7-829E-773920B3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967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Repaso rápido de la Ley de Grandes Números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D99CE-AB55-B346-755A-A5EC3A523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409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Ley de Grandes Números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:r>
                  <a:rPr lang="es-ES_tradnl" dirty="0"/>
                  <a:t>Sea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s-ES_tradnl" dirty="0"/>
                  <a:t>una sucesión de variables aleatorias escalares. Considere la siguiente sucesión: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s-ES_tradnl" dirty="0">
                    <a:solidFill>
                      <a:srgbClr val="FF0000"/>
                    </a:solidFill>
                  </a:rPr>
                  <a:t>Ley de grandes números (</a:t>
                </a:r>
                <a:r>
                  <a:rPr lang="es-ES_tradnl" dirty="0" err="1">
                    <a:solidFill>
                      <a:srgbClr val="FF0000"/>
                    </a:solidFill>
                  </a:rPr>
                  <a:t>Kolmogorov</a:t>
                </a:r>
                <a:r>
                  <a:rPr lang="es-ES_tradnl" dirty="0">
                    <a:solidFill>
                      <a:srgbClr val="FF0000"/>
                    </a:solidFill>
                  </a:rPr>
                  <a:t>)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</a:t>
                </a:r>
                <a:r>
                  <a:rPr lang="es-ES_tradnl" dirty="0" err="1"/>
                  <a:t>iid</a:t>
                </a:r>
                <a:r>
                  <a:rPr lang="es-ES_tradnl" dirty="0"/>
                  <a:t> con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ES_tradnl" dirty="0"/>
                  <a:t> finita, Entonces: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b="-61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E5CD0-FD32-799F-BDB1-5F9DDC6DE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953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¿Por qué funciona Cross-Validation?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Ley de Grandes Números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𝐶𝑉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𝑀𝑆𝐸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s-ES_tradnl" b="0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Computamos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𝑀𝑆𝐸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para cada partición y luego promediamos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Nos aproximamos 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 (es como 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ES_tradnl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848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494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C50FA89-B89E-1FA8-F35A-25ABDA33F63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K-fold cross validation: </a:t>
                </a:r>
                <a:r>
                  <a:rPr lang="en-US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Elección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C50FA89-B89E-1FA8-F35A-25ABDA33F6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chico</a:t>
                </a:r>
                <a:r>
                  <a:rPr lang="es-ES_tradnl" dirty="0"/>
                  <a:t>: maximiza datos para estimar, sensible a los valores particulares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grande</a:t>
                </a:r>
                <a:r>
                  <a:rPr lang="es-ES_tradnl" dirty="0"/>
                  <a:t>: maximiza datos para evaluar, modelo estimado menos precisamente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Regla en la práctica</a:t>
                </a:r>
                <a:r>
                  <a:rPr lang="es-ES_tradnl" dirty="0"/>
                  <a:t>: 5 0 10 (Ver </a:t>
                </a:r>
                <a:r>
                  <a:rPr lang="es-ES_tradnl" sz="28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Kohavi</a:t>
                </a:r>
                <a:r>
                  <a:rPr lang="es-ES_tradnl" sz="2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(1995)</a:t>
                </a:r>
                <a:r>
                  <a:rPr lang="es-ES_tradnl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095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Cross </a:t>
            </a:r>
            <a:r>
              <a:rPr lang="es-ES_tradnl" dirty="0" err="1"/>
              <a:t>validation</a:t>
            </a:r>
            <a:r>
              <a:rPr lang="es-ES_tradnl" dirty="0"/>
              <a:t> para la elección de modelos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Supongamos que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dirty="0"/>
                  <a:t> </a:t>
                </a:r>
                <a:r>
                  <a:rPr lang="es-ES_tradnl" dirty="0"/>
                  <a:t>representa la </a:t>
                </a:r>
                <a:r>
                  <a:rPr lang="es-ES_tradnl" dirty="0">
                    <a:solidFill>
                      <a:srgbClr val="002060"/>
                    </a:solidFill>
                  </a:rPr>
                  <a:t>complejidad</a:t>
                </a:r>
                <a:r>
                  <a:rPr lang="es-ES_tradnl" dirty="0"/>
                  <a:t> de un modelo.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Ejemplo: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l-GR" dirty="0"/>
                  <a:t> </a:t>
                </a:r>
                <a:r>
                  <a:rPr lang="es-ES_tradnl" dirty="0"/>
                  <a:t>grado de polinomio en nuestro caso inicial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Cross </a:t>
                </a:r>
                <a:r>
                  <a:rPr lang="es-ES_tradnl" dirty="0" err="1"/>
                  <a:t>validation</a:t>
                </a:r>
                <a:r>
                  <a:rPr lang="es-ES_tradnl" dirty="0"/>
                  <a:t> para un modelo indexado por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dirty="0"/>
                  <a:t>:</a:t>
                </a: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s-ES_tradnl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s-ES_tradnl" dirty="0">
                    <a:solidFill>
                      <a:srgbClr val="FF0000"/>
                    </a:solidFill>
                  </a:rPr>
                  <a:t>Idea</a:t>
                </a:r>
                <a:r>
                  <a:rPr lang="es-ES_tradnl" dirty="0"/>
                  <a:t>: computar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s-ES_tradnl" dirty="0"/>
                  <a:t> para una grilla de valores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_tradnl" dirty="0"/>
                  <a:t> y minimizar.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s-ES_tradnl" dirty="0">
                    <a:solidFill>
                      <a:srgbClr val="002060"/>
                    </a:solidFill>
                  </a:rPr>
                  <a:t>Ejemplo</a:t>
                </a:r>
                <a:r>
                  <a:rPr lang="es-ES_tradnl" dirty="0"/>
                  <a:t>: error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𝐶𝑉</m:t>
                    </m:r>
                  </m:oMath>
                </a14:m>
                <a:r>
                  <a:rPr lang="es-ES_tradnl" dirty="0"/>
                  <a:t> para distintos grados de polinomio, elegir el que minimiza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453" b="-1831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01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Elección del grado de un polinomio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Content Placeholder 5" descr="A comparison of graphs with numbers&#10;&#10;Description automatically generated with medium confidence">
            <a:extLst>
              <a:ext uri="{FF2B5EF4-FFF2-40B4-BE49-F238E27FC236}">
                <a16:creationId xmlns:a16="http://schemas.microsoft.com/office/drawing/2014/main" id="{64FDE736-7F77-9E51-2ECC-A6DF88C433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6700" y="2013744"/>
            <a:ext cx="9118600" cy="39751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8AFED9-EBF3-40F9-9973-DF3CD08C91C0}"/>
                  </a:ext>
                </a:extLst>
              </p:cNvPr>
              <p:cNvSpPr txBox="1"/>
              <p:nvPr/>
            </p:nvSpPr>
            <p:spPr>
              <a:xfrm>
                <a:off x="3342736" y="1620050"/>
                <a:ext cx="19711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s-ES_tradnl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8AFED9-EBF3-40F9-9973-DF3CD08C9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736" y="1620050"/>
                <a:ext cx="197113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9CC6C2C-DCFF-567E-0841-CEA8C2DC9E59}"/>
                  </a:ext>
                </a:extLst>
              </p:cNvPr>
              <p:cNvSpPr txBox="1"/>
              <p:nvPr/>
            </p:nvSpPr>
            <p:spPr>
              <a:xfrm>
                <a:off x="7625032" y="1568381"/>
                <a:ext cx="19711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s-ES_tradnl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9CC6C2C-DCFF-567E-0841-CEA8C2DC9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5032" y="1568381"/>
                <a:ext cx="197113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A5E0486-EC23-C22E-7BED-212CAA61E639}"/>
              </a:ext>
            </a:extLst>
          </p:cNvPr>
          <p:cNvSpPr txBox="1"/>
          <p:nvPr/>
        </p:nvSpPr>
        <p:spPr>
          <a:xfrm>
            <a:off x="3581401" y="6056473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Fuente: James, Witten, Hastie y Tibshirani, 2023. p.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206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2313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Bootstrap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5.2</a:t>
            </a:r>
            <a:endParaRPr lang="en-US" b="1" i="1" dirty="0"/>
          </a:p>
          <a:p>
            <a:r>
              <a:rPr lang="en-US" dirty="0"/>
              <a:t>Hastie, T., Tibshirani, T. Y Freedman, J. (2013) </a:t>
            </a:r>
            <a:r>
              <a:rPr lang="en-US" i="1" dirty="0"/>
              <a:t>The Elements of Statistical Learning. </a:t>
            </a:r>
            <a:r>
              <a:rPr lang="en-US" b="1" dirty="0"/>
              <a:t>Chap 7.11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075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Ejemplo conocido: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Media muestral y estimación de la Varianza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:r>
                  <a:rPr lang="es-ES_tradnl" dirty="0" err="1"/>
                  <a:t>iid</a:t>
                </a: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s-ES_tradnl" dirty="0"/>
                  <a:t> ambas finitas</a:t>
                </a:r>
              </a:p>
              <a:p>
                <a:r>
                  <a:rPr lang="es-ES_tradnl" dirty="0"/>
                  <a:t>Queremos estimar la varianza de la media muestral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Formula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con:</a:t>
                </a:r>
              </a:p>
              <a:p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s-ES_tradnl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 b="-5203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509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Bootstrap: Método alternativo “sin formula”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De los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 datos originales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ES_tradnl" dirty="0"/>
                  <a:t> tomar una muestra </a:t>
                </a:r>
                <a:r>
                  <a:rPr lang="es-ES_tradnl" dirty="0">
                    <a:solidFill>
                      <a:srgbClr val="FF0000"/>
                    </a:solidFill>
                  </a:rPr>
                  <a:t>con reposición</a:t>
                </a:r>
                <a:r>
                  <a:rPr lang="es-ES_tradnl" dirty="0"/>
                  <a:t> de tamaño </a:t>
                </a:r>
                <a14:m>
                  <m:oMath xmlns:m="http://schemas.openxmlformats.org/officeDocument/2006/math">
                    <m:r>
                      <a:rPr lang="es-ES_tradnl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s-ES_tradnl" dirty="0">
                  <a:solidFill>
                    <a:srgbClr val="FF0000"/>
                  </a:solidFill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Computar la media muestral con esta </a:t>
                </a:r>
                <a:r>
                  <a:rPr lang="es-ES_tradnl" dirty="0">
                    <a:solidFill>
                      <a:srgbClr val="002060"/>
                    </a:solidFill>
                  </a:rPr>
                  <a:t>pseudo-muestra</a:t>
                </a:r>
                <a:endParaRPr lang="es-ES_tradnl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Repetir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veces. Al finalizar tendremos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estimaciones de media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Computar la varianza de 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medias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257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610E3-54E1-30D2-E66E-58BB9AE57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Bootstrap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9FAB8-61E4-9C79-60FC-ED9E5AB6F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35</a:t>
            </a:fld>
            <a:endParaRPr lang="en-US"/>
          </a:p>
        </p:txBody>
      </p:sp>
      <p:pic>
        <p:nvPicPr>
          <p:cNvPr id="10" name="Content Placeholder 9" descr="A diagram of a data flow&#10;&#10;Description automatically generated">
            <a:extLst>
              <a:ext uri="{FF2B5EF4-FFF2-40B4-BE49-F238E27FC236}">
                <a16:creationId xmlns:a16="http://schemas.microsoft.com/office/drawing/2014/main" id="{B78BB9C9-2CC5-CA0B-7E59-EAB81AA36A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7277" y="1441985"/>
            <a:ext cx="5325604" cy="479012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425DDCF-71C2-FF78-02AD-C68703304C17}"/>
              </a:ext>
            </a:extLst>
          </p:cNvPr>
          <p:cNvSpPr txBox="1"/>
          <p:nvPr/>
        </p:nvSpPr>
        <p:spPr>
          <a:xfrm>
            <a:off x="3117277" y="6233060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215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3962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Bootstrap formalmente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b="0" dirty="0"/>
                  <a:t>Sea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s-ES_tradnl" dirty="0"/>
                  <a:t> es un parámetro de interés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Muestra de tamaño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con reemplazo de la muestra original (</a:t>
                </a:r>
                <a:r>
                  <a:rPr lang="es-ES_tradnl" dirty="0">
                    <a:solidFill>
                      <a:srgbClr val="00B050"/>
                    </a:solidFill>
                  </a:rPr>
                  <a:t>muestra</a:t>
                </a:r>
                <a:r>
                  <a:rPr lang="es-ES_tradnl" dirty="0"/>
                  <a:t> </a:t>
                </a:r>
                <a:r>
                  <a:rPr lang="es-ES_tradnl" dirty="0" err="1">
                    <a:solidFill>
                      <a:srgbClr val="00B050"/>
                    </a:solidFill>
                  </a:rPr>
                  <a:t>bootstrap</a:t>
                </a:r>
                <a:r>
                  <a:rPr lang="es-ES_tradnl" dirty="0"/>
                  <a:t>).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Computar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s-ES_tradnl" i="1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Repetir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veces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Computar</a:t>
                </a:r>
                <a:r>
                  <a:rPr lang="es-ES_tradnl" b="0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sz="2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</m:d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p>
                            <m:s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1163" b="-3604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501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Intuición de la utilidad de Bootstrap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¿Por qué hacer </a:t>
                </a:r>
                <a:r>
                  <a:rPr lang="es-ES_tradnl" dirty="0" err="1"/>
                  <a:t>bootstraping</a:t>
                </a:r>
                <a:r>
                  <a:rPr lang="es-ES_tradnl" dirty="0"/>
                  <a:t>?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En la mayoría de los casos </a:t>
                </a:r>
                <a:r>
                  <a:rPr lang="es-ES_tradnl" dirty="0">
                    <a:solidFill>
                      <a:srgbClr val="FF0000"/>
                    </a:solidFill>
                  </a:rPr>
                  <a:t>NO</a:t>
                </a:r>
                <a:r>
                  <a:rPr lang="es-ES_tradnl" dirty="0"/>
                  <a:t> hay fórmula para la varianza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Ejemplos </a:t>
                </a:r>
                <a:r>
                  <a:rPr lang="es-ES_tradnl" dirty="0">
                    <a:solidFill>
                      <a:srgbClr val="002060"/>
                    </a:solidFill>
                  </a:rPr>
                  <a:t>sin formula directa </a:t>
                </a:r>
                <a:r>
                  <a:rPr lang="es-ES_tradnl" dirty="0"/>
                  <a:t>de la varianza: 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s-ES_tradnl" dirty="0"/>
                  <a:t>Coeficiente de Gini, mediana, IPC, otros índices de desigualdad, rendimiento de acciones…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Intervalos de confianza</a:t>
                </a:r>
                <a:r>
                  <a:rPr lang="es-ES_tradnl" dirty="0"/>
                  <a:t>: percentiles empíricos de las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estimaciones </a:t>
                </a:r>
                <a:r>
                  <a:rPr lang="es-ES_tradnl" dirty="0" err="1"/>
                  <a:t>bootstrap</a:t>
                </a:r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¿Regresión?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b="-8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2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Regresiones: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Errores Estándar “</a:t>
            </a:r>
            <a:r>
              <a:rPr lang="es-ES_tradnl" sz="40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Bootstrapeados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”  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b="0" dirty="0"/>
                  <a:t>Modelo: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_tradnl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func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es una variable binaria. Recordar que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ES_trad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. Supongamos que realmente nos interesa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Podemos estimar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s-ES_tradnl" dirty="0"/>
                  <a:t> por MCO de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_tradnl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func>
                  </m:oMath>
                </a14:m>
                <a:r>
                  <a:rPr lang="es-ES_tradnl" dirty="0"/>
                  <a:t> en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y la varianza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 varianza con </a:t>
                </a:r>
                <a:r>
                  <a:rPr lang="es-ES_tradnl" dirty="0" err="1"/>
                  <a:t>Bootstrapping</a:t>
                </a:r>
                <a:endParaRPr lang="es-ES_tradnl" dirty="0"/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Tomar una muestra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de tamaño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con reemplazo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Estimar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s-ES_tradnl" dirty="0"/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Computar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_tradnl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s-ES_tradnl" i="1" dirty="0"/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Computar la varianza muestral de los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1163" r="-8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920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Entendiendo por qué funciona Bootstrap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Muestra de Muestra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grande: </a:t>
                </a:r>
                <a:r>
                  <a:rPr lang="es-ES_tradnl" dirty="0"/>
                  <a:t>es como si estuviésemos tomando una muestra de la población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Teorema fundamental de la estadística</a:t>
                </a:r>
                <a:r>
                  <a:rPr lang="es-ES_tradnl" dirty="0"/>
                  <a:t>: estamos reemplazando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s-ES_tradnl" dirty="0"/>
                  <a:t>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s-ES_tradnl" dirty="0"/>
                  <a:t> (</a:t>
                </a:r>
                <a:r>
                  <a:rPr lang="es-ES_tradnl" sz="3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Revisar: Econometría Avanzada</a:t>
                </a:r>
                <a:r>
                  <a:rPr lang="es-ES_tradnl" dirty="0"/>
                  <a:t>).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120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3380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Aplicaciones de Bootstrap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n-US" dirty="0"/>
              <a:t>*Sosa Escudero, W., &amp; Gasparini, L. (2000). A note on the statistical significance of changes in inequality. </a:t>
            </a:r>
            <a:r>
              <a:rPr lang="en-US" i="1" dirty="0" err="1"/>
              <a:t>Económica</a:t>
            </a:r>
            <a:r>
              <a:rPr lang="en-US" dirty="0"/>
              <a:t>, 46.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185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CB016-48C7-FFD8-3F64-B39C80D31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Intervalos de Confianza para el Coeficiente de Gini: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Sosa &amp; Gasparini (2000)</a:t>
            </a:r>
            <a:r>
              <a:rPr lang="es-ES_tradnl" dirty="0"/>
              <a:t> </a:t>
            </a:r>
          </a:p>
        </p:txBody>
      </p:sp>
      <p:pic>
        <p:nvPicPr>
          <p:cNvPr id="6" name="Content Placeholder 5" descr="A graph of the same type of numbers&#10;&#10;Description automatically generated with medium confidence">
            <a:extLst>
              <a:ext uri="{FF2B5EF4-FFF2-40B4-BE49-F238E27FC236}">
                <a16:creationId xmlns:a16="http://schemas.microsoft.com/office/drawing/2014/main" id="{133F149C-879E-3CDB-BEA0-136B00D488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9465" y="1861344"/>
            <a:ext cx="8508835" cy="486013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4D16B-790D-C942-A47F-2FCA9B96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45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Discutimos</a:t>
            </a:r>
            <a:r>
              <a:rPr lang="es-ES_tradnl" dirty="0"/>
              <a:t> el problema de modelos más complejos y </a:t>
            </a:r>
            <a:r>
              <a:rPr lang="es-ES_tradnl" dirty="0">
                <a:solidFill>
                  <a:srgbClr val="002060"/>
                </a:solidFill>
              </a:rPr>
              <a:t>overfitting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Relacionamos</a:t>
            </a:r>
            <a:r>
              <a:rPr lang="es-ES_tradnl" dirty="0"/>
              <a:t> el resultado de descomposición de la varianza con el problema de overfitting y excesos de complejidad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Presentamos</a:t>
            </a:r>
            <a:r>
              <a:rPr lang="es-ES_tradnl" dirty="0"/>
              <a:t> el método de remuestreo de </a:t>
            </a:r>
            <a:r>
              <a:rPr lang="es-ES_tradnl" dirty="0">
                <a:solidFill>
                  <a:srgbClr val="002060"/>
                </a:solidFill>
              </a:rPr>
              <a:t>cross-validation </a:t>
            </a:r>
            <a:r>
              <a:rPr lang="es-ES_tradnl" dirty="0"/>
              <a:t>para: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la </a:t>
            </a:r>
            <a:r>
              <a:rPr lang="es-ES_tradnl" dirty="0">
                <a:solidFill>
                  <a:srgbClr val="002060"/>
                </a:solidFill>
              </a:rPr>
              <a:t>elección</a:t>
            </a:r>
            <a:r>
              <a:rPr lang="es-ES_tradnl" dirty="0"/>
              <a:t> de la </a:t>
            </a:r>
            <a:r>
              <a:rPr lang="es-ES_tradnl" dirty="0">
                <a:solidFill>
                  <a:srgbClr val="002060"/>
                </a:solidFill>
              </a:rPr>
              <a:t>complejidad</a:t>
            </a:r>
            <a:r>
              <a:rPr lang="es-ES_tradnl" dirty="0"/>
              <a:t> de un modelo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la </a:t>
            </a:r>
            <a:r>
              <a:rPr lang="es-ES_tradnl" dirty="0">
                <a:solidFill>
                  <a:srgbClr val="002060"/>
                </a:solidFill>
              </a:rPr>
              <a:t>evaluación</a:t>
            </a:r>
            <a:r>
              <a:rPr lang="es-ES_tradnl" dirty="0"/>
              <a:t> de </a:t>
            </a:r>
            <a:r>
              <a:rPr lang="es-ES_tradnl" dirty="0">
                <a:solidFill>
                  <a:srgbClr val="002060"/>
                </a:solidFill>
              </a:rPr>
              <a:t>predicción</a:t>
            </a:r>
            <a:r>
              <a:rPr lang="es-ES_tradnl" dirty="0"/>
              <a:t> </a:t>
            </a:r>
            <a:r>
              <a:rPr lang="es-ES_tradnl" i="1" dirty="0">
                <a:solidFill>
                  <a:srgbClr val="FF0000"/>
                </a:solidFill>
              </a:rPr>
              <a:t>afuera</a:t>
            </a:r>
            <a:r>
              <a:rPr lang="es-ES_tradnl" dirty="0"/>
              <a:t> de la </a:t>
            </a:r>
            <a:r>
              <a:rPr lang="es-ES_tradnl" dirty="0">
                <a:solidFill>
                  <a:srgbClr val="002060"/>
                </a:solidFill>
              </a:rPr>
              <a:t>muestra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Repasamos</a:t>
            </a:r>
            <a:r>
              <a:rPr lang="es-ES_tradnl" dirty="0"/>
              <a:t> la Ley de Grandes Números para entender la </a:t>
            </a:r>
            <a:r>
              <a:rPr lang="es-ES_tradnl" dirty="0">
                <a:solidFill>
                  <a:srgbClr val="00B050"/>
                </a:solidFill>
              </a:rPr>
              <a:t>ventaja</a:t>
            </a:r>
            <a:r>
              <a:rPr lang="es-ES_tradnl" dirty="0"/>
              <a:t> de </a:t>
            </a:r>
            <a:r>
              <a:rPr lang="es-ES_tradnl" dirty="0">
                <a:solidFill>
                  <a:srgbClr val="002060"/>
                </a:solidFill>
              </a:rPr>
              <a:t>cross-validation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01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Explicamos</a:t>
            </a:r>
            <a:r>
              <a:rPr lang="es-ES_tradnl" dirty="0"/>
              <a:t> otro método de remuestreo llamado </a:t>
            </a:r>
            <a:r>
              <a:rPr lang="es-ES_tradnl" dirty="0">
                <a:solidFill>
                  <a:srgbClr val="002060"/>
                </a:solidFill>
              </a:rPr>
              <a:t>Bootstrap</a:t>
            </a:r>
            <a:r>
              <a:rPr lang="es-ES_tradnl" dirty="0"/>
              <a:t>.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Estimar</a:t>
            </a:r>
            <a:r>
              <a:rPr lang="es-ES_tradnl" dirty="0"/>
              <a:t> </a:t>
            </a:r>
            <a:r>
              <a:rPr lang="es-ES_tradnl" dirty="0">
                <a:solidFill>
                  <a:srgbClr val="002060"/>
                </a:solidFill>
              </a:rPr>
              <a:t>varianza</a:t>
            </a:r>
            <a:r>
              <a:rPr lang="es-ES_tradnl" dirty="0"/>
              <a:t> y </a:t>
            </a:r>
            <a:r>
              <a:rPr lang="es-ES_tradnl" dirty="0">
                <a:solidFill>
                  <a:srgbClr val="002060"/>
                </a:solidFill>
              </a:rPr>
              <a:t>calcular</a:t>
            </a:r>
            <a:r>
              <a:rPr lang="es-ES_tradnl" dirty="0"/>
              <a:t> intervalos de confianza de parámetros sin formula de varianza</a:t>
            </a:r>
          </a:p>
          <a:p>
            <a:pPr lvl="2">
              <a:lnSpc>
                <a:spcPct val="150000"/>
              </a:lnSpc>
            </a:pPr>
            <a:r>
              <a:rPr lang="es-ES_tradnl" dirty="0"/>
              <a:t>Hacer </a:t>
            </a:r>
            <a:r>
              <a:rPr lang="es-ES_tradnl" dirty="0">
                <a:solidFill>
                  <a:srgbClr val="002060"/>
                </a:solidFill>
              </a:rPr>
              <a:t>inferencia estadística </a:t>
            </a:r>
            <a:r>
              <a:rPr lang="es-ES_tradnl" dirty="0"/>
              <a:t>del parámetro de interés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Vimos una aplicación en economía aplicada de Bootstrap para estimar intervalos de confianza del Índice de Gini.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0955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>
                <a:latin typeface="Gill Sans Nova Light" panose="020B0302020104020203" pitchFamily="34" charset="0"/>
              </a:rPr>
              <a:t>Consultas: 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  <a:hlinkClick r:id="rId2"/>
              </a:rPr>
              <a:t>25RO35480961@campus.economicas.uba.ar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s-ES_tradnl" dirty="0">
              <a:latin typeface="Gill Sans Nova Light" panose="020B03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75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6085</TotalTime>
  <Words>2144</Words>
  <Application>Microsoft Macintosh PowerPoint</Application>
  <PresentationFormat>Panorámica</PresentationFormat>
  <Paragraphs>298</Paragraphs>
  <Slides>45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53" baseType="lpstr">
      <vt:lpstr>Arial</vt:lpstr>
      <vt:lpstr>Calibri</vt:lpstr>
      <vt:lpstr>Cambria Math</vt:lpstr>
      <vt:lpstr>Gill Sans Nova Light</vt:lpstr>
      <vt:lpstr>Goudy Old Style</vt:lpstr>
      <vt:lpstr>Times</vt:lpstr>
      <vt:lpstr>Times New Roman</vt:lpstr>
      <vt:lpstr>Office Theme</vt:lpstr>
      <vt:lpstr>Técnicas de remuestreo: Cross-Validation &amp; Bootstrapping</vt:lpstr>
      <vt:lpstr>Cuestiones operativas del curso: Próximos Deadlines</vt:lpstr>
      <vt:lpstr>En la clase de hoy</vt:lpstr>
      <vt:lpstr>Repaso clase anterior</vt:lpstr>
      <vt:lpstr>Motivación</vt:lpstr>
      <vt:lpstr>El problema de Overfitting</vt:lpstr>
      <vt:lpstr>Recordamos Error de Pronóstico y MSE </vt:lpstr>
      <vt:lpstr>Recordamos Error de Pronóstico y MSE II</vt:lpstr>
      <vt:lpstr>Idea de Validación y Aprendizaje Automático</vt:lpstr>
      <vt:lpstr>MSE test</vt:lpstr>
      <vt:lpstr>Trade-off sesgo-varianza</vt:lpstr>
      <vt:lpstr>Muestras de Entrenamiento y Testeo</vt:lpstr>
      <vt:lpstr>Ilustración I: Complejidad y train &amp; test MSE. Modelo verdadero lineal </vt:lpstr>
      <vt:lpstr>Ilustración II: Complejidad y train &amp; test MSE. Modelo verdadero no lineal </vt:lpstr>
      <vt:lpstr>En resumen</vt:lpstr>
      <vt:lpstr>Cross Validation</vt:lpstr>
      <vt:lpstr>Motivación: Mercado de Trabajo</vt:lpstr>
      <vt:lpstr>Enfoque de Validación</vt:lpstr>
      <vt:lpstr>Ilustración de 5-fold cross-validation</vt:lpstr>
      <vt:lpstr>Ilustración de MSE test para datos de auto</vt:lpstr>
      <vt:lpstr>K-fold cross validation: Formalmente</vt:lpstr>
      <vt:lpstr>K-fold cross validation (continua)</vt:lpstr>
      <vt:lpstr>En síntesis: Cross-Validation</vt:lpstr>
      <vt:lpstr>K-fold cross-validation para clasificación </vt:lpstr>
      <vt:lpstr>¿Por qué funciona Cross-Validation? </vt:lpstr>
      <vt:lpstr>Repaso rápido de la Ley de Grandes Números</vt:lpstr>
      <vt:lpstr>Ley de Grandes Números </vt:lpstr>
      <vt:lpstr>¿Por qué funciona Cross-Validation? Ley de Grandes Números</vt:lpstr>
      <vt:lpstr>K-fold cross validation: Elección de K</vt:lpstr>
      <vt:lpstr>Cross validation para la elección de modelos</vt:lpstr>
      <vt:lpstr>Ilustración: Elección del grado de un polinomio</vt:lpstr>
      <vt:lpstr>Bootstrap</vt:lpstr>
      <vt:lpstr>Ejemplo conocido: Media muestral y estimación de la Varianza</vt:lpstr>
      <vt:lpstr>Bootstrap: Método alternativo “sin formula”</vt:lpstr>
      <vt:lpstr>Ilustración de Bootstrap</vt:lpstr>
      <vt:lpstr>Bootstrap formalmente</vt:lpstr>
      <vt:lpstr>Intuición de la utilidad de Bootstrap</vt:lpstr>
      <vt:lpstr>Regresiones: Errores Estándar “Bootstrapeados”  </vt:lpstr>
      <vt:lpstr>Entendiendo por qué funciona Bootstrap</vt:lpstr>
      <vt:lpstr>Aplicaciones de Bootstrap</vt:lpstr>
      <vt:lpstr>Intervalos de Confianza para el Coeficiente de Gini: Sosa &amp; Gasparini (2000) </vt:lpstr>
      <vt:lpstr>Conclusiones finales</vt:lpstr>
      <vt:lpstr>¿Qué aprendimos hoy?</vt:lpstr>
      <vt:lpstr>¿Qué aprendimos hoy?</vt:lpstr>
      <vt:lpstr>¿Dudas, consultas?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Noelia Romero</cp:lastModifiedBy>
  <cp:revision>197</cp:revision>
  <dcterms:created xsi:type="dcterms:W3CDTF">2023-06-12T20:51:31Z</dcterms:created>
  <dcterms:modified xsi:type="dcterms:W3CDTF">2025-10-29T20:34:32Z</dcterms:modified>
</cp:coreProperties>
</file>