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423" r:id="rId2"/>
    <p:sldId id="275" r:id="rId3"/>
    <p:sldId id="329" r:id="rId4"/>
    <p:sldId id="267" r:id="rId5"/>
    <p:sldId id="268" r:id="rId6"/>
    <p:sldId id="348" r:id="rId7"/>
    <p:sldId id="347" r:id="rId8"/>
    <p:sldId id="477" r:id="rId9"/>
    <p:sldId id="410" r:id="rId10"/>
    <p:sldId id="349" r:id="rId11"/>
    <p:sldId id="478" r:id="rId12"/>
    <p:sldId id="409" r:id="rId13"/>
    <p:sldId id="350" r:id="rId14"/>
    <p:sldId id="337" r:id="rId15"/>
    <p:sldId id="314" r:id="rId16"/>
    <p:sldId id="44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275"/>
          </p14:sldIdLst>
        </p14:section>
        <p14:section name="Eleccion de modelos: Motivación" id="{F06AC147-1820-E64A-873C-8C467231AE8F}">
          <p14:sldIdLst>
            <p14:sldId id="329"/>
            <p14:sldId id="267"/>
            <p14:sldId id="268"/>
          </p14:sldIdLst>
        </p14:section>
        <p14:section name="Eleccion de modelos: Best, Forward and Backward subset selection" id="{053A4A06-A05F-6D46-82D6-5539DF7FADC8}">
          <p14:sldIdLst>
            <p14:sldId id="348"/>
            <p14:sldId id="347"/>
            <p14:sldId id="477"/>
            <p14:sldId id="410"/>
            <p14:sldId id="349"/>
            <p14:sldId id="478"/>
            <p14:sldId id="409"/>
            <p14:sldId id="350"/>
          </p14:sldIdLst>
        </p14:section>
        <p14:section name="Conclusiones finales" id="{30AE4762-25DE-C74D-AF95-4AEC0CC37FB0}">
          <p14:sldIdLst>
            <p14:sldId id="337"/>
            <p14:sldId id="314"/>
            <p14:sldId id="4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72"/>
    <p:restoredTop sz="86620"/>
  </p:normalViewPr>
  <p:slideViewPr>
    <p:cSldViewPr snapToGrid="0">
      <p:cViewPr varScale="1">
        <p:scale>
          <a:sx n="102" d="100"/>
          <a:sy n="102" d="100"/>
        </p:scale>
        <p:origin x="416" y="168"/>
      </p:cViewPr>
      <p:guideLst/>
    </p:cSldViewPr>
  </p:slideViewPr>
  <p:outlineViewPr>
    <p:cViewPr>
      <p:scale>
        <a:sx n="33" d="100"/>
        <a:sy n="33" d="100"/>
      </p:scale>
      <p:origin x="0" y="-402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12/11/25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418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* Ver la </a:t>
            </a:r>
            <a:r>
              <a:rPr lang="es-ES_tradnl" dirty="0" err="1"/>
              <a:t>intro</a:t>
            </a:r>
            <a:r>
              <a:rPr lang="es-ES_tradnl" dirty="0"/>
              <a:t> y motivación en estos dos capítulos.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36903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99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53997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00F8-7FFC-5341-ADE9-35A49375D21C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58FC-9A6A-6A4B-BC45-38DA2CDC520C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57393-515B-1A47-A87A-8640CC03CD21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A069-A1EA-0F47-A741-49B3A660719F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4583-8738-D446-A561-042FC1E653E3}" type="datetime1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A491-31D3-4F46-B45E-95FC60EFF440}" type="datetime1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22F5C-5B3E-AE45-9D2D-54D56FEFFDFB}" type="datetime1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CDE3-54E0-7D4C-8C01-682D9A3E8683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DF334-1367-DE42-B433-657F08CBBA33}" type="datetime1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A313-D30E-C24D-B5E3-47AF40650833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59BE-6406-4040-81F6-DB3E248EDC37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6C47D364-D30F-3243-95CC-D040B3E96DD2}" type="datetime1">
              <a:rPr lang="en-US" noProof="0" smtClean="0"/>
              <a:t>11/12/25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cs typeface="Times New Roman" panose="02020603050405020304" pitchFamily="18" charset="0"/>
              </a:rPr>
              <a:t>Elección de Modelos Lineales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07 – Parte 2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ES_tradnl" sz="3200"/>
              <a:t>En la clase de hoy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1998134"/>
            <a:ext cx="6756560" cy="4155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>
                <a:solidFill>
                  <a:srgbClr val="002060"/>
                </a:solidFill>
              </a:rPr>
              <a:t>Métodos de elección de modelos lineales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/>
              <a:t>Búsqueda Exhaustiva (</a:t>
            </a:r>
            <a:r>
              <a:rPr lang="es-ES_tradnl" dirty="0" err="1"/>
              <a:t>Best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r>
              <a:rPr lang="es-ES_tradnl" dirty="0"/>
              <a:t>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 err="1"/>
              <a:t>Foward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endParaRPr lang="es-ES_tradnl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 err="1"/>
              <a:t>Backward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endParaRPr lang="es-ES_tradnl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21529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Elección de Modelos: Introducción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Trade off-sesgo varianza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7428-BAF8-C43C-0F61-3A249901D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80529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Modelo </a:t>
            </a:r>
            <a:r>
              <a:rPr lang="es-ES_tradnl" dirty="0">
                <a:solidFill>
                  <a:srgbClr val="002060"/>
                </a:solidFill>
              </a:rPr>
              <a:t>lineal</a:t>
            </a:r>
            <a:r>
              <a:rPr lang="es-ES_tradnl" dirty="0"/>
              <a:t>: “</a:t>
            </a:r>
            <a:r>
              <a:rPr lang="es-ES_tradnl" dirty="0">
                <a:solidFill>
                  <a:srgbClr val="002060"/>
                </a:solidFill>
              </a:rPr>
              <a:t>Madre</a:t>
            </a:r>
            <a:r>
              <a:rPr lang="es-ES_tradnl" dirty="0"/>
              <a:t>” de todos los modelos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Trade off</a:t>
            </a:r>
            <a:r>
              <a:rPr lang="es-ES_tradnl" dirty="0"/>
              <a:t>: modelos más ‘complejos’ tienden a ser menos sesgados, pero con mayor varianza.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Idea</a:t>
            </a:r>
            <a:r>
              <a:rPr lang="es-ES_tradnl" dirty="0"/>
              <a:t>: Buscar modelos lineales que: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Interpretación </a:t>
            </a:r>
            <a:r>
              <a:rPr lang="es-ES_tradnl" dirty="0"/>
              <a:t>de manera sencilla 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Menor error de predicción </a:t>
            </a:r>
            <a:r>
              <a:rPr lang="es-ES_tradnl" dirty="0"/>
              <a:t>afuera de la muestra que una regresión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C3116-EEC6-9873-7268-2EF328014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317EB5-1442-A4A6-2D79-1D5C57D69603}"/>
              </a:ext>
            </a:extLst>
          </p:cNvPr>
          <p:cNvGrpSpPr/>
          <p:nvPr/>
        </p:nvGrpSpPr>
        <p:grpSpPr>
          <a:xfrm>
            <a:off x="6675126" y="1266521"/>
            <a:ext cx="5516874" cy="4970935"/>
            <a:chOff x="6675126" y="1266521"/>
            <a:chExt cx="5516874" cy="4970935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B973C4A-5C95-B1A6-C745-2E4273DD7501}"/>
                </a:ext>
              </a:extLst>
            </p:cNvPr>
            <p:cNvCxnSpPr/>
            <p:nvPr/>
          </p:nvCxnSpPr>
          <p:spPr>
            <a:xfrm>
              <a:off x="6675126" y="5539437"/>
              <a:ext cx="44500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4855910-5CE8-6F00-EFF6-D3A81B78B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5126" y="1591325"/>
              <a:ext cx="0" cy="39481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15B4DF0-1066-7C0C-87CD-7E86D4365E73}"/>
                </a:ext>
              </a:extLst>
            </p:cNvPr>
            <p:cNvSpPr/>
            <p:nvPr/>
          </p:nvSpPr>
          <p:spPr>
            <a:xfrm>
              <a:off x="6949446" y="1897077"/>
              <a:ext cx="3749040" cy="1584959"/>
            </a:xfrm>
            <a:custGeom>
              <a:avLst/>
              <a:gdLst>
                <a:gd name="connsiteX0" fmla="*/ 0 w 3749040"/>
                <a:gd name="connsiteY0" fmla="*/ 0 h 1829151"/>
                <a:gd name="connsiteX1" fmla="*/ 1783080 w 3749040"/>
                <a:gd name="connsiteY1" fmla="*/ 1828800 h 1829151"/>
                <a:gd name="connsiteX2" fmla="*/ 3749040 w 3749040"/>
                <a:gd name="connsiteY2" fmla="*/ 121920 h 18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49040" h="1829151">
                  <a:moveTo>
                    <a:pt x="0" y="0"/>
                  </a:moveTo>
                  <a:cubicBezTo>
                    <a:pt x="579120" y="904240"/>
                    <a:pt x="1158240" y="1808480"/>
                    <a:pt x="1783080" y="1828800"/>
                  </a:cubicBezTo>
                  <a:cubicBezTo>
                    <a:pt x="2407920" y="1849120"/>
                    <a:pt x="3078480" y="985520"/>
                    <a:pt x="3749040" y="12192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9F39FF6-1BF9-7939-A133-CD5BBC768AF9}"/>
                </a:ext>
              </a:extLst>
            </p:cNvPr>
            <p:cNvSpPr/>
            <p:nvPr/>
          </p:nvSpPr>
          <p:spPr>
            <a:xfrm>
              <a:off x="6949446" y="3482036"/>
              <a:ext cx="4053835" cy="1615442"/>
            </a:xfrm>
            <a:custGeom>
              <a:avLst/>
              <a:gdLst>
                <a:gd name="connsiteX0" fmla="*/ 0 w 4373880"/>
                <a:gd name="connsiteY0" fmla="*/ 0 h 3517945"/>
                <a:gd name="connsiteX1" fmla="*/ 1859280 w 4373880"/>
                <a:gd name="connsiteY1" fmla="*/ 3078480 h 3517945"/>
                <a:gd name="connsiteX2" fmla="*/ 4373880 w 4373880"/>
                <a:gd name="connsiteY2" fmla="*/ 3429000 h 351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3880" h="3517945">
                  <a:moveTo>
                    <a:pt x="0" y="0"/>
                  </a:moveTo>
                  <a:cubicBezTo>
                    <a:pt x="565150" y="1253490"/>
                    <a:pt x="1130300" y="2506980"/>
                    <a:pt x="1859280" y="3078480"/>
                  </a:cubicBezTo>
                  <a:cubicBezTo>
                    <a:pt x="2588260" y="3649980"/>
                    <a:pt x="3481070" y="3539490"/>
                    <a:pt x="4373880" y="342900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71D21AC-0DDF-30E6-9D82-49022824A35F}"/>
                </a:ext>
              </a:extLst>
            </p:cNvPr>
            <p:cNvSpPr/>
            <p:nvPr/>
          </p:nvSpPr>
          <p:spPr>
            <a:xfrm>
              <a:off x="6987556" y="3482036"/>
              <a:ext cx="3749035" cy="1688456"/>
            </a:xfrm>
            <a:custGeom>
              <a:avLst/>
              <a:gdLst>
                <a:gd name="connsiteX0" fmla="*/ 0 w 3810000"/>
                <a:gd name="connsiteY0" fmla="*/ 2971800 h 2983857"/>
                <a:gd name="connsiteX1" fmla="*/ 1752600 w 3810000"/>
                <a:gd name="connsiteY1" fmla="*/ 2529840 h 2983857"/>
                <a:gd name="connsiteX2" fmla="*/ 3810000 w 3810000"/>
                <a:gd name="connsiteY2" fmla="*/ 0 h 2983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0" h="2983857">
                  <a:moveTo>
                    <a:pt x="0" y="2971800"/>
                  </a:moveTo>
                  <a:cubicBezTo>
                    <a:pt x="558800" y="2998470"/>
                    <a:pt x="1117600" y="3025140"/>
                    <a:pt x="1752600" y="2529840"/>
                  </a:cubicBezTo>
                  <a:cubicBezTo>
                    <a:pt x="2387600" y="2034540"/>
                    <a:pt x="3098800" y="1017270"/>
                    <a:pt x="3810000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C39B49-AF84-B8B5-F1C2-3736D73A24DD}"/>
                </a:ext>
              </a:extLst>
            </p:cNvPr>
            <p:cNvSpPr txBox="1"/>
            <p:nvPr/>
          </p:nvSpPr>
          <p:spPr>
            <a:xfrm>
              <a:off x="9982201" y="5714236"/>
              <a:ext cx="20421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800" dirty="0">
                  <a:latin typeface="Gill Sans Nova Light" panose="020B0302020104020203" pitchFamily="34" charset="0"/>
                </a:rPr>
                <a:t>Complejidad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437908-8EF7-4CB3-88C1-5E698701403B}"/>
                </a:ext>
              </a:extLst>
            </p:cNvPr>
            <p:cNvSpPr txBox="1"/>
            <p:nvPr/>
          </p:nvSpPr>
          <p:spPr>
            <a:xfrm>
              <a:off x="6705608" y="1266521"/>
              <a:ext cx="123443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800" dirty="0">
                  <a:latin typeface="Gill Sans Nova Light" panose="020B0302020104020203" pitchFamily="34" charset="0"/>
                </a:rPr>
                <a:t>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16B4C00-9165-B137-D7CD-4D27CF805EAD}"/>
                    </a:ext>
                  </a:extLst>
                </p:cNvPr>
                <p:cNvSpPr txBox="1"/>
                <p:nvPr/>
              </p:nvSpPr>
              <p:spPr>
                <a:xfrm>
                  <a:off x="9761221" y="1482115"/>
                  <a:ext cx="2263139" cy="5786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16B4C00-9165-B137-D7CD-4D27CF805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1221" y="1482115"/>
                  <a:ext cx="2263139" cy="578685"/>
                </a:xfrm>
                <a:prstGeom prst="rect">
                  <a:avLst/>
                </a:prstGeom>
                <a:blipFill>
                  <a:blip r:embed="rId3"/>
                  <a:stretch>
                    <a:fillRect t="-4255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0F779B0-A41E-2D99-7F5F-B877955E4598}"/>
                    </a:ext>
                  </a:extLst>
                </p:cNvPr>
                <p:cNvSpPr txBox="1"/>
                <p:nvPr/>
              </p:nvSpPr>
              <p:spPr>
                <a:xfrm>
                  <a:off x="9841235" y="2813345"/>
                  <a:ext cx="2263139" cy="5820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0F779B0-A41E-2D99-7F5F-B877955E45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1235" y="2813345"/>
                  <a:ext cx="2263139" cy="582019"/>
                </a:xfrm>
                <a:prstGeom prst="rect">
                  <a:avLst/>
                </a:prstGeom>
                <a:blipFill>
                  <a:blip r:embed="rId4"/>
                  <a:stretch>
                    <a:fillRect t="-6383" b="-1276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5627078-95E6-3A2C-5A19-A97B1B5011F9}"/>
                    </a:ext>
                  </a:extLst>
                </p:cNvPr>
                <p:cNvSpPr txBox="1"/>
                <p:nvPr/>
              </p:nvSpPr>
              <p:spPr>
                <a:xfrm>
                  <a:off x="9928861" y="4406233"/>
                  <a:ext cx="2263139" cy="5820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𝑆𝑒𝑠𝑔</m:t>
                        </m:r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5627078-95E6-3A2C-5A19-A97B1B501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8861" y="4406233"/>
                  <a:ext cx="2263139" cy="582019"/>
                </a:xfrm>
                <a:prstGeom prst="rect">
                  <a:avLst/>
                </a:prstGeom>
                <a:blipFill>
                  <a:blip r:embed="rId5"/>
                  <a:stretch>
                    <a:fillRect t="-6522" b="-1304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5452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Elección de Modelos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serie de modelos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¿Ordenables en complejidad? Trade-off sesgo varianza. </a:t>
                </a:r>
                <a:r>
                  <a:rPr lang="es-ES_tradnl" dirty="0" err="1"/>
                  <a:t>Overfit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¿Anidados?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¿Existe un “supermodelo” que contenga al verdadero?</a:t>
                </a:r>
              </a:p>
              <a:p>
                <a:pPr>
                  <a:lnSpc>
                    <a:spcPct val="150000"/>
                  </a:lnSpc>
                </a:pPr>
                <a:endParaRPr lang="es-ES_tradnl" sz="1500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Elección de modelos</a:t>
                </a:r>
                <a:r>
                  <a:rPr lang="es-ES_tradnl" dirty="0"/>
                  <a:t>: búsqueda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 del </a:t>
                </a:r>
                <a:r>
                  <a:rPr lang="es-ES_tradnl" dirty="0">
                    <a:solidFill>
                      <a:srgbClr val="00B050"/>
                    </a:solidFill>
                  </a:rPr>
                  <a:t>mejor</a:t>
                </a:r>
                <a:r>
                  <a:rPr lang="es-ES_tradnl" dirty="0"/>
                  <a:t> modelo lineal para predecir fuera de la muestra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Ventajas</a:t>
                </a:r>
                <a:r>
                  <a:rPr lang="es-ES_tradnl" dirty="0"/>
                  <a:t>: seguimos en el conjunto de modelos simples de interpretar y fácil de estimar por MCO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B7029-CAC5-1B0F-5F65-E42E8001F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7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Elección de Modelos Lineales: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53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2A76-D9EB-1BA0-8D88-E47A6BDCE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Búsqueda exhaustiva: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Best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Subset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Selection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106514-EB17-AA85-B556-CC66957601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Iniciar con el modelo nulo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sin predictores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Estimar todos los posibles modelos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dirty="0"/>
                  <a:t> predictores,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=1, 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Para cada modelo, </a:t>
                </a:r>
                <a:r>
                  <a:rPr lang="es-ES_tradnl" dirty="0">
                    <a:solidFill>
                      <a:srgbClr val="002060"/>
                    </a:solidFill>
                  </a:rPr>
                  <a:t>computar</a:t>
                </a:r>
                <a:r>
                  <a:rPr lang="es-ES_tradnl" dirty="0"/>
                  <a:t> la suma de los residuos al cuadrado (RSS),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, o el error de cross-validation (CV)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Elegir el que minimiza RSS o maximiza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-&gt; </a:t>
                </a:r>
                <a:r>
                  <a:rPr lang="es-ES_tradnl" dirty="0" err="1">
                    <a:solidFill>
                      <a:srgbClr val="00B050"/>
                    </a:solidFill>
                  </a:rPr>
                  <a:t>Best</a:t>
                </a: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B050"/>
                    </a:solidFill>
                  </a:rPr>
                  <a:t>subset</a:t>
                </a:r>
                <a:endParaRPr lang="es-ES_tradnl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106514-EB17-AA85-B556-CC66957601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68" b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AB197-1BD1-7E2E-8029-21768C688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9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426B-A789-60A7-0744-A4048FDB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Búsqueda exhaustiva: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Best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Subset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Selection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0A2308-547B-A89D-115A-CEA1D8DD3C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¿Problema?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Estamos calculando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s-ES_tradnl" dirty="0"/>
                  <a:t> modelos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Computacionalmente inviable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‘moderado’: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⇒1.048.576</m:t>
                    </m:r>
                  </m:oMath>
                </a14:m>
                <a:r>
                  <a:rPr lang="es-ES_tradnl" dirty="0"/>
                  <a:t> modelos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0A2308-547B-A89D-115A-CEA1D8DD3C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16425-C4AA-D86B-1482-9C0FC178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6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08420-CF74-7429-B167-DE9CDF086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</a:t>
            </a:r>
            <a:r>
              <a:rPr lang="es-ES_tradnl" i="1" dirty="0" err="1"/>
              <a:t>Best</a:t>
            </a:r>
            <a:r>
              <a:rPr lang="es-ES_tradnl" i="1" dirty="0"/>
              <a:t> </a:t>
            </a:r>
            <a:r>
              <a:rPr lang="es-ES_tradnl" i="1" dirty="0" err="1"/>
              <a:t>Subset</a:t>
            </a:r>
            <a:r>
              <a:rPr lang="es-ES_tradnl" i="1" dirty="0"/>
              <a:t> </a:t>
            </a:r>
            <a:r>
              <a:rPr lang="es-ES_tradnl" i="1" dirty="0" err="1"/>
              <a:t>Selection</a:t>
            </a:r>
            <a:endParaRPr lang="es-ES_tradnl" i="1" dirty="0"/>
          </a:p>
        </p:txBody>
      </p:sp>
      <p:pic>
        <p:nvPicPr>
          <p:cNvPr id="6" name="Content Placeholder 5" descr="A graph of a number of predictors&#10;&#10;Description automatically generated">
            <a:extLst>
              <a:ext uri="{FF2B5EF4-FFF2-40B4-BE49-F238E27FC236}">
                <a16:creationId xmlns:a16="http://schemas.microsoft.com/office/drawing/2014/main" id="{F76DA481-D119-38AA-ECB2-B5DC065F2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2621" y="1690688"/>
            <a:ext cx="8889315" cy="445220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188AF-E40C-993E-2FA1-2B0AEF11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9D4634-0DB4-0E7E-58F8-665267DCEE65}"/>
              </a:ext>
            </a:extLst>
          </p:cNvPr>
          <p:cNvSpPr txBox="1"/>
          <p:nvPr/>
        </p:nvSpPr>
        <p:spPr>
          <a:xfrm>
            <a:off x="1482621" y="6203655"/>
            <a:ext cx="59849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232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769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61E1-FFB0-647C-1FD9-F29F97EF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Stepwise Selection: </a:t>
            </a:r>
            <a:r>
              <a:rPr lang="es-ES_tradnl" b="1" i="1" dirty="0"/>
              <a:t>Forward </a:t>
            </a:r>
            <a:r>
              <a:rPr lang="es-ES_tradnl" b="1" i="1" dirty="0" err="1"/>
              <a:t>Selection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Empezar con modelo nulo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sin predictores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Probar todos los modelos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/>
                  <a:t> con 1 predictor adicional. Elegir el que minimiza CV.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Predictores incorporados </a:t>
                </a:r>
                <a:r>
                  <a:rPr lang="es-ES_tradnl" dirty="0">
                    <a:solidFill>
                      <a:srgbClr val="002060"/>
                    </a:solidFill>
                  </a:rPr>
                  <a:t>no “salen”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Elegir el modelo con menor</a:t>
                </a:r>
                <a:r>
                  <a:rPr lang="en-US" dirty="0"/>
                  <a:t> error de </a:t>
                </a:r>
                <a:r>
                  <a:rPr lang="es-ES_tradnl" dirty="0"/>
                  <a:t>CV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1163" r="-229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9D36E-F589-E90B-859E-BDEEFBE7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8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537D-E083-B662-EA19-873916CD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Ventaja de </a:t>
            </a:r>
            <a:r>
              <a:rPr lang="es-ES_tradnl" b="1" i="1" dirty="0"/>
              <a:t>Forward </a:t>
            </a:r>
            <a:r>
              <a:rPr lang="es-ES_tradnl" b="1" i="1" dirty="0" err="1"/>
              <a:t>Selection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B17ADE-E374-2857-9DE0-D69643CF32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Ahora calculamos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s-ES_tradnl" dirty="0"/>
                  <a:t> modelos</a:t>
                </a:r>
              </a:p>
              <a:p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s-ES_tradnl" dirty="0"/>
                  <a:t>, requiere estimas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211</m:t>
                    </m:r>
                  </m:oMath>
                </a14:m>
                <a:r>
                  <a:rPr lang="es-ES_tradnl" dirty="0"/>
                  <a:t> modelos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B17ADE-E374-2857-9DE0-D69643CF32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812E9-EF34-344D-87B7-55E0F64B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86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61E1-FFB0-647C-1FD9-F29F97EF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Stepwise Selection: </a:t>
            </a:r>
            <a:r>
              <a:rPr lang="en-US" i="1" dirty="0"/>
              <a:t>Backward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Empieza con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modelo completo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s-ES_tradnl" dirty="0">
                  <a:solidFill>
                    <a:srgbClr val="002060"/>
                  </a:solidFill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Probar todos los modelos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 predictor.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Elegir el que minimiza CV.</a:t>
                </a:r>
              </a:p>
              <a:p>
                <a:pPr>
                  <a:lnSpc>
                    <a:spcPct val="120000"/>
                  </a:lnSpc>
                  <a:buFont typeface="+mj-lt"/>
                  <a:buAutoNum type="arabicPeriod"/>
                </a:pPr>
                <a:endParaRPr lang="es-ES_tradnl" sz="1200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Forward tiene la </a:t>
                </a:r>
                <a:r>
                  <a:rPr lang="es-ES_tradnl" dirty="0">
                    <a:solidFill>
                      <a:srgbClr val="00B050"/>
                    </a:solidFill>
                  </a:rPr>
                  <a:t>ventaja</a:t>
                </a:r>
                <a:r>
                  <a:rPr lang="es-ES_tradnl" dirty="0"/>
                  <a:t> en modelos de alta dimensión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, modelo más grande puede ser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 predictores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6EE81-F564-68A1-256C-6BA108523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581" r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9D36E-F589-E90B-859E-BDEEFBE7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3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CD8E-C681-C0BE-7E00-8E6C193AD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Discusión de estos métodos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FD0E1-E247-11EB-7524-5F19CCE85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_tradnl" dirty="0"/>
              <a:t>¿No vale empezar con el modelo general y tachar los coeficientes no significativos?</a:t>
            </a:r>
          </a:p>
          <a:p>
            <a:pPr>
              <a:lnSpc>
                <a:spcPct val="120000"/>
              </a:lnSpc>
            </a:pPr>
            <a:r>
              <a:rPr lang="es-ES_tradnl" i="1" dirty="0" err="1"/>
              <a:t>Backward</a:t>
            </a:r>
            <a:r>
              <a:rPr lang="es-ES_tradnl" i="1" dirty="0"/>
              <a:t> </a:t>
            </a:r>
            <a:r>
              <a:rPr lang="es-ES_tradnl" i="1" dirty="0" err="1"/>
              <a:t>selection</a:t>
            </a:r>
            <a:r>
              <a:rPr lang="es-ES_tradnl" i="1" dirty="0"/>
              <a:t> </a:t>
            </a:r>
            <a:r>
              <a:rPr lang="es-ES_tradnl" dirty="0"/>
              <a:t>aproxima esa idea (no exactamente ya que el criterio es de ajuste/predicción).</a:t>
            </a:r>
          </a:p>
          <a:p>
            <a:pPr>
              <a:lnSpc>
                <a:spcPct val="120000"/>
              </a:lnSpc>
            </a:pPr>
            <a:r>
              <a:rPr lang="es-ES_tradnl" dirty="0"/>
              <a:t>‘</a:t>
            </a:r>
            <a:r>
              <a:rPr lang="es-ES_tradnl" dirty="0">
                <a:solidFill>
                  <a:srgbClr val="002060"/>
                </a:solidFill>
              </a:rPr>
              <a:t>Tachar</a:t>
            </a:r>
            <a:r>
              <a:rPr lang="es-ES_tradnl" dirty="0"/>
              <a:t>’ variables/coeficientes es una forma extrema de ‘</a:t>
            </a:r>
            <a:r>
              <a:rPr lang="es-ES_tradnl" dirty="0">
                <a:solidFill>
                  <a:srgbClr val="002060"/>
                </a:solidFill>
              </a:rPr>
              <a:t>achicarlos</a:t>
            </a:r>
            <a:r>
              <a:rPr lang="es-ES_tradnl" dirty="0"/>
              <a:t>’ (</a:t>
            </a:r>
            <a:r>
              <a:rPr lang="es-ES_tradnl" i="1" dirty="0" err="1"/>
              <a:t>shrinkage</a:t>
            </a:r>
            <a:r>
              <a:rPr lang="es-ES_tradnl" dirty="0"/>
              <a:t>).</a:t>
            </a:r>
          </a:p>
          <a:p>
            <a:pPr lvl="1"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Lasso</a:t>
            </a:r>
            <a:r>
              <a:rPr lang="es-ES_tradnl" dirty="0"/>
              <a:t>: una manera formal de realizar esa tarea.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EE1D1-90DD-3C25-9DA6-9C4C2125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3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Introducimos</a:t>
            </a:r>
            <a:r>
              <a:rPr lang="es-ES_tradnl" dirty="0"/>
              <a:t> la selección de modelos lineales más intuitiva de Modelos por </a:t>
            </a:r>
            <a:r>
              <a:rPr lang="es-ES_tradnl" i="1" dirty="0" err="1"/>
              <a:t>Stepwise</a:t>
            </a:r>
            <a:r>
              <a:rPr lang="es-ES_tradnl" i="1" dirty="0"/>
              <a:t> </a:t>
            </a:r>
            <a:r>
              <a:rPr lang="es-ES_tradnl" i="1" dirty="0" err="1"/>
              <a:t>Selection</a:t>
            </a:r>
            <a:r>
              <a:rPr lang="es-ES_tradnl" i="1" dirty="0"/>
              <a:t> </a:t>
            </a:r>
            <a:r>
              <a:rPr lang="es-ES_tradnl" dirty="0"/>
              <a:t>como </a:t>
            </a:r>
            <a:r>
              <a:rPr lang="es-ES_tradnl" dirty="0" err="1"/>
              <a:t>Best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, Forward y </a:t>
            </a:r>
            <a:r>
              <a:rPr lang="es-ES_tradnl" dirty="0" err="1"/>
              <a:t>Backward</a:t>
            </a:r>
            <a:r>
              <a:rPr lang="es-ES_tradnl" dirty="0"/>
              <a:t> </a:t>
            </a:r>
            <a:r>
              <a:rPr lang="es-ES_tradnl" dirty="0" err="1"/>
              <a:t>Selection</a:t>
            </a:r>
            <a:r>
              <a:rPr lang="es-ES_tradnl" dirty="0"/>
              <a:t>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Mencionamos sus </a:t>
            </a:r>
            <a:r>
              <a:rPr lang="es-ES_tradnl" dirty="0">
                <a:solidFill>
                  <a:srgbClr val="FF0000"/>
                </a:solidFill>
              </a:rPr>
              <a:t>problemas computacionales </a:t>
            </a:r>
            <a:r>
              <a:rPr lang="es-ES_tradnl" dirty="0"/>
              <a:t>y </a:t>
            </a:r>
            <a:r>
              <a:rPr lang="es-ES_tradnl" dirty="0">
                <a:solidFill>
                  <a:srgbClr val="00B050"/>
                </a:solidFill>
              </a:rPr>
              <a:t>ventajas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2911</TotalTime>
  <Words>651</Words>
  <Application>Microsoft Macintosh PowerPoint</Application>
  <PresentationFormat>Panorámica</PresentationFormat>
  <Paragraphs>97</Paragraphs>
  <Slides>16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Elección de Modelos Lineales</vt:lpstr>
      <vt:lpstr>En la clase de hoy</vt:lpstr>
      <vt:lpstr>Elección de Modelos: Introducción </vt:lpstr>
      <vt:lpstr>Trade off-sesgo varianza</vt:lpstr>
      <vt:lpstr>Elección de Modelos</vt:lpstr>
      <vt:lpstr>Elección de Modelos Lineales: Subset Selection</vt:lpstr>
      <vt:lpstr>Búsqueda exhaustiva: Best Subset Selection</vt:lpstr>
      <vt:lpstr>Búsqueda exhaustiva: Best Subset Selection</vt:lpstr>
      <vt:lpstr>Ilustración de Best Subset Selection</vt:lpstr>
      <vt:lpstr>Stepwise Selection: Forward Selection</vt:lpstr>
      <vt:lpstr>Ventaja de Forward Selection</vt:lpstr>
      <vt:lpstr>Stepwise Selection: Backward selection</vt:lpstr>
      <vt:lpstr>Discusión de estos métodos </vt:lpstr>
      <vt:lpstr>Conclusiones finales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187</cp:revision>
  <dcterms:created xsi:type="dcterms:W3CDTF">2023-06-12T20:51:31Z</dcterms:created>
  <dcterms:modified xsi:type="dcterms:W3CDTF">2025-11-12T19:09:47Z</dcterms:modified>
</cp:coreProperties>
</file>